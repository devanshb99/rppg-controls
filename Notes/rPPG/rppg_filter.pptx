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Stage 2 receives the CHROM-projected, detrended BVP signal from Stage 1 and answers one question: which bandpass filter design gives the best heart-rate estimates for this recording?</a:t>
            </a:r>
          </a:p>
          <a:p>
            <a:r>
              <a:rPr lang="en-US" dirty="0"/>
              <a:t>It tests 9 filter designs — 4 IIR (Butterworth, Chebyshev I, Chebyshev II, Elliptic) and 5 FIR (3 Hamming + Kaiser + Parks-McClellan) — and ranks them by a composite score of accuracy, consistency, SNR, and concordance.</a:t>
            </a:r>
          </a:p>
          <a:p>
            <a:r>
              <a:rPr lang="en-US" dirty="0"/>
              <a:t>The output is a CSV with the 4 best filtered BVP variants for Stage 3 (FDA frequency estimation).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Stage 2 sits between acquisition (Stage 1, Python) and frequency estimation (Stage 3, MATLAB).</a:t>
            </a:r>
          </a:p>
          <a:p>
            <a:r>
              <a:rPr lang="en-US" dirty="0"/>
              <a:t>It never reads the video — it works entirely from the CSV that Stage 1 produced.</a:t>
            </a:r>
          </a:p>
          <a:p>
            <a:r>
              <a:rPr lang="en-US" dirty="0"/>
              <a:t>The four architectural decisions are each motivated by a specific failure mode:</a:t>
            </a:r>
          </a:p>
          <a:p>
            <a:r>
              <a:rPr lang="en-US" dirty="0"/>
              <a:t>- Adaptive spec: a fixed 0.7 Hz lower bound fails when a motion artifact sits at 0.65 Hz.</a:t>
            </a:r>
          </a:p>
          <a:p>
            <a:r>
              <a:rPr lang="en-US" dirty="0"/>
              <a:t>- SOS form: direct-form IIR coefficients at order 6+ suffer catastrophic rounding.</a:t>
            </a:r>
          </a:p>
          <a:p>
            <a:r>
              <a:rPr lang="en-US" dirty="0"/>
              <a:t>- *ord functions: hand-picking order is guesswork; the *ord functions guarantee the spec is met.</a:t>
            </a:r>
          </a:p>
          <a:p>
            <a:r>
              <a:rPr lang="en-US" dirty="0"/>
              <a:t>- filtfilt: prevents the filter from time-shifting the cardiac waveform, which would corrupt any phase-sensitive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Walk through the diagram row by row:</a:t>
            </a:r>
          </a:p>
          <a:p>
            <a:r>
              <a:rPr lang="en-US" dirty="0"/>
              <a:t>Row 1: The CSV from Stage 1 enters the source selector (USE_PYTHON_CSV flag), which picks either the Python BVP or falls back to MATLAB raw extraction. The adaptive passband estimation then analyses the spectrum to set f_p1/f_p2. IIR and FIR design blocks run in parallel using those same passband specifications.</a:t>
            </a:r>
          </a:p>
          <a:p>
            <a:r>
              <a:rPr lang="en-US" dirty="0"/>
              <a:t>Row 2: filtfilt applies all 9 filters (zero-phase), then the sliding-window loop evaluates BPM accuracy on each. Quality metrics are computed. The composite score ranks all 9 designs.</a:t>
            </a:r>
          </a:p>
          <a:p>
            <a:r>
              <a:rPr lang="en-US" dirty="0"/>
              <a:t>Row 3: A second tight-passband comparison (fp1=1.0 Hz) evaluates the two best designs. Final export writes 4 BVP variants plus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adaptive passband is the most architecturally significant block. A fixed [0.7, 3.5] Hz spec is used as fallback only.</a:t>
            </a:r>
          </a:p>
          <a:p>
            <a:r>
              <a:rPr lang="en-US" dirty="0"/>
              <a:t>Half-harmonic artifact: common in rPPG because cardiac at 1.2 Hz has a sub-harmonic at 0.6 Hz (from cardiac waveform asymmetry). Similarly, respiration (~0.3 Hz) or slow motion (~0.5 Hz) can alias to appear at half the true cardiac frequency.</a:t>
            </a:r>
          </a:p>
          <a:p>
            <a:r>
              <a:rPr lang="en-US" dirty="0"/>
              <a:t>f_p1 is set 0.25 Hz ABOVE the artifact — this ensures the artifact is in the transition band, not the passband. At 0.25 Hz margin and a 0.35 Hz transition bandwidth, the artifact is roughly at the −3 dB point of the filter.</a:t>
            </a:r>
          </a:p>
          <a:p>
            <a:r>
              <a:rPr lang="en-US" dirty="0"/>
              <a:t>The 30-second Welch window gives sub-0.005 Hz frequency resolution — enough to distinguish a 0.55 Hz artifact from a 0.67 Hz cardiac signal even when they are very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SOS form is not optional for orders ≥ 4 — it is required for numerical stability.</a:t>
            </a:r>
          </a:p>
          <a:p>
            <a:r>
              <a:rPr lang="en-US" dirty="0"/>
              <a:t>A 6th-order bandpass Butterworth filter in direct polynomial form would have a numerator and denominator of degree 12. The polynomial coefficients span many orders of magnitude, and when MATLAB computes the roots to apply the filter, it accumulates catastrophic rounding error.</a:t>
            </a:r>
          </a:p>
          <a:p>
            <a:r>
              <a:rPr lang="en-US" dirty="0"/>
              <a:t>SOS decomposes the same filter into 6 independent 2nd-order sections. Each section has only 6 small coefficients — numerically tractable. filtfilt applies them in sequence, and the overall response is their product.</a:t>
            </a:r>
          </a:p>
          <a:p>
            <a:r>
              <a:rPr lang="en-US" dirty="0"/>
              <a:t>The Butterworth cap at N=6 is important: buttord can return orders of 8, 10, even 12 for tight specifications. Beyond order 6 even SOS becomes problematic. We accept a slightly weaker stopband rather than a potentially unstable high-order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Kaiser formula N = (Rs - 7.95) / (2.285 × Δω) is derived from the Kaiser window's attenuation formula. At Rs=40dB and a transition band of 0.35 Hz at 30fps, this gives N ≈ 121 — exactly N_mid.</a:t>
            </a:r>
          </a:p>
          <a:p>
            <a:r>
              <a:rPr lang="en-US" dirty="0"/>
              <a:t>The three Hamming variants serve different deployment scenarios: N_lo for a streaming application where latency matters, N_mid for the balanced offline case, N_hi to show the theoretical best-case.</a:t>
            </a:r>
          </a:p>
          <a:p>
            <a:r>
              <a:rPr lang="en-US" dirty="0"/>
              <a:t>Parks-McClellan (firpm) uses the Remez exchange algorithm to find the optimal — in the minimax sense — FIR filter for given N. It distributes the error equally across all frequencies in each band. At the same order as Kaiser, PM always has equal or better maximum error.</a:t>
            </a:r>
          </a:p>
          <a:p>
            <a:r>
              <a:rPr lang="en-US" dirty="0"/>
              <a:t>The stopband weighting w_ratio = 10^((40-1)/20) ≈ 89 means the optimizer penalizes stopband errors 89× more than passband errors, matching the asymmetric Rp=1dB/Rs=40dB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This is Figure 3 (phase) and Figure 4 (group delay) in the script output.</a:t>
            </a:r>
          </a:p>
          <a:p>
            <a:r>
              <a:rPr lang="en-US" dirty="0"/>
              <a:t>The group delay plot is the clearest diagnostic: IIR group delay jumps wildly near the band edges and varies by hundreds of milliseconds across the passband. FIR group delay is a flat horizontal line.</a:t>
            </a:r>
          </a:p>
          <a:p>
            <a:r>
              <a:rPr lang="en-US" dirty="0"/>
              <a:t>filtfilt's cancellation is exact (not approximate) because applying the filter forward and then backward produces phase responses that are negatives of each other. Their sum is zero.</a:t>
            </a:r>
          </a:p>
          <a:p>
            <a:r>
              <a:rPr lang="en-US" dirty="0"/>
              <a:t>The real-time vs offline distinction is critical for DocBOT: the live camera stream must give a BPM reading within a few seconds of real-time. FIR with N=121 at 30fps has a predictable 2-second latency — the DocBOT system can account for this offset. filtfilt is impossible in real-time because it requires future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sliding window is the core evaluation machinery. Using a 10-second window at 30fps gives 300 samples and 0.1 Hz frequency resolution — 6 BPM grid spacing. The 4096-point zero-padding interpolates between DFT bins for smoother peak detection.</a:t>
            </a:r>
          </a:p>
          <a:p>
            <a:r>
              <a:rPr lang="en-US" dirty="0"/>
              <a:t>Using a SINGLE Hann segment (not multiple sub-windows) for the per-window Welch is deliberate: we want maximum spectral resolution within the 10-second window. Multiple sub-windows would reduce variance but would also reduce frequency resolution — the opposite of what we need here.</a:t>
            </a:r>
          </a:p>
          <a:p>
            <a:r>
              <a:rPr lang="en-US" dirty="0"/>
              <a:t>The harmonic correction gate (&lt; 60 BPM) is critical. Without the gate, the correction might double a legitimate estimate of 120 BPM if another peak exists at 240 BPM — which is beyond the physiological range but could appear in a noisy spectrum. The 60 BPM gate ensures correction only fires for clearly suspicious sub-resting-rate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quality-weighted MAE is the key improvement over a naive evaluation. Without it, a recording session where the subject briefly moved into shadow (poor skin detection) would count those noisy windows equally with clean windows. The Stage-1 quality score already encodes everything we know about per-frame reliability.</a:t>
            </a:r>
          </a:p>
          <a:p>
            <a:r>
              <a:rPr lang="en-US" dirty="0"/>
              <a:t>The normalisation of weights is crucial: w ← w / Σw × n_sw ensures that the weighted MAE has the same units and scale as unweighted MAE. Otherwise, a recording with uniformly low quality scores would produce an artificially tiny weighted MAE.</a:t>
            </a:r>
          </a:p>
          <a:p>
            <a:r>
              <a:rPr lang="en-US" dirty="0"/>
              <a:t>Lin's CCC was chosen after observing that Pearson r failed to distinguish good and bad filters on resting recordings where HR barely changes. The (μx - μy)² term in the denominator is CCC's key innovation: it penalises systematic bias even when there is no temporal variation to correlate against.</a:t>
            </a:r>
          </a:p>
          <a:p>
            <a:r>
              <a:rPr lang="en-US" dirty="0"/>
              <a:t>The composite weight 0.40 for wMAE reflects that clinical accuracy is the primary requirement. Consistency (0.25) matters because a filter that varies by ±15 BPM between windows is useless even if its mean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tight vs adaptive comparison is a secondary experiment appended to the main 9-filter evaluation.</a:t>
            </a:r>
          </a:p>
          <a:p>
            <a:r>
              <a:rPr lang="en-US" dirty="0"/>
              <a:t>The physiological justification for f_p1=1.0 Hz: no healthy adult has a resting heart rate below 60 BPM. The range 0.67-1.0 Hz is therefore guaranteed noise for our subject population.</a:t>
            </a:r>
          </a:p>
          <a:p>
            <a:r>
              <a:rPr lang="en-US" dirty="0"/>
              <a:t>The adaptive passband may set f_p1 anywhere from 0.67 Hz upward depending on the artifact location. If the artifact is at 0.4 Hz, f_p1=0.65 Hz — still allowing 0.65-1.0 Hz interference through. The fixed 1.0 Hz floor avoids this.</a:t>
            </a:r>
          </a:p>
          <a:p>
            <a:r>
              <a:rPr lang="en-US" dirty="0"/>
              <a:t>The script tests only 2 of the 9 designs because (a) the Elliptic and Hamming-mid consistently scored best in the 9-filter ranking, and (b) printing 9×2 tight/adaptive comparisons would overwhelm the console output without adding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export strategy is 'append to Stage-1 CSV': the full py_data table is copied and new columns appended. This means Stage 3 receives one self-contained file with all signals, metadata, and quality metrics from both stages.</a:t>
            </a:r>
          </a:p>
          <a:p>
            <a:r>
              <a:rPr lang="en-US" dirty="0"/>
              <a:t>The four BVP variants represent the key design choices: tight vs adaptive passband, and IIR vs FIR. Stage 3 applies MUSIC and ESPRIT to each, allowing a direct comparison of frequency estimator performance for each filter type.</a:t>
            </a:r>
          </a:p>
          <a:p>
            <a:r>
              <a:rPr lang="en-US" dirty="0"/>
              <a:t>The scalar f_p1_adapt and f_p2_adapt stored per-row let Stage 3 know exactly what passband was used — it uses these to bound the frequency search for MUSIC and ESPRIT so they don't look outside the known cardiac band.</a:t>
            </a:r>
          </a:p>
          <a:p>
            <a:r>
              <a:rPr lang="en-US" dirty="0"/>
              <a:t>The 10 figures are produced automatically by the script but are not saved to disk by default — they appear in MATLAB's figure windows. The FDA stage has its own figure-saving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sosfreqz is necessary because all frequency-response plotting (Figs 1-4) needs to evaluate the IIR filter at arbitrary frequencies. MATLAB's freqz can do this for polynomial [b,a] form but not SOS directly. Converting back to polynomial form would reintroduce the numerical instability we designed SOS to avoid. So sosfreqz cascades freqz calls across each 2nd-order section.</a:t>
            </a:r>
          </a:p>
          <a:p>
            <a:r>
              <a:rPr lang="en-US" dirty="0"/>
              <a:t>concordance_cc is the most important custom function. It's short (5 lines) but encodes the key insight that Pearson r fails for near-constant GT. The formula is verbatim from Lin (1989) Biometrics. The 1e-9 guard is the only modification — without it, testing two identical constant arrays would cause division by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These are all the parameters from the rppg_filter.md Section 15 table, condensed to a presentation format.</a:t>
            </a:r>
          </a:p>
          <a:p>
            <a:r>
              <a:rPr lang="en-US" dirty="0"/>
              <a:t>The key insight when presenting this slide: no number was chosen arbitrarily. Each value balances a specific pair of competing requirements — the artifact margin vs cardiac band coverage, the Butterworth order cap vs attenuation spec, the harmonic correction threshold vs false-doubling risk.</a:t>
            </a:r>
          </a:p>
          <a:p>
            <a:r>
              <a:rPr lang="en-US" dirty="0"/>
              <a:t>This table is useful for anyone who wants to adapt the pipeline to a different subject population (e.g. exercise recordings where HR goes to 180 BPM → f_p2 needs to increase) or different recording hardware (e.g. 60fps camera → filter order requirements change).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rPPG Filter Design &amp;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0E0EF"/>
                </a:solidFill>
              </a:rPr>
              <a:t>Adaptive Bandpass Filter Design, Evaluation &amp;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5E0"/>
                </a:solidFill>
              </a:rPr>
              <a:t>Stage 2 of 3  ·  bpm_filterdesign.m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D166"/>
                </a:solidFill>
              </a:rPr>
              <a:t>BVP_detrended (CSV)  →  9 filter designs  →  Composite ranking  →  filterdesign_&lt;ts&gt;.csv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13258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961888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IIR (SOS)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5943600"/>
            <a:ext cx="2194560" cy="38404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59618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FIR (Parks-McClellan)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5943600"/>
            <a:ext cx="192024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5961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Adaptive Passband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5943600"/>
            <a:ext cx="1463040" cy="384048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59618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wMAE + CCC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5943600"/>
            <a:ext cx="100584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5961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filtfilt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What Stage 2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The central question: which filter gives the most accurate BPM?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91440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291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Stage 1
Acquisition
(Python)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1737360"/>
            <a:ext cx="411480" cy="0"/>
          </a:xfrm>
          <a:prstGeom prst="line">
            <a:avLst/>
          </a:prstGeom>
          <a:ln w="22860">
            <a:solidFill>
              <a:srgbClr val="90E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43400" y="1280160"/>
            <a:ext cx="3474720" cy="91440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25880"/>
            <a:ext cx="3291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A261"/>
                </a:solidFill>
              </a:rPr>
              <a:t>Stage 2
Filter Design
(MATLAB) 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18120" y="1737360"/>
            <a:ext cx="411480" cy="0"/>
          </a:xfrm>
          <a:prstGeom prst="line">
            <a:avLst/>
          </a:prstGeom>
          <a:ln w="22860">
            <a:solidFill>
              <a:srgbClr val="90E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229600" y="1280160"/>
            <a:ext cx="3474720" cy="91440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25880"/>
            <a:ext cx="3291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B788"/>
                </a:solidFill>
              </a:rPr>
              <a:t>Stage 3
Freq Estimation
(MATLAB)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23160"/>
            <a:ext cx="5303520" cy="1005840"/>
          </a:xfrm>
          <a:prstGeom prst="rect">
            <a:avLst/>
          </a:prstGeom>
          <a:solidFill>
            <a:srgbClr val="06062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5120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INPUT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rppg_output.csv → BVP_detrended + quality_score + gt_bpm</a:t>
            </a:r>
          </a:p>
          <a:p>
            <a:pPr algn="l"/>
            <a:r>
              <a:rPr sz="1300" b="0">
                <a:solidFill>
                  <a:srgbClr val="CCD5E0"/>
                </a:solidFill>
              </a:rPr>
              <a:t>(all 26 Stage-1 columns preserved and passed through)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423160"/>
            <a:ext cx="6035040" cy="1005840"/>
          </a:xfrm>
          <a:prstGeom prst="rect">
            <a:avLst/>
          </a:prstGeom>
          <a:solidFill>
            <a:srgbClr val="062206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468880"/>
            <a:ext cx="5852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</a:rPr>
              <a:t>OUTPUT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filterdesign_&lt;ts&gt;.csv → 4 filtered BVP signals + adaptive cutoffs</a:t>
            </a:r>
          </a:p>
          <a:p>
            <a:pPr algn="l"/>
            <a:r>
              <a:rPr sz="1300" b="0">
                <a:solidFill>
                  <a:srgbClr val="CCD5E0"/>
                </a:solidFill>
              </a:rPr>
              <a:t>+ 10 MATLAB figures + console ranking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11880"/>
            <a:ext cx="2697480" cy="141732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4845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Adaptive 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59936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Passband derived from
the signal's own spectrum.
Not hardcoded [0.7, 3.5] Hz.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3611880"/>
            <a:ext cx="2697480" cy="141732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364845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SOS form IIR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4059936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Second-Order Sections:
numerically stable for
orders ≥ 4.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216" y="3611880"/>
            <a:ext cx="2697480" cy="141732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364845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</a:rPr>
              <a:t>*ord functions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4059936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buttord/cheb1ord etc.
compute minimum order
automatically.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90304" y="3611880"/>
            <a:ext cx="2697480" cy="1417320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364845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583FF"/>
                </a:solidFill>
              </a:rPr>
              <a:t>filtfilt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4059936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Forward + backward pass
→ zero-phase, no waveform
time-shift.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212080"/>
            <a:ext cx="11658600" cy="566928"/>
          </a:xfrm>
          <a:prstGeom prst="rect">
            <a:avLst/>
          </a:prstGeom>
          <a:solidFill>
            <a:srgbClr val="121200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525780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</a:rPr>
              <a:t>Key insight: no single filter family wins on every recording. The composite ranking adapts to the specific artifact profile and SNR of each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Signal Flow — bpm_filterdesign.m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End-to-end block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148840" cy="64008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2020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B4D8"/>
                </a:solidFill>
              </a:rPr>
              <a:t>rppg_output.csv
(BVP_detrended)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280160"/>
            <a:ext cx="2286000" cy="64008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5768" y="13258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2B788"/>
                </a:solidFill>
              </a:rPr>
              <a:t>Source
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280160"/>
            <a:ext cx="2286000" cy="64008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13258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4A261"/>
                </a:solidFill>
              </a:rPr>
              <a:t>Adaptive
Passband
Estimation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280160"/>
            <a:ext cx="2286000" cy="64008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3258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B4D8"/>
                </a:solidFill>
              </a:rPr>
              <a:t>IIR Design
(4 filters, SOS)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1280160"/>
            <a:ext cx="1737360" cy="640080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13848" y="1325880"/>
            <a:ext cx="16093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B583FF"/>
                </a:solidFill>
              </a:rPr>
              <a:t>FIR Design
(5 filters)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23160" y="1600200"/>
            <a:ext cx="228600" cy="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1600200"/>
            <a:ext cx="228600" cy="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1600200"/>
            <a:ext cx="228600" cy="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66960" y="1600200"/>
            <a:ext cx="182880" cy="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018520" y="1920240"/>
            <a:ext cx="0" cy="68580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23960" y="1920240"/>
            <a:ext cx="0" cy="68580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680960" y="2606040"/>
            <a:ext cx="2286000" cy="64008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265176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2B788"/>
                </a:solidFill>
              </a:rPr>
              <a:t>filtfilt
(9 signals)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2606040"/>
            <a:ext cx="2286000" cy="64008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65176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B4D8"/>
                </a:solidFill>
              </a:rPr>
              <a:t>Sliding-Window
BPM Eval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606040"/>
            <a:ext cx="2286000" cy="64008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5768" y="265176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4A261"/>
                </a:solidFill>
              </a:rPr>
              <a:t>Quality Metrics
wMAE, CCC, SNR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06040"/>
            <a:ext cx="2148840" cy="640080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2651760"/>
            <a:ext cx="2020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B583FF"/>
                </a:solidFill>
              </a:rPr>
              <a:t>Composite
Score Rank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452360" y="2926080"/>
            <a:ext cx="228600" cy="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937760" y="2926080"/>
            <a:ext cx="228600" cy="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423160" y="2926080"/>
            <a:ext cx="228600" cy="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652760" y="1920240"/>
            <a:ext cx="0" cy="68580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44168" y="3246120"/>
            <a:ext cx="0" cy="68580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74320" y="3931920"/>
            <a:ext cx="2148840" cy="640080"/>
          </a:xfrm>
          <a:prstGeom prst="rect">
            <a:avLst/>
          </a:prstGeom>
          <a:solidFill>
            <a:srgbClr val="1E2D3D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977639"/>
            <a:ext cx="19659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D166"/>
                </a:solidFill>
              </a:rPr>
              <a:t>Tight fp1
Comparison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44168" y="4572000"/>
            <a:ext cx="0" cy="457200"/>
          </a:xfrm>
          <a:prstGeom prst="line">
            <a:avLst/>
          </a:prstGeom>
          <a:ln w="2286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74320" y="5029200"/>
            <a:ext cx="11658600" cy="594360"/>
          </a:xfrm>
          <a:prstGeom prst="rect">
            <a:avLst/>
          </a:prstGeom>
          <a:solidFill>
            <a:srgbClr val="062206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074920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B788"/>
                </a:solidFill>
              </a:rPr>
              <a:t>filterdesign_&lt;ts&gt;.csv  ·  BVP_ham_tight (PRIMARY)  ·  BVP_ham_adapt  ·  BVP_el_tight  ·  BVP_el_adapt  ·  f_p1_adapt  ·  f_p2_adapt  ·  N_ham_mid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19202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4A261"/>
                </a:solidFill>
              </a:rPr>
              <a:t>Fig 0: Adapt Diag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19202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B4D8"/>
                </a:solidFill>
              </a:rPr>
              <a:t>Figs 1-2: Freq Resp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19202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8CAE4"/>
                </a:solidFill>
              </a:rPr>
              <a:t>Figs 3-4: Phase/GD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3657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2B788"/>
                </a:solidFill>
              </a:rPr>
              <a:t>Figs 5-6: BVP+PSD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657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B4D8"/>
                </a:solidFill>
              </a:rPr>
              <a:t>Figs 7-8: BPM Track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5262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583FF"/>
                </a:solidFill>
              </a:rPr>
              <a:t>Figs 9-10: Error/Rank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Adaptive Passband Estimation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6-step automatic derivation of filter spec from signal spectrum — Fig 0</a:t>
            </a:r>
          </a:p>
        </p:txBody>
      </p:sp>
      <p:pic>
        <p:nvPicPr>
          <p:cNvPr id="5" name="Picture 4" descr="adaptive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486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0" y="1261872"/>
            <a:ext cx="5943600" cy="475488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44768" y="12984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</a:rPr>
              <a:t>Six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171907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1. Broad Welch PSD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2011680"/>
            <a:ext cx="5760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30s Hann window, 8192-pt FFT. High freq
resolution (df≈0.004 Hz=0.22 BPM).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2432304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2B788"/>
                </a:solidFill>
              </a:rPr>
              <a:t>2. Rough cardiac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724912"/>
            <a:ext cx="5760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Peak in [0.67–3.5 Hz]. Initial harmonic check:
if peak &lt;60BPM and 2× is in range → double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314553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6B6B"/>
                </a:solidFill>
              </a:rPr>
              <a:t>3. Half-harmonic artifact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3438144"/>
            <a:ext cx="5760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Search ±0.30Hz around bpm_rough/2.
Accept if power ≥20% of cardiac peak.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85876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D166"/>
                </a:solidFill>
              </a:rPr>
              <a:t>4. Signal-to-artifact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4151376"/>
            <a:ext cx="5760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S/A = 10·log10(P_cardiac / P_artifact) dB.
WARN if artifact is INSIDE the passband.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457200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</a:rPr>
              <a:t>5. Derive passband 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4864608"/>
            <a:ext cx="5760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f_p1 = artifact + 0.25 Hz  (floor 0.67)
f_p2 = cardiac + 1.50 Hz  (floor 3.0)
f_s1 = f_p1 − 0.35  ·  f_s2 = f_p2 + 0.80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528523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583FF"/>
                </a:solidFill>
              </a:rPr>
              <a:t>6. Adaptive window 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5577840"/>
            <a:ext cx="5760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sw_len = 10s (default) or 5s for short
recordings (&lt;30s). Ensures ≥3 windows.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72000"/>
            <a:ext cx="5486400" cy="658368"/>
          </a:xfrm>
          <a:prstGeom prst="rect">
            <a:avLst/>
          </a:prstGeom>
          <a:solidFill>
            <a:srgbClr val="121200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617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D166"/>
                </a:solidFill>
              </a:rPr>
              <a:t>If artifact is BELOW f_p1 → it's in the transition/stopband → safe. If artifact is INSIDE passband → WARNING: no filter can fully remove it — investigate Stage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IIR Filter Design — SOS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Butterworth · Chebyshev I/II · Elliptic · Rp=1dB · Rs=40dB · filtfilt</a:t>
            </a:r>
          </a:p>
        </p:txBody>
      </p:sp>
      <p:pic>
        <p:nvPicPr>
          <p:cNvPr id="5" name="Picture 4" descr="iir_m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66928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26480" y="1261872"/>
            <a:ext cx="5806440" cy="237744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6208" y="1298448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Four IIR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69164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●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16916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Max flat passband
(0 passband ripple)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6916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5E0"/>
                </a:solidFill>
              </a:rPr>
              <a:t>Auto (≤6 cap)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1671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</a:rPr>
              <a:t>● Chebyshev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16712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Equiripple passband
(≤Rp=1dB)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16712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5E0"/>
                </a:solidFill>
              </a:rPr>
              <a:t>Lower than Butter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64261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2B788"/>
                </a:solidFill>
              </a:rPr>
              <a:t>● Chebyshev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64261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Flat passband,
Equiripple stopband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64261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5E0"/>
                </a:solidFill>
              </a:rPr>
              <a:t>Same as Cheby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11810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583FF"/>
                </a:solidFill>
              </a:rPr>
              <a:t>● 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Equiripple BOTH bands
Lowest order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11810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5E0"/>
                </a:solidFill>
              </a:rPr>
              <a:t>Minimum 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767328"/>
            <a:ext cx="5806440" cy="219456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803904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Why SOS (Second-Order Sections)?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4224528"/>
            <a:ext cx="56235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</a:rPr>
              <a:t>Direct-form polynomial for a N=6 bandpass: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→ 12 poles → coefficients span 10+ orders of magnitude</a:t>
            </a:r>
          </a:p>
          <a:p>
            <a:pPr algn="l"/>
            <a:r>
              <a:rPr sz="1200" b="0">
                <a:solidFill>
                  <a:srgbClr val="FF6B6B"/>
                </a:solidFill>
              </a:rPr>
              <a:t>→ catastrophic rounding in IEEE 754 double precision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D5E0"/>
                </a:solidFill>
              </a:rPr>
              <a:t>SOS = cascade of 2nd-order sections: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[b0 b1 b2  1 a1 a2] per row  ·  product of simple sections</a:t>
            </a:r>
          </a:p>
          <a:p>
            <a:pPr algn="l"/>
            <a:r>
              <a:rPr sz="1200" b="0">
                <a:solidFill>
                  <a:srgbClr val="52B788"/>
                </a:solidFill>
              </a:rPr>
              <a:t>  Each section: numerically stable individually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filtfilt(sos, g, x) applies each section in sequence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D5E0"/>
                </a:solidFill>
              </a:rPr>
              <a:t>Butterworth cap at N=6: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buttord can return N&gt;10 for tight transition bands</a:t>
            </a:r>
          </a:p>
          <a:p>
            <a:pPr algn="l"/>
            <a:r>
              <a:rPr sz="1200" b="0">
                <a:solidFill>
                  <a:srgbClr val="FF6B6B"/>
                </a:solidFill>
              </a:rPr>
              <a:t>  Order-6 bandpass = 12 poles = already at stability edge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Cap at 6 trades small attenuation shortfall for safety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FIR Filter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Hamming-windowed sinc · Kaiser window · Parks-McClellan equiripple</a:t>
            </a:r>
          </a:p>
        </p:txBody>
      </p:sp>
      <p:pic>
        <p:nvPicPr>
          <p:cNvPr id="5" name="Picture 4" descr="fir_m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66928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1261872"/>
            <a:ext cx="5852160" cy="137160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9632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Kaiser Order Formula (baseline 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70078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D166"/>
                </a:solidFill>
              </a:rPr>
              <a:t>N ≈ (Rs − 7.95) / (2.285 × Δω)    where Δω = 2π × Δf / 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2084831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Δf = min(f_p1−f_s1, f_s2−f_p2) — bottleneck transition band
Always enforce odd N so group delay = integer samples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743200"/>
            <a:ext cx="585216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277977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3 Hamming 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3182112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N_lo  (~0.5s):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Real-time comparable latency. Wide transition band.</a:t>
            </a:r>
          </a:p>
          <a:p>
            <a:pPr algn="l"/>
            <a:r>
              <a:rPr sz="1200" b="1">
                <a:solidFill>
                  <a:srgbClr val="52B788"/>
                </a:solidFill>
              </a:rPr>
              <a:t>N_mid (~2.0s) ★ PRIMARY: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Best tradeoff. Exported as BVP_ham_tight / BVP_ham_adapt.</a:t>
            </a:r>
          </a:p>
          <a:p>
            <a:pPr algn="l"/>
            <a:r>
              <a:rPr sz="1200" b="1">
                <a:solidFill>
                  <a:srgbClr val="CCD5E0"/>
                </a:solidFill>
              </a:rPr>
              <a:t>N_hi  (meets Kaiser spec, capped at 40% of window):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Maximum sharpness but long transients.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4069080"/>
            <a:ext cx="2743200" cy="987552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41056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583FF"/>
                </a:solidFill>
              </a:rPr>
              <a:t>Kaiser-Window FIR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45079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kaiserord → β parameter
tuned exactly to spec.
Not fixed like Hamming.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4069080"/>
            <a:ext cx="2971800" cy="987552"/>
          </a:xfrm>
          <a:prstGeom prst="rect">
            <a:avLst/>
          </a:prstGeom>
          <a:solidFill>
            <a:srgbClr val="1E2D3D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4105656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Parks-McClellan (firpm)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4507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Remez exchange algorithm.
Optimal equiripple — minimum
max error for given 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919472"/>
            <a:ext cx="11658600" cy="749808"/>
          </a:xfrm>
          <a:prstGeom prst="rect">
            <a:avLst/>
          </a:prstGeom>
          <a:solidFill>
            <a:srgbClr val="1A0A2A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4965192"/>
            <a:ext cx="1147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583FF"/>
                </a:solidFill>
              </a:rPr>
              <a:t>FIR advantage: linear phase by construction → all frequencies delayed equally. IIR with filtfilt achieves zero-phase but requires the full signal offline. FIR can operate in real-time with constant latency — critical for DocBOT's live BPM display.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Phase &amp; Group Delay — IIR vs FIR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The fundamental trade-off — why filtfilt matters for offline, FIR for real-time</a:t>
            </a:r>
          </a:p>
        </p:txBody>
      </p:sp>
      <p:pic>
        <p:nvPicPr>
          <p:cNvPr id="5" name="Picture 4" descr="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66928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1261872"/>
            <a:ext cx="5852160" cy="1874519"/>
          </a:xfrm>
          <a:prstGeom prst="rect">
            <a:avLst/>
          </a:prstGeom>
          <a:solidFill>
            <a:srgbClr val="1E2D3D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9632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IIR — Nonlinear Phase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700784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Group delay = dΦ/dω  ·  IIR: varies across frequency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A 500ms variation in group delay means: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• 1.0 Hz cardiac component arrives at t=0ms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• 2.0 Hz harmonic arrives at t=+500ms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→ BVP waveform shape is distorted in time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filtfilt solution: apply filter forward AND backward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  Phase shifts cancel exactly → net zero-phase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  BUT requires the entire signal at once (offline only)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3273552"/>
            <a:ext cx="5852160" cy="1847088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331012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B788"/>
                </a:solidFill>
              </a:rPr>
              <a:t>FIR — Constant Group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3712463"/>
            <a:ext cx="56692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Symmetric coefficients → linear phase by construction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Group delay = N/2 samples (constant for all frequencies)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At N=121, fs=30: delay = 60.5 samples = 2.02 seconds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Real-time capability: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  The constant 2.02s latency is predictable and fixed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  The BVP waveform shape is perfectly preserved</a:t>
            </a:r>
          </a:p>
          <a:p>
            <a:pPr algn="l"/>
            <a:r>
              <a:rPr sz="1250" b="0">
                <a:solidFill>
                  <a:srgbClr val="90E0EF"/>
                </a:solidFill>
              </a:rPr>
              <a:t>  DocBOT can display BPM 2s after the current 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303520"/>
            <a:ext cx="11658600" cy="502920"/>
          </a:xfrm>
          <a:prstGeom prst="rect">
            <a:avLst/>
          </a:prstGeom>
          <a:solidFill>
            <a:srgbClr val="120012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5349240"/>
            <a:ext cx="11475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583FF"/>
                </a:solidFill>
              </a:rPr>
              <a:t>For offline BPM estimation (Welch PSD), phase distortion doesn't matter — Welch cares about power, not phase. But for BVP waveform morphology analysis (future: PTT, SVR estimation), FIR or filtfilt is essential.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Sliding-Window BPM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10s window · 1s step · Welch PSD per window · harmonic correction</a:t>
            </a:r>
          </a:p>
        </p:txBody>
      </p:sp>
      <p:pic>
        <p:nvPicPr>
          <p:cNvPr id="5" name="Picture 4" descr="bpm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66928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1261872"/>
            <a:ext cx="5852160" cy="256032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9632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Per-Window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719072"/>
            <a:ext cx="5669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window = 10s (or 5s for short recordings)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step   = 1s   →  90% overlap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For each window, for each of 9 filters: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1. Welch PSD — 1 full Hann segment (no sub-windows)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   nfft=4096 zero-padding → smooth spectral interpolation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2. Find peak in [f_p1, f_p2]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3. Harmonic correction (see below)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4. bpm_est = f_peak × 60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  5. SNR = P_cardiac / mean(P_in_band)  [dB]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  6. GT interpolation → error = bpm_est − gt_bpm(t)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7. Store per-window quality from Stage-1 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3950208"/>
            <a:ext cx="5852160" cy="1170432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39867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</a:rPr>
              <a:t>Harmonic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4389120"/>
            <a:ext cx="5669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5E0"/>
                </a:solidFill>
              </a:rPr>
              <a:t>Gate: fires only if bpm_est &lt; 60 BPM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Check: does 2×f_peak have power ≥ 30% of f_peak?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If yes: bpm_est = bpm_est × 2 (true frequency found)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30% threshold: conservative — avoids doubling legitimate
low-HR estimates while catching half-harmonic artifacts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974336"/>
            <a:ext cx="5303520" cy="594360"/>
          </a:xfrm>
          <a:prstGeom prst="rect">
            <a:avLst/>
          </a:prstGeom>
          <a:solidFill>
            <a:srgbClr val="0A1A0A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5020056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2B788"/>
                </a:solidFill>
              </a:rPr>
              <a:t>Window Welch = single Hann segment (not sub-windows within window). Equivalent to zero-padded DFT with Hann taper. Gives smooth spectral interpolation around cardiac peak.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4974336"/>
            <a:ext cx="6126480" cy="594360"/>
          </a:xfrm>
          <a:prstGeom prst="rect">
            <a:avLst/>
          </a:prstGeom>
          <a:solidFill>
            <a:srgbClr val="1A0A0A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5020056"/>
            <a:ext cx="5943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6B6B"/>
                </a:solidFill>
              </a:rPr>
              <a:t>SNR measured at corrected BPM (not raw peak) — prevents a spurious sharp artifact from claiming high SNR. Evaluated as P_cardiac / mean(P_band), not peak/noise_floor.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Quality Metrics &amp; Composite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wMAE · consistency · SNR · Lin's CCC  →  composite = 0.40/0.25/0.20/0.15</a:t>
            </a:r>
          </a:p>
        </p:txBody>
      </p:sp>
      <p:pic>
        <p:nvPicPr>
          <p:cNvPr id="5" name="Picture 4" descr="composi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669280" cy="3383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1261872"/>
            <a:ext cx="5852160" cy="1664208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9632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</a:rPr>
              <a:t>Quality-Weighted MAE (primary)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700784"/>
            <a:ext cx="56692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w = quality_score per window (from Stage-1 CSV)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Normalise: w ← w / Σw × n_sw  →  preserves BPM scale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wMAE = Σ(|error| × w) / Σw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Frames with poor skin detection count less.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Without weighting: a bad-lighting window counts equally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to a perfect-lighting window → dishonest MAE.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3035808"/>
            <a:ext cx="5852160" cy="1536192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30723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583FF"/>
                </a:solidFill>
              </a:rPr>
              <a:t>Lin's CCC — vs Pearson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3474720"/>
            <a:ext cx="56692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D166"/>
                </a:solidFill>
              </a:rPr>
              <a:t>ccc = 2·Cov(x,y) / (Var(x)+Var(y)+(μx−μy)²)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FF6B6B"/>
                </a:solidFill>
              </a:rPr>
              <a:t>Why not Pearson r?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GT heart rate at rest barely varies (±2 BPM around ~72).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Pearson r on near-constant GT = numerically unstable.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A filter with all errors at +5 BPM has Pearson r ≈ 1.0 !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CCC penalises mean bias via (μx−μy)² — fixes this.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CCC = 1.0 ONLY when estimates match GT exactly.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828032"/>
            <a:ext cx="11658600" cy="987552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5546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Composite Score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30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norm01(x) = (x − min) / (max − min)    [normalise each metric to [0,1] across all 9 filters]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composite  =  0.40 × (1−norm01(wMAE))  +  0.25 × (1−norm01(std))  +  0.20 × norm01(SNR)  +  0.15 × norm01(CCC)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Tight vs Adaptive Lower Passband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f_p1 = 0.67 Hz (adaptive) vs f_p1 = 1.0 Hz (tight) — removing the respiration band</a:t>
            </a:r>
          </a:p>
        </p:txBody>
      </p:sp>
      <p:pic>
        <p:nvPicPr>
          <p:cNvPr id="5" name="Picture 4" descr="specCale _ Tight vs Ada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66928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1261872"/>
            <a:ext cx="5852160" cy="224028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9632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</a:rPr>
              <a:t>Why Test a Tight f_p1 = 1.0 Hz?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700784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2B788"/>
                </a:solidFill>
              </a:rPr>
              <a:t>Physiological argument: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Any healthy adult at rest has HR &gt; 60 BPM (1.0 Hz).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The 0.67–1.0 Hz band contains ONLY noise for resting subjects: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• Respiration:     0.1–0.5 Hz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• Slow body sway:  0.3–0.7 Hz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• Sighs, shifts:   0.05–0.3 Hz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Adaptive f_p1 is already pushed above the artifact,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but may still allow 0.7–1.0 Hz residuals through.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Fixed 1.0 Hz removes an entire octave of interference.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3630168"/>
            <a:ext cx="5852160" cy="141732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366674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What is 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40690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5E0"/>
                </a:solidFill>
              </a:rPr>
              <a:t>Only 2 designs (not all 9) to keep output concise:</a:t>
            </a:r>
          </a:p>
          <a:p>
            <a:pPr algn="l"/>
            <a:r>
              <a:rPr sz="1250" b="0">
                <a:solidFill>
                  <a:srgbClr val="B583FF"/>
                </a:solidFill>
              </a:rPr>
              <a:t>  ● Elliptic IIR — best IIR candidate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  ● Hamming N_mid — PRIMARY FIR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Full metrics printed: wMAE, consistency, SNR, CCC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Console explicitly states the interpretation: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"fp1=0.7Hz passes 0.7-1.0Hz motion/respiration artifacts."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"fp1=1.0Hz removes that band."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11658600" cy="566928"/>
          </a:xfrm>
          <a:prstGeom prst="rect">
            <a:avLst/>
          </a:prstGeom>
          <a:solidFill>
            <a:srgbClr val="062206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553212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B788"/>
                </a:solidFill>
              </a:rPr>
              <a:t>BVP_ham_tight (f_p1=1.0 Hz, N_mid Hamming) is declared the PRIMARY output — consistently best on tested recordings. Exported first in filterdesign CSV.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Output: filterdesign_&lt;ts&gt;.csv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Stage 1 columns preserved + 4 BVP variants + adaptive cutoff 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658600" cy="502920"/>
          </a:xfrm>
          <a:prstGeom prst="rect">
            <a:avLst/>
          </a:prstGeom>
          <a:solidFill>
            <a:srgbClr val="004030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</a:rPr>
              <a:t>writetable(out_tbl, out_csv)  ·  out_tbl = py_data (all Stage-1 columns) + 7 new columns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2743200" cy="182880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911095"/>
            <a:ext cx="1188720" cy="34747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938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★ 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13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</a:rPr>
              <a:t>BVP_ham_tight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15768"/>
            <a:ext cx="2560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Hamming N_mid, f_p1=1.0 Hz
Best performer, exported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874519"/>
            <a:ext cx="2743200" cy="1828800"/>
          </a:xfrm>
          <a:prstGeom prst="rect">
            <a:avLst/>
          </a:prstGeom>
          <a:solidFill>
            <a:srgbClr val="1E2D3D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911095"/>
            <a:ext cx="1188720" cy="34747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92938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Variant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13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BVP_ham_adapt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15768"/>
            <a:ext cx="2560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Hamming N_mid, adaptive f_p1
For comparison with tight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2743200" cy="1828800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911095"/>
            <a:ext cx="1188720" cy="347472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2938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Variant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13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583FF"/>
                </a:solidFill>
              </a:rPr>
              <a:t>BVP_el_tight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15768"/>
            <a:ext cx="2560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Elliptic IIR, f_p1=1.0 Hz
Best IIR family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874519"/>
            <a:ext cx="2743200" cy="182880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1911095"/>
            <a:ext cx="1188720" cy="3474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92938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Variant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313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BVP_el_adapt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15768"/>
            <a:ext cx="2560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Elliptic IIR, adaptive f_p1
For comparison with tight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40480"/>
            <a:ext cx="11658600" cy="804672"/>
          </a:xfrm>
          <a:prstGeom prst="rect">
            <a:avLst/>
          </a:prstGeom>
          <a:solidFill>
            <a:srgbClr val="1E2D3D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7705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D166"/>
                </a:solidFill>
              </a:rPr>
              <a:t>Scalar metadata columns (replicated to all T rows for Stage-3 consumption):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f_p1_adapt  (Hz)   ·   f_p2_adapt  (Hz)   ·   N_ham_mid  (samples)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800600"/>
            <a:ext cx="5669280" cy="960120"/>
          </a:xfrm>
          <a:prstGeom prst="rect">
            <a:avLst/>
          </a:prstGeom>
          <a:solidFill>
            <a:srgbClr val="060A1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8371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B4D8"/>
                </a:solidFill>
              </a:rPr>
              <a:t>Why copy all Stage-1 columns?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1208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3 can read quality_score, gt_bpm, per-region R/G/B directly from this single file. No need to load two CSVs or re-run Stage 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800600"/>
            <a:ext cx="5852160" cy="960120"/>
          </a:xfrm>
          <a:prstGeom prst="rect">
            <a:avLst/>
          </a:prstGeom>
          <a:solidFill>
            <a:srgbClr val="1A0600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8371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</a:rPr>
              <a:t>Why replicate scalar metadata?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21208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3 reads f_p1_adapt to bound its frequency search window. By storing it per-row, Stage 3 can read it with a single table load regardless of row selection.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897880"/>
            <a:ext cx="11658600" cy="566928"/>
          </a:xfrm>
          <a:prstGeom prst="rect">
            <a:avLst/>
          </a:prstGeom>
          <a:solidFill>
            <a:srgbClr val="121222"/>
          </a:solidFill>
          <a:ln w="1524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594360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5E0"/>
                </a:solidFill>
              </a:rPr>
              <a:t>10 MATLAB Figures: Fig0 Adaptive diag · Fig1-2 IIR/FIR mag · Fig3-4 Phase/GroupDelay · Fig5 BVP waveforms · Fig6 PSD vs GT · Fig7-8 BPM tracks · Fig9 Per-window error · Fig10 Composite ranking bar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Helper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sosfreqz() · concordance_cc() — two utilities that enable the entire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5669280" cy="347472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sosfreqz(sos, g, f, fs)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4864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A261"/>
                </a:solidFill>
              </a:rPr>
              <a:t>Why this function exists: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MATLAB's built-in freqz() accepts [b, a] polynomial form.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It does NOT accept SOS matrices directly.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Converting SOS → polynomial would defeat numerical stability.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00B4D8"/>
                </a:solidFill>
              </a:rPr>
              <a:t>Algorithm: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H = ones(N_freqs, 1)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for k = 1 : n_sections: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      H = H .× freqz(sos(k,1:3), sos(k,4:6), f, fs)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  H = g × H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Products of complex frequency responses = cascade response.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Produces the exact frequency response that filtfilt(sos,g,x) implements.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Used for Figs 1, 2, 3, 4 — IIR/FIR plots.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261872"/>
            <a:ext cx="5852160" cy="3474720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29844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583FF"/>
                </a:solidFill>
              </a:rPr>
              <a:t>concordance_cc(x, 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1737360"/>
            <a:ext cx="566928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B583FF"/>
                </a:solidFill>
              </a:rPr>
              <a:t>Lin's Concordance Correlation Coefficient: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ccc = 2·Cov(x,y) / (Var(x) + Var(y) + (μx−μy)²)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00B4D8"/>
                </a:solidFill>
              </a:rPr>
              <a:t>Three terms in denominator: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Var(x):     spread of estimates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Var(y):     spread of GT values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  (μx−μy)²:  mean bias squared  ← THE KEY TERM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Pearson r OMITS the (μx−μy)² term.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That is why Pearson fails on near-constant GT: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If GT ≈ 72 BPM (flat), Var(y) ≈ 0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  r degrades to 0/0 numerically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  CCC correctly penalises bias via (μx−μy)²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1e-9 guard in denominator prevents division by zero.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919472"/>
            <a:ext cx="11658600" cy="804672"/>
          </a:xfrm>
          <a:prstGeom prst="rect">
            <a:avLst/>
          </a:prstGeom>
          <a:solidFill>
            <a:srgbClr val="06062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4965192"/>
            <a:ext cx="11475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Both functions are local MATLAB functions defined at the end of bpm_filterdesign.m. They are not toolbox functions — sosfreqz is custom (MATLAB doesn't provide it), and concordance_cc is implemented directly from the Lin 1989 definition for clarity and auditability.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Parameter Rationale — Why These Values?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Every number is a reasoned engineering decision, not a magic constant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66928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167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B4D8"/>
                </a:solidFill>
              </a:rPr>
              <a:t>Rp = 1.0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1907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At −1dB, signal is attenuated to 89% — physiologically irrelevant for rPPG (relative oscillations matter, not absolute level). Tighter Rp → higher filter order.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578608"/>
            <a:ext cx="566928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6151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</a:rPr>
              <a:t>Rs = 40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0175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At −40dB, artifact = 1% of original. At typical +6–15dB S/A ratio, post-filter S/A becomes 46–55dB — more than sufficient for reliable BPM estimation.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877056"/>
            <a:ext cx="566928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9136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2B788"/>
                </a:solidFill>
              </a:rPr>
              <a:t>art+0.25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31596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Margin for f_p1. 0.25Hz places artifact well into transition band. Too small (0.10Hz): filter still has notable response at artifact. Too large (0.50Hz): cuts into cardiac band.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175504"/>
            <a:ext cx="566928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52120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B583FF"/>
                </a:solidFill>
              </a:rPr>
              <a:t>f_p1−0.35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61441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Transition bandwidth. Controls filter order: wider = lower order. 0.35Hz keeps Butterworth ≤ order 6. Narrowing to 0.10Hz would demand N&gt;20 for Butterworth.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80160"/>
            <a:ext cx="566928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13167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6B6B"/>
                </a:solidFill>
              </a:rPr>
              <a:t>Butter ≤ N=6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171907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Order-6 bandpass = 12 poles. Double-precision arithmetic becomes unreliable for IIR coefficients at order &gt;8 even in SOS. Cap trades small attenuation for stability.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578608"/>
            <a:ext cx="566928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26151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D166"/>
                </a:solidFill>
              </a:rPr>
              <a:t>30% harmonic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0175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Power threshold for doubling sub-60BPM estimate. Conservative: avoids doubling legitimate low-HR. 5% → too many false doublings. 50% → misses weak cardiac signal.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877056"/>
            <a:ext cx="566928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9136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0E0EF"/>
                </a:solidFill>
              </a:rPr>
              <a:t>fp1=1.0 Hz (tight)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431596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Adults at rest: HR &gt; 60 BPM guaranteed. Removing 0.67–1.0 Hz eliminates respiration band + 0.5Hz margin. Primary output export uses this tighter spec.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175504"/>
            <a:ext cx="566928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52120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CD5E0"/>
                </a:solidFill>
              </a:rPr>
              <a:t>wt 0.40/0.25/0.20/0.15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561441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Accuracy (wMAE) is the clinical primary. Consistency matters for deployment. SNR validates spectral sharpness. CCC rounds out the statistical picture.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