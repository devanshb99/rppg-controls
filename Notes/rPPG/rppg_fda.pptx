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Stage 3 is the core research stage. It was motivated by Prof. Chen's observation that Welch PSD requires ~10 seconds for reliable heart-rate estimation, creating 10-second latency in the DocBOT feedback loop.</a:t>
            </a:r>
          </a:p>
          <a:p>
            <a:r>
              <a:rPr lang="en-US" dirty="0"/>
              <a:t>MUSIC and ESPRIT are superresolution methods from array signal processing that can theoretically extract a single frequency from much shorter data windows, limited by SNR rather than window length.</a:t>
            </a:r>
          </a:p>
          <a:p>
            <a:r>
              <a:rPr lang="en-US" dirty="0"/>
              <a:t>Stage 3 tests this claim on real rPPG data by running all methods across 5 window sizes and comparing accuracy against the DocBOT ground-truth contact sensor.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The left plot shows Welch PSD for 2-second and 10-second windows. The 2-second window (orange) has such poor frequency resolution (0.5 Hz = 30 BPM bin spacing) that you cannot reliably detect a peak at 1.23 Hz — the bin at 1.0 Hz and the bin at 1.5 Hz are both plausible candidates.</a:t>
            </a:r>
          </a:p>
          <a:p>
            <a:r>
              <a:rPr lang="en-US" dirty="0"/>
              <a:t>The right plot shows MUSIC on the same 2-second window (green). MUSIC evaluates the pseudospectrum at 2048 points over the cardiac band, giving sub-0.001 Hz resolution. The cardiac peak appears as a narrow spike at the true frequency.</a:t>
            </a:r>
          </a:p>
          <a:p>
            <a:r>
              <a:rPr lang="en-US" dirty="0"/>
              <a:t>The key question: this theoretical advantage holds at high SNR. Real rPPG BVP signals at 2-second windows have low SNR (the cardiac component is weak). Section B tests whether the advantage survives at real-world rPPG SNR levels.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The script is divided into three clearly separated sections labelled W, A, B in the code.</a:t>
            </a:r>
          </a:p>
          <a:p>
            <a:r>
              <a:rPr lang="en-US" dirty="0"/>
              <a:t>Section W runs first because its result — is the noise white or coloured — determines how to interpret the MUSIC/ESPRIT performance in Section B. Coloured noise means the signal/noise subspace separation is approximate, and MUSIC/ESPRIT may show degraded performance.</a:t>
            </a:r>
          </a:p>
          <a:p>
            <a:r>
              <a:rPr lang="en-US" dirty="0"/>
              <a:t>Section A is a quick visual check: the full-signal PSD lets you confirm that the BVP signal has a clear cardiac peak and that the tight-passband filter removed the sub-1Hz content as intended.</a:t>
            </a:r>
          </a:p>
          <a:p>
            <a:r>
              <a:rPr lang="en-US" dirty="0"/>
              <a:t>Section B is the main analysis: the 5-window-size × 6-method loop that generates the BPM tracking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The Fig W1 has 4 panels:</a:t>
            </a:r>
          </a:p>
          <a:p>
            <a:r>
              <a:rPr lang="en-US" dirty="0"/>
              <a:t>Panel 1 (top-left): PSD of the full BVP signal. Should show a clear cardiac peak. The red dashed line marks f_card. Black dashed lines mark f_low and f_high.</a:t>
            </a:r>
          </a:p>
          <a:p>
            <a:r>
              <a:rPr lang="en-US" dirty="0"/>
              <a:t>Panel 2 (top-right): PSD of S_noise (after cardiac notch). If perfectly white, this should be flat. Peaks in the noise PSD reveal coloured noise modes (e.g., a respiration peak at 0.3 Hz, or a mechanical resonance).</a:t>
            </a:r>
          </a:p>
          <a:p>
            <a:r>
              <a:rPr lang="en-US" dirty="0"/>
              <a:t>Panel 3 (bottom-left): ACF of S_noise with 95% CI bounds (±1.96/√T). White noise: all lags within bounds. Coloured noise: significant spikes at specific lags.</a:t>
            </a:r>
          </a:p>
          <a:p>
            <a:r>
              <a:rPr lang="en-US" dirty="0"/>
              <a:t>Panel 4 (bottom-right): Eigenvalue spectrum of the autocorrelation matrix. Blue circles = signal subspace (first 4). Red squares = noise subspace. Flat noise-subspace cluster = white; sloping cluster = coloured.</a:t>
            </a:r>
          </a:p>
          <a:p>
            <a:r>
              <a:rPr lang="en-US" dirty="0"/>
              <a:t>The Ljung-Box Q statistic sums squared autocorrelations — it has more statistical power than testing individual lags.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The Ljung-Box test is a standard time-series diagnostic from Box and Jenkins' classical work. Ljung and Box (1978) improved the original Box-Pierce (1970) statistic by using the 1/(N-lag) correction instead of 1/N. This gives a better chi-squared approximation when N is not very large.</a:t>
            </a:r>
          </a:p>
          <a:p>
            <a:r>
              <a:rPr lang="en-US" dirty="0"/>
              <a:t>The test is applied to S_noise (after notching out the cardiac component) because the cardiac sinusoid itself would dominate the autocorrelation structure and mask any noise coloring.</a:t>
            </a:r>
          </a:p>
          <a:p>
            <a:r>
              <a:rPr lang="en-US" dirty="0"/>
              <a:t>The two ACF plots show white noise (left — all bars within the yellow 95% CI bounds) and coloured noise (right — multiple significant bars outside bounds). Real rPPG noise floor typically looks like the right plot due to motion and respiration residuals.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MUSIC was originally developed for direction-of-arrival estimation in antenna arrays (Schmidt 1986). The Hankel matrix in the 1D time-series case plays the role of the spatial array data matrix.</a:t>
            </a:r>
          </a:p>
          <a:p>
            <a:r>
              <a:rPr lang="en-US" dirty="0"/>
              <a:t>The key insight: a sinusoid at frequency omega appears in the signal subspace of R (top-p eigenvectors). Its steering vector e(omega) is orthogonal to all noise subspace eigenvectors. So the denominator of the MUSIC formula goes to zero at exactly the signal frequencies — producing infinitely sharp peaks.</a:t>
            </a:r>
          </a:p>
          <a:p>
            <a:r>
              <a:rPr lang="en-US" dirty="0"/>
              <a:t>In practice (finite data, noise), the peaks are very sharp but not infinite. At 2048 evaluation points over the cardiac band, peak location has sub-0.001 Hz precision regardless of window length.</a:t>
            </a:r>
          </a:p>
          <a:p>
            <a:r>
              <a:rPr lang="en-US" dirty="0"/>
              <a:t>The ±0.2 Hz neighbourhood harmonic check is wider than Stage 2's single-bin check because MUSIC peaks can be offset from the true frequency by up to ±0.2 Hz in noisy short-window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ESPRIT's rotational-invariance property is the key mathematical insight: if x[n] contains sinusoids, then x[n+1] is a phase-rotated version of x[n] by e^{jω} for each sinusoid. The two shifted submatrices encode this rotation.</a:t>
            </a:r>
          </a:p>
          <a:p>
            <a:r>
              <a:rPr lang="en-US" dirty="0"/>
              <a:t>Solving S1·Φ = S2 (in the least-squares sense) gives Φ, and the eigenvalues of Φ are the complex unit-circle values e^{jωk} for each sinusoidal component. Taking angle(eig(Φ)) gives the digital frequencies.</a:t>
            </a:r>
          </a:p>
          <a:p>
            <a:r>
              <a:rPr lang="en-US" dirty="0"/>
              <a:t>The evalc wrapper is a practical engineering decision: the ESPRIT toolbox prints verbose diagnostic text for every call. With 90 windows × 5 window sizes = 450 calls, that would produce 450 blocks of diagnostic text in the command window. evalc captures and discards it.</a:t>
            </a:r>
          </a:p>
          <a:p>
            <a:r>
              <a:rPr lang="en-US" dirty="0"/>
              <a:t>The minimum p=4 for ESPRIT: a real-valued sinusoid at frequency f produces TWO poles in the z-plane (at e^{±jω}). So 2 real sinusoids (cardiac + harmonic) require p=4. MDL might select p=2 for a very short noisy window, but ESPRIT needs at least 4 to represent the expected signal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MDL is the information-theoretic approach to model selection — it balances how well the model fits the data against how complex the model is.</a:t>
            </a:r>
          </a:p>
          <a:p>
            <a:r>
              <a:rPr lang="en-US" dirty="0"/>
              <a:t>The AM-GM inequality (arithmetic mean ≥ geometric mean) ensures the first term is always ≥ 0. When noise eigenvalues are all equal (perfect white noise), geometric mean = arithmetic mean and the term is zero. As noise eigenvalues spread (coloured noise or unaccounted signal components), the geometric mean falls below the arithmetic mean and the term grows.</a:t>
            </a:r>
          </a:p>
          <a:p>
            <a:r>
              <a:rPr lang="en-US" dirty="0"/>
              <a:t>The complexity penalty 0.5k(2M-k)log(N) counts the degrees of freedom in a rank-k signal model: k complex frequencies are estimated from an M×M autocorrelation matrix, with k×(2M-k)/2 free real parameters.</a:t>
            </a:r>
          </a:p>
          <a:p>
            <a:r>
              <a:rPr lang="en-US" dirty="0"/>
              <a:t>The step-by-2 rule is critical: a physical sinusoid at frequency f in a real-valued signal produces poles at e^{+jω} and e^{-jω}. If k=1 (odd), the model would have only one pole — which is mathematically inconsistent for real-valued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The matrix shows the full experiment design: 5 window lengths × 6 estimators = 30 conditions.</a:t>
            </a:r>
          </a:p>
          <a:p>
            <a:r>
              <a:rPr lang="en-US" dirty="0"/>
              <a:t>For each condition the full sliding-window loop runs, computing BPM for every 1-second step and comparing to interpolated ground truth.</a:t>
            </a:r>
          </a:p>
          <a:p>
            <a:r>
              <a:rPr lang="en-US" dirty="0"/>
              <a:t>MUSIC and ESPRIT are only run on S_primary (the primary winner from Stage 2) to isolate the frequency estimation variable — if you also changed the filter, you'd be comparing two things simultaneously.</a:t>
            </a:r>
          </a:p>
          <a:p>
            <a:r>
              <a:rPr lang="en-US" dirty="0"/>
              <a:t>The MDL order is recomputed per window — a 2-second window in a noisy period might select p=2 while a clean 10-second window selects p=6. This adaptive behavior is essential: a fixed order would over- or under-estimate sinusoid count across varying window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The confidence score serves two purposes:</a:t>
            </a:r>
          </a:p>
          <a:p>
            <a:r>
              <a:rPr lang="en-US" dirty="0"/>
              <a:t>1. Per-slide visualization: the bottom panel of each BPM-track figure shows the confidence trace with cyan fill for HQ periods. This lets the presenter identify which BPM estimate errors occur at low-confidence moments — those errors are expected and don't reflect the estimator's true capability.</a:t>
            </a:r>
          </a:p>
          <a:p>
            <a:r>
              <a:rPr lang="en-US" dirty="0"/>
              <a:t>2. HQ-subset MAE: a summary metric computed only over HQ windows. This is the fairest comparison of frequency estimators because it holds quality constant.</a:t>
            </a:r>
          </a:p>
          <a:p>
            <a:r>
              <a:rPr lang="en-US" dirty="0"/>
              <a:t>The soft scoring (linear ramp to score threshold at 2× threshold) prevents binary cliff edges. A window with SNR=5.9 dB (just below the 6 dB threshold) still contributes at weight 0.49 rather than 0.</a:t>
            </a:r>
          </a:p>
          <a:p>
            <a:r>
              <a:rPr lang="en-US" dirty="0"/>
              <a:t>The SNR is computed as P_cardiac / mean(P_band at ≥0.5Hz from peak) — the noise floor is estimated from the in-band spectrum EXCLUDING the cardiac peak region. This prevents the cardiac peak itself from raising the floor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These are actual outputs from the pipeline run on 2026-06-26. The BPM track figures have two panels: top panel shows all 6 BPM estimates vs GT (yellow staircase), bottom panel shows the composite confidence score with cyan HQ fill.</a:t>
            </a:r>
          </a:p>
          <a:p>
            <a:r>
              <a:rPr lang="en-US" dirty="0"/>
              <a:t>At 2 seconds: Welch estimates are scattered due to 30 BPM frequency resolution. MUSIC and ESPRIT (green solid and magenta dashed) show noticeably tighter tracking in the cyan-highlighted HQ periods. In low-confidence periods (white background), all methods struggle — that's expected.</a:t>
            </a:r>
          </a:p>
          <a:p>
            <a:r>
              <a:rPr lang="en-US" dirty="0"/>
              <a:t>At 10 seconds: all 6 estimates track GT tightly. This is the baseline condition where Welch is known to work well. The goal of the research is to find the minimum window at which MUSIC/ESPRIT match this 10s Welch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The 5-second window is the most informative comparison point. Welch at 5s has 0.20 Hz = 12 BPM resolution — borderline for rPPG. MUSIC and ESPRIT at 5s can achieve much finer resolution, and the BPM track shows this as tighter clustering around the GT line.</a:t>
            </a:r>
          </a:p>
          <a:p>
            <a:r>
              <a:rPr lang="en-US" dirty="0"/>
              <a:t>The 20-second window is the maximum window tested. At this window length, all methods have essentially solved the frequency estimation problem — Welch has only 3 BPM resolution and the cardiac peak is easily identifiable. This serves as a sanity check: if MUSIC or ESPRIT deviate from GT at 20 seconds, there is a bug.</a:t>
            </a:r>
          </a:p>
          <a:p>
            <a:r>
              <a:rPr lang="en-US" dirty="0"/>
              <a:t>The research conclusion from these 4 slides: MUSIC/ESPRIT provide meaningful improvement at 2-5 second windows, with the most pronounced advantage at 2-3 seconds where Welch is essentially non-functional.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This slide summarises both the parameter choices and the research conclusions.</a:t>
            </a:r>
          </a:p>
          <a:p>
            <a:r>
              <a:rPr lang="en-US" dirty="0"/>
              <a:t>The 5% harmonic threshold in Stage 3 vs 30% in Stage 2: this difference is intentional and important. Stage 2 has the full signal (hundreds of seconds) so the cardiac peak is sharp and well-estimated. Stage 3 works with 2-second windows where spectral resolution is 30 BPM — a barely-detectable sub-harmonic at 5% of peak power is still meaningful evidence of the true cardiac frequency.</a:t>
            </a:r>
          </a:p>
          <a:p>
            <a:r>
              <a:rPr lang="en-US" dirty="0"/>
              <a:t>The research conclusion regarding MUSIC/ESPRIT vs Welch: the theoretical advantage of superresolution methods is real and visible in the BPM track figures, particularly at 2-5 second windows. However, the advantage is most pronounced in HQ windows — when SNR drops below 6dB, all methods struggle equally and the superresolution benefit disappears.</a:t>
            </a:r>
          </a:p>
          <a:p>
            <a:r>
              <a:rPr lang="en-US" dirty="0"/>
              <a:t>Prof. Chen's DocBOT integration goal: if the results hold across multiple recordings, MUSIC or ESPRIT could replace the 10-second Welch window in the real-time controller, cutting measurement latency in half.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Frequency Domain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90E0EF"/>
                </a:solidFill>
              </a:rPr>
              <a:t>Welch · MUSIC · ESPRIT — Across 5 Window Lengths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5E0"/>
                </a:solidFill>
              </a:rPr>
              <a:t>Stage 3 of 3  ·  bpm_fda.m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46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FFD166"/>
                </a:solidFill>
              </a:rPr>
              <a:t>Core question: can MUSIC/ESPRIT extract heart rate from 2–3s windows where Welch completely fails?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943600"/>
            <a:ext cx="137160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96188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Welch PSD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5943600"/>
            <a:ext cx="1005840" cy="38404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79" y="596188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MUSIC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5943600"/>
            <a:ext cx="1005840" cy="384048"/>
          </a:xfrm>
          <a:prstGeom prst="rect">
            <a:avLst/>
          </a:prstGeom>
          <a:solidFill>
            <a:srgbClr val="B5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79" y="596188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ESPRIT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5943600"/>
            <a:ext cx="1188720" cy="38404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596188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MDL order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5943600"/>
            <a:ext cx="1188720" cy="38404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59" y="596188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Ljung-Box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5943600"/>
            <a:ext cx="1280160" cy="384048"/>
          </a:xfrm>
          <a:prstGeom prst="rect">
            <a:avLst/>
          </a:prstGeom>
          <a:solidFill>
            <a:srgbClr val="FF5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5961888"/>
            <a:ext cx="1188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CONF score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5943600"/>
            <a:ext cx="1737360" cy="38404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5961888"/>
            <a:ext cx="1645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[2,3,5,10,20]s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The Core Research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5E0"/>
                </a:solidFill>
              </a:rPr>
              <a:t>Welch frequency resolution is limited by window length — can MUSIC/ESPRIT overcome this?</a:t>
            </a:r>
          </a:p>
        </p:txBody>
      </p:sp>
      <p:pic>
        <p:nvPicPr>
          <p:cNvPr id="5" name="Picture 4" descr="music_vs_wel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61872"/>
            <a:ext cx="8229600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732520" y="1261872"/>
            <a:ext cx="3154680" cy="1417320"/>
          </a:xfrm>
          <a:prstGeom prst="rect">
            <a:avLst/>
          </a:prstGeom>
          <a:solidFill>
            <a:srgbClr val="1E2D3D"/>
          </a:solidFill>
          <a:ln w="1524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51392" y="1298448"/>
            <a:ext cx="2999232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6B6B"/>
                </a:solidFill>
              </a:rPr>
              <a:t>Welch resolution law:</a:t>
            </a:r>
          </a:p>
          <a:p>
            <a:pPr algn="l"/>
            <a:r>
              <a:rPr sz="1250" b="0">
                <a:solidFill>
                  <a:srgbClr val="FFD166"/>
                </a:solidFill>
              </a:rPr>
              <a:t>Δf = fs / N_window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At 30fps:   2s → Δf=0.50Hz=30BPM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            5s → Δf=0.20Hz=12BPM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           10s → Δf=0.10Hz= 6BPM</a:t>
            </a:r>
          </a:p>
          <a:p>
            <a:pPr algn="l"/>
            <a:r>
              <a:rPr sz="1250" b="0">
                <a:solidFill>
                  <a:srgbClr val="CCD5E0"/>
                </a:solidFill>
              </a:rPr>
              <a:t>           20s → Δf=0.05Hz= 3BPM</a:t>
            </a:r>
          </a:p>
        </p:txBody>
      </p:sp>
      <p:sp>
        <p:nvSpPr>
          <p:cNvPr id="8" name="Rectangle 7"/>
          <p:cNvSpPr/>
          <p:nvPr/>
        </p:nvSpPr>
        <p:spPr>
          <a:xfrm>
            <a:off x="8732520" y="2788920"/>
            <a:ext cx="3154680" cy="1298448"/>
          </a:xfrm>
          <a:prstGeom prst="rect">
            <a:avLst/>
          </a:prstGeom>
          <a:solidFill>
            <a:srgbClr val="1E2D3D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51392" y="2825496"/>
            <a:ext cx="299923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52B788"/>
                </a:solidFill>
              </a:rPr>
              <a:t>MUSIC/ESPRIT: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Superresolution — not Δf-limited.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Limited by SNR and model order,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not window length.</a:t>
            </a:r>
          </a:p>
          <a:p>
            <a:pPr algn="l"/>
            <a:r>
              <a:rPr sz="1250" b="0">
                <a:solidFill>
                  <a:srgbClr val="90E0EF"/>
                </a:solidFill>
              </a:rPr>
              <a:t>2s window can theoretically give</a:t>
            </a:r>
          </a:p>
          <a:p>
            <a:pPr algn="l"/>
            <a:r>
              <a:rPr sz="1250" b="0">
                <a:solidFill>
                  <a:srgbClr val="90E0EF"/>
                </a:solidFill>
              </a:rPr>
              <a:t>&lt;0.01 Hz precision at high SNR.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32520" y="4206240"/>
            <a:ext cx="3154680" cy="713232"/>
          </a:xfrm>
          <a:prstGeom prst="rect">
            <a:avLst/>
          </a:prstGeom>
          <a:solidFill>
            <a:srgbClr val="1A1200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51392" y="4251960"/>
            <a:ext cx="29992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166"/>
                </a:solidFill>
              </a:rPr>
              <a:t>Research goal: quantify the minimum window at which MUSIC/ESPRIT matches Welch@10s on real rPPG BVP signals.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5074920"/>
            <a:ext cx="11658600" cy="621792"/>
          </a:xfrm>
          <a:prstGeom prst="rect">
            <a:avLst/>
          </a:prstGeom>
          <a:solidFill>
            <a:srgbClr val="060622"/>
          </a:solidFill>
          <a:ln w="1524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5120640"/>
            <a:ext cx="11475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Note: MUSIC evaluated at 2048 frequency points only in [f_low, f_high] — targeted cardiac band search. Far finer grid than Welch bin spacing. Peaks can be located to &lt;0.001 Hz regardless of window length.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Signal Flow — bpm_fda.m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5E0"/>
                </a:solidFill>
              </a:rPr>
              <a:t>Three sections: Noise whiteness → Full spectra → Multi-method window sweep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98448"/>
            <a:ext cx="3840480" cy="1234440"/>
          </a:xfrm>
          <a:prstGeom prst="rect">
            <a:avLst/>
          </a:prstGeom>
          <a:solidFill>
            <a:srgbClr val="1E2D3D"/>
          </a:solidFill>
          <a:ln w="1524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335024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A261"/>
                </a:solidFill>
              </a:rPr>
              <a:t>SECTION W
Noise Whiteness Diagnostic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883664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Notch cardiac → Ljung-Box → Eigenvalue CV
→ is residual noise white or coloured?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532888"/>
            <a:ext cx="0" cy="228600"/>
          </a:xfrm>
          <a:prstGeom prst="line">
            <a:avLst/>
          </a:prstGeom>
          <a:ln w="22860">
            <a:solidFill>
              <a:srgbClr val="90E0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74320" y="2761488"/>
            <a:ext cx="3840480" cy="1234440"/>
          </a:xfrm>
          <a:prstGeom prst="rect">
            <a:avLst/>
          </a:prstGeom>
          <a:solidFill>
            <a:srgbClr val="1E2D3D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798064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SECTION A
Full-Signal Spectra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346704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specCal + specCale (MACS toolbox)
→ BVP PSD with passband markers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94560" y="3995928"/>
            <a:ext cx="0" cy="228600"/>
          </a:xfrm>
          <a:prstGeom prst="line">
            <a:avLst/>
          </a:prstGeom>
          <a:ln w="22860">
            <a:solidFill>
              <a:srgbClr val="90E0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74320" y="4224528"/>
            <a:ext cx="3840480" cy="1234440"/>
          </a:xfrm>
          <a:prstGeom prst="rect">
            <a:avLst/>
          </a:prstGeom>
          <a:solidFill>
            <a:srgbClr val="1E2D3D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4261104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2B788"/>
                </a:solidFill>
              </a:rPr>
              <a:t>SECTION B
Sliding-Window Method Sweep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4809744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[2,3,5,10,20]s × Welch × MUSIC × ESPRIT
→ MAE, Acc%, HQ subset, confidence scoring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1261872"/>
            <a:ext cx="7452360" cy="5029200"/>
          </a:xfrm>
          <a:prstGeom prst="rect">
            <a:avLst/>
          </a:prstGeom>
          <a:solidFill>
            <a:srgbClr val="1E2D3D"/>
          </a:solidFill>
          <a:ln w="15240">
            <a:solidFill>
              <a:srgbClr val="B5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298448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583FF"/>
                </a:solidFill>
              </a:rPr>
              <a:t>Auto-Save Output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719072"/>
            <a:ext cx="7178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B583FF"/>
                </a:solidFill>
              </a:rPr>
              <a:t>fda_results/fda_&lt;timestamp&gt;/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066543"/>
            <a:ext cx="7178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5E0"/>
                </a:solidFill>
              </a:rPr>
              <a:t>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414015"/>
            <a:ext cx="7178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5E0"/>
                </a:solidFill>
              </a:rPr>
              <a:t>├── output.txt               ← diary() full console 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761488"/>
            <a:ext cx="7178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4A261"/>
                </a:solidFill>
              </a:rPr>
              <a:t>├── Fig W1 _ Noise Whiteness Diagnostic.png/.pdf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108960"/>
            <a:ext cx="7178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B4D8"/>
                </a:solidFill>
              </a:rPr>
              <a:t>├── specCal figure.png/.pdf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456432"/>
            <a:ext cx="7178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B4D8"/>
                </a:solidFill>
              </a:rPr>
              <a:t>├── specCale _ Tight vs Adapt.png/.pdf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803904"/>
            <a:ext cx="7178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2B788"/>
                </a:solidFill>
              </a:rPr>
              <a:t>├── BPM Track _ 2s window.png/.pdf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151376"/>
            <a:ext cx="7178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2B788"/>
                </a:solidFill>
              </a:rPr>
              <a:t>├── BPM Track _ 3s window.png/.pdf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498848"/>
            <a:ext cx="7178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2B788"/>
                </a:solidFill>
              </a:rPr>
              <a:t>├── BPM Track _ 5s window.png/.pdf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846320"/>
            <a:ext cx="7178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2B788"/>
                </a:solidFill>
              </a:rPr>
              <a:t>├── BPM Track _ 10s window.png/.pdf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193792"/>
            <a:ext cx="7178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2B788"/>
                </a:solidFill>
              </a:rPr>
              <a:t>└── BPM Track _ 20s window.png/.pdf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596128"/>
            <a:ext cx="11658600" cy="603504"/>
          </a:xfrm>
          <a:prstGeom prst="rect">
            <a:avLst/>
          </a:prstGeom>
          <a:solidFill>
            <a:srgbClr val="001000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5650992"/>
            <a:ext cx="11475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2B788"/>
                </a:solidFill>
              </a:rPr>
              <a:t>diary() starts immediately at script launch. Even if MATLAB crashes mid-run, all completed computation results are preserved in output.txt. Figures saved as both PNG (viewing) and PDF (publication-quality vector).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Section W — Noise Whiteness Diagnostic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5E0"/>
                </a:solidFill>
              </a:rPr>
              <a:t>Formal test for coloured noise: Ljung-Box + Eigenvalue CV — Fig W1</a:t>
            </a:r>
          </a:p>
        </p:txBody>
      </p:sp>
      <p:pic>
        <p:nvPicPr>
          <p:cNvPr id="5" name="Picture 4" descr="Fig W1 _ Noise Whiteness Diagnos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61872"/>
            <a:ext cx="6400800" cy="48920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03720" y="1261872"/>
            <a:ext cx="4983480" cy="1417320"/>
          </a:xfrm>
          <a:prstGeom prst="rect">
            <a:avLst/>
          </a:prstGeom>
          <a:solidFill>
            <a:srgbClr val="1E2D3D"/>
          </a:solidFill>
          <a:ln w="1524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22592" y="1298448"/>
            <a:ext cx="4828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A261"/>
                </a:solidFill>
              </a:rPr>
              <a:t>Why test noise whiteness first?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22592" y="1700784"/>
            <a:ext cx="482803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MUSIC and ESPRIT assume noise is i.i.d.
(white, spectrally flat). Coloured noise
degrades the signal/noise subspace
separation → poorer frequency estimates.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3720" y="2788920"/>
            <a:ext cx="4983480" cy="1325880"/>
          </a:xfrm>
          <a:prstGeom prst="rect">
            <a:avLst/>
          </a:prstGeom>
          <a:solidFill>
            <a:srgbClr val="1E2D3D"/>
          </a:solidFill>
          <a:ln w="1524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22592" y="2825496"/>
            <a:ext cx="4828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</a:rPr>
              <a:t>Cardiac Notch Filter (FIR ±0.30Hz)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2592" y="3227832"/>
            <a:ext cx="482803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Remove cardiac before testing noise:
S_noise = filtfilt(b_notch, 1, S_primary)
Width ±0.30Hz covers broadened peak
(rate variability + leakage)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20" y="4224528"/>
            <a:ext cx="2377440" cy="1024128"/>
          </a:xfrm>
          <a:prstGeom prst="rect">
            <a:avLst/>
          </a:prstGeom>
          <a:solidFill>
            <a:srgbClr val="1E2D3D"/>
          </a:solidFill>
          <a:ln w="15240">
            <a:solidFill>
              <a:srgbClr val="B5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22592" y="4261104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B583FF"/>
                </a:solidFill>
              </a:rPr>
              <a:t>Ljung-Box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2" y="4645152"/>
            <a:ext cx="22128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166"/>
                </a:solidFill>
              </a:rPr>
              <a:t>Q = N(N+2)·Σ r²(l)/(N-l)
p &lt; 0.05 → coloured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00032" y="4224528"/>
            <a:ext cx="2487168" cy="1024128"/>
          </a:xfrm>
          <a:prstGeom prst="rect">
            <a:avLst/>
          </a:prstGeom>
          <a:solidFill>
            <a:srgbClr val="1E2D3D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4261104"/>
            <a:ext cx="2340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52B788"/>
                </a:solidFill>
              </a:rPr>
              <a:t>Eigenvalue CV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4645152"/>
            <a:ext cx="234086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166"/>
                </a:solidFill>
              </a:rPr>
              <a:t>CV = std(λ_noise)/mean(λ_noise)
CV &gt; 0.30 → coloured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03720" y="5376672"/>
            <a:ext cx="4983480" cy="749808"/>
          </a:xfrm>
          <a:prstGeom prst="rect">
            <a:avLst/>
          </a:prstGeom>
          <a:solidFill>
            <a:srgbClr val="120012"/>
          </a:solidFill>
          <a:ln w="15240">
            <a:solidFill>
              <a:srgbClr val="FF5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22592" y="5422392"/>
            <a:ext cx="482803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5FD2"/>
                </a:solidFill>
              </a:rPr>
              <a:t>If is_colored → MUSIC/ESPRIT accuracy may degrade for this recording. Script prints explicit warning with context.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Ljung-Box Portmanteau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5E0"/>
                </a:solidFill>
              </a:rPr>
              <a:t>Formal hypothesis test for noise autocorrelation — Q-statistic vs χ²(m)</a:t>
            </a:r>
          </a:p>
        </p:txBody>
      </p:sp>
      <p:pic>
        <p:nvPicPr>
          <p:cNvPr id="5" name="Picture 4" descr="ljung_a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61872"/>
            <a:ext cx="5943600" cy="3200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92240" y="1261872"/>
            <a:ext cx="5486400" cy="3200400"/>
          </a:xfrm>
          <a:prstGeom prst="rect">
            <a:avLst/>
          </a:prstGeom>
          <a:solidFill>
            <a:srgbClr val="1E2D3D"/>
          </a:solidFill>
          <a:ln w="15240">
            <a:solidFill>
              <a:srgbClr val="B5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1968" y="12984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583FF"/>
                </a:solidFill>
              </a:rPr>
              <a:t>The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1968" y="1719072"/>
            <a:ext cx="5303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CD5E0"/>
                </a:solidFill>
              </a:rPr>
              <a:t>H₀: noise is white (no autocorrelation at lags 1…m)</a:t>
            </a:r>
          </a:p>
          <a:p>
            <a:pPr algn="l"/>
            <a:r>
              <a:rPr sz="1250" b="0">
                <a:solidFill>
                  <a:srgbClr val="CCD5E0"/>
                </a:solidFill>
              </a:rPr>
              <a:t>H₁: at least one lag has significant autocorrelation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FFD166"/>
                </a:solidFill>
              </a:rPr>
              <a:t>Q = N(N+2) · Σ r²(lag) / (N−lag)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90E0EF"/>
                </a:solidFill>
              </a:rPr>
              <a:t>Q ~ χ²(m)  under H₀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p = 1 − chi2cdf(Q, m)</a:t>
            </a:r>
          </a:p>
          <a:p>
            <a:pPr algn="l"/>
            <a:r>
              <a:rPr sz="1250" b="0">
                <a:solidFill>
                  <a:srgbClr val="FF6B6B"/>
                </a:solidFill>
              </a:rPr>
              <a:t>p &lt; 0.05 → reject H₀ → coloured noise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50" b="1">
                <a:solidFill>
                  <a:srgbClr val="F4A261"/>
                </a:solidFill>
              </a:rPr>
              <a:t>m = min(20, T/5) lags: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More lags = more power, but ACF at lag &gt; T/5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is poorly estimated → unreliable test.</a:t>
            </a:r>
          </a:p>
          <a:p>
            <a:pPr algn="l"/>
            <a:r>
              <a:rPr sz="1250" b="0">
                <a:solidFill>
                  <a:srgbClr val="CCD5E0"/>
                </a:solidFill>
              </a:rPr>
              <a:t>Cap at 20 to prevent testing lags &gt; 0.67s at 30fps.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50" b="1">
                <a:solidFill>
                  <a:srgbClr val="00B4D8"/>
                </a:solidFill>
              </a:rPr>
              <a:t>Why Ljung-Box over Box-Pierce?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L-B uses 1/(N−lag) correction → better χ² approximation in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finite samples. Box-Pierce underestimates Q in small 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4645152"/>
            <a:ext cx="11658600" cy="566928"/>
          </a:xfrm>
          <a:prstGeom prst="rect">
            <a:avLst/>
          </a:prstGeom>
          <a:solidFill>
            <a:srgbClr val="001020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4690872"/>
            <a:ext cx="11475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Input to test: S_noise (after cardiac notch). Each r(lag) is the sample autocorrelation at that lag, normalised to [-1,1] by variance. Large ACF at any lag → evidence of autocorrelated structure → Q grows large → p falls below 0.05.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5340096"/>
            <a:ext cx="11658600" cy="566928"/>
          </a:xfrm>
          <a:prstGeom prst="rect">
            <a:avLst/>
          </a:prstGeom>
          <a:solidFill>
            <a:srgbClr val="1A0600"/>
          </a:solidFill>
          <a:ln w="1524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5385816"/>
            <a:ext cx="11475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A261"/>
                </a:solidFill>
              </a:rPr>
              <a:t>Practical interpretation: if p &lt; 0.05 on a real rPPG noise floor, the coloured noise comes from residual motion artifacts, breathing, or imperfect skin segmentation — all physically meaningful sources of structured interference.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MUSIC Algorithm — Subspace Frequency Estimation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5E0"/>
                </a:solidFill>
              </a:rPr>
              <a:t>MUltiple SIgnal Classification · Schmidt (1986)</a:t>
            </a:r>
          </a:p>
        </p:txBody>
      </p:sp>
      <p:pic>
        <p:nvPicPr>
          <p:cNvPr id="5" name="Picture 4" descr="music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61872"/>
            <a:ext cx="6583680" cy="2926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261872"/>
            <a:ext cx="4983480" cy="2926080"/>
          </a:xfrm>
          <a:prstGeom prst="rect">
            <a:avLst/>
          </a:prstGeom>
          <a:solidFill>
            <a:srgbClr val="1E2D3D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59168" y="1298448"/>
            <a:ext cx="4828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2B788"/>
                </a:solidFill>
              </a:rPr>
              <a:t>MUSIC in bpm_fda.m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9168" y="1719072"/>
            <a:ext cx="4828032" cy="2414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CD5E0"/>
                </a:solidFill>
              </a:rPr>
              <a:t>Input: seg (BVP_ham_tight window), M, p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1. Hankel matrix: X = hankel(x[1:M], x[M:end])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2. Autocorr: R = X·Xᴴ / N_cols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3. Eigen-decompose R, sort λ descending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4. Noise subspace: last (M−p) eigenvectors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5. Evaluate pseudospectrum at omega_cb (2048 pts)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6. Find peak → harmonic check → BPM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FFD166"/>
                </a:solidFill>
              </a:rPr>
              <a:t>omega_cb = linspace(2π·f_low/fs, 2π·f_high/fs, 2048)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50" b="1">
                <a:solidFill>
                  <a:srgbClr val="F4A261"/>
                </a:solidFill>
              </a:rPr>
              <a:t>Why cardiac band only?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2048 pts in [1.0, f_high Hz] = &lt;0.001 Hz resolution</a:t>
            </a:r>
          </a:p>
          <a:p>
            <a:pPr algn="l"/>
            <a:r>
              <a:rPr sz="1250" b="0">
                <a:solidFill>
                  <a:srgbClr val="CCD5E0"/>
                </a:solidFill>
              </a:rPr>
              <a:t>Faster than full-band sweep, no out-of-band aliasing.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50" b="1">
                <a:solidFill>
                  <a:srgbClr val="00B4D8"/>
                </a:solidFill>
              </a:rPr>
              <a:t>Harmonic correction (±0.2 Hz neighbourhood search):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within -10 dB of sub-harmonic → prefer doubled freq.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4315968"/>
            <a:ext cx="11658600" cy="713232"/>
          </a:xfrm>
          <a:prstGeom prst="rect">
            <a:avLst/>
          </a:prstGeom>
          <a:solidFill>
            <a:srgbClr val="1E2D3D"/>
          </a:solidFill>
          <a:ln w="1524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35254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4A261"/>
                </a:solidFill>
              </a:rPr>
              <a:t>MUSIC pseudospectrum formula: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4389120"/>
            <a:ext cx="8138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166"/>
                </a:solidFill>
              </a:rPr>
              <a:t>P(ω) = 1 / Σₙ |e(ω)ᴴ · vₙ|²     e(ω) = [1, e^{jω}, e^{2jω}, …, e^{j(M−1)ω}]ᵀ  (steering vector)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5138928"/>
            <a:ext cx="5486400" cy="640080"/>
          </a:xfrm>
          <a:prstGeom prst="rect">
            <a:avLst/>
          </a:prstGeom>
          <a:solidFill>
            <a:srgbClr val="062006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5184648"/>
            <a:ext cx="52852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2B788"/>
                </a:solidFill>
              </a:rPr>
              <a:t>When e(ω) ⊥ noise subspace → denominator → 0 → pseudospectrum spike at true signal frequency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5138928"/>
            <a:ext cx="5989320" cy="640080"/>
          </a:xfrm>
          <a:prstGeom prst="rect">
            <a:avLst/>
          </a:prstGeom>
          <a:solidFill>
            <a:srgbClr val="200606"/>
          </a:solidFill>
          <a:ln w="1524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8" y="5184648"/>
            <a:ext cx="57881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6B6B"/>
                </a:solidFill>
              </a:rPr>
              <a:t>try/catch guards against ill-conditioned R (too noisy, too short). Returns NaN → excluded from MAE via omitnan.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ESPRIT Algorithm — Rotational Invariance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5E0"/>
                </a:solidFill>
              </a:rPr>
              <a:t>Estimation of Signal Parameters via Rotational Invariance Techniques · Roy &amp; Kailath (1989)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5943600" cy="4892040"/>
          </a:xfrm>
          <a:prstGeom prst="rect">
            <a:avLst/>
          </a:prstGeom>
          <a:solidFill>
            <a:srgbClr val="1E2D3D"/>
          </a:solidFill>
          <a:ln w="15240">
            <a:solidFill>
              <a:srgbClr val="B5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583FF"/>
                </a:solidFill>
              </a:rPr>
              <a:t>ESPRIT: No Grid Search — Algebraic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5760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B583FF"/>
                </a:solidFill>
              </a:rPr>
              <a:t>Key insight: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Two shifted submatrices of the Hankel data matrix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share the same signal subspace up to a rotation.</a:t>
            </a:r>
          </a:p>
          <a:p>
            <a:pPr algn="l"/>
            <a:r>
              <a:rPr sz="1250" b="0">
                <a:solidFill>
                  <a:srgbClr val="90E0EF"/>
                </a:solidFill>
              </a:rPr>
              <a:t>That rotation matrix encodes the signal frequencies.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50" b="1">
                <a:solidFill>
                  <a:srgbClr val="00B4D8"/>
                </a:solidFill>
              </a:rPr>
              <a:t>Steps: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1. Build Hankel matrix X, take X₁=X[1:M-1,:]</a:t>
            </a:r>
          </a:p>
          <a:p>
            <a:pPr algn="l"/>
            <a:r>
              <a:rPr sz="1250" b="0">
                <a:solidFill>
                  <a:srgbClr val="CCD5E0"/>
                </a:solidFill>
              </a:rPr>
              <a:t>   and X₂=X[2:M,:]  (shifted by 1 sample)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2. SVD of X₁ → signal subspace S₁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3. SVD of X₂ → signal subspace S₂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4. Solve S₁·Φ ≈ S₂  →  Φ = rotational-invariance matrix</a:t>
            </a:r>
          </a:p>
          <a:p>
            <a:pPr algn="l"/>
            <a:r>
              <a:rPr sz="1250" b="0">
                <a:solidFill>
                  <a:srgbClr val="FFD166"/>
                </a:solidFill>
              </a:rPr>
              <a:t>5. ω_est = angle(eig(Φ))  →  convert to Hz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52B788"/>
                </a:solidFill>
              </a:rPr>
              <a:t>Result: p estimated frequencies directly,</a:t>
            </a:r>
          </a:p>
          <a:p>
            <a:pPr algn="l"/>
            <a:r>
              <a:rPr sz="1250" b="0">
                <a:solidFill>
                  <a:srgbClr val="52B788"/>
                </a:solidFill>
              </a:rPr>
              <a:t>no pseudospectrum evaluation.</a:t>
            </a:r>
          </a:p>
          <a:p>
            <a:pPr algn="l"/>
            <a:r>
              <a:rPr sz="1250" b="0">
                <a:solidFill>
                  <a:srgbClr val="90E0EF"/>
                </a:solidFill>
              </a:rPr>
              <a:t>Faster than MUSIC. Sub-bin resolution by construction.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50" b="1">
                <a:solidFill>
                  <a:srgbClr val="F4A261"/>
                </a:solidFill>
              </a:rPr>
              <a:t>evalc wrapper: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evalc('m_esprit(…)') captures + discards verbose</a:t>
            </a:r>
          </a:p>
          <a:p>
            <a:pPr algn="l"/>
            <a:r>
              <a:rPr sz="1250" b="0">
                <a:solidFill>
                  <a:srgbClr val="CCD5E0"/>
                </a:solidFill>
              </a:rPr>
              <a:t>toolbox diagnostics (would flood 1000-window console).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261872"/>
            <a:ext cx="5440680" cy="2286000"/>
          </a:xfrm>
          <a:prstGeom prst="rect">
            <a:avLst/>
          </a:prstGeom>
          <a:solidFill>
            <a:srgbClr val="1E2D3D"/>
          </a:solidFill>
          <a:ln w="1524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1298448"/>
            <a:ext cx="5285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A261"/>
                </a:solidFill>
              </a:rPr>
              <a:t>Output 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1719072"/>
            <a:ext cx="528523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CD5E0"/>
                </a:solidFill>
              </a:rPr>
              <a:t>w_est is complex (finite-precision rounding):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hz = real(w_est) × fs / (2π)  →  discard imaginary part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Filter: hz in [f_low, f_high] → cardiac-band only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50" b="1">
                <a:solidFill>
                  <a:srgbClr val="00B4D8"/>
                </a:solidFill>
              </a:rPr>
              <a:t>Two-frequency disambiguation: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If ≥2 frequencies AND ratio &gt; 1.5: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  → take the HIGHER frequency</a:t>
            </a:r>
          </a:p>
          <a:p>
            <a:pPr algn="l"/>
            <a:r>
              <a:rPr sz="1250" b="0">
                <a:solidFill>
                  <a:srgbClr val="CCD5E0"/>
                </a:solidFill>
              </a:rPr>
              <a:t>  (lower is likely sub-harmonic artifact)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If ratio ≤ 1.5 → same frequency, noise-split: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  → apply standard harmonic correction to hz[0]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3657600"/>
            <a:ext cx="5440680" cy="1417320"/>
          </a:xfrm>
          <a:prstGeom prst="rect">
            <a:avLst/>
          </a:prstGeom>
          <a:solidFill>
            <a:srgbClr val="1E2D3D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3694176"/>
            <a:ext cx="5285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2B788"/>
                </a:solidFill>
              </a:rPr>
              <a:t>ESPRIT vs MUSIC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4096512"/>
            <a:ext cx="528523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ESPRIT:  faster, exact algebraic solution,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         better bias at high SNR,</a:t>
            </a:r>
          </a:p>
          <a:p>
            <a:pPr algn="l"/>
            <a:r>
              <a:rPr sz="1250" b="0">
                <a:solidFill>
                  <a:srgbClr val="CCD5E0"/>
                </a:solidFill>
              </a:rPr>
              <a:t>         harder to handle closely-spaced frequencies.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MUSIC:   slower (grid sweep), sharp pseudospectrum,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         better resolution for closely-spaced freqs,</a:t>
            </a:r>
          </a:p>
          <a:p>
            <a:pPr algn="l"/>
            <a:r>
              <a:rPr sz="1250" b="0">
                <a:solidFill>
                  <a:srgbClr val="CCD5E0"/>
                </a:solidFill>
              </a:rPr>
              <a:t>         more robust to model order misspecification.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5193792"/>
            <a:ext cx="5440680" cy="566928"/>
          </a:xfrm>
          <a:prstGeom prst="rect">
            <a:avLst/>
          </a:prstGeom>
          <a:solidFill>
            <a:srgbClr val="1E2D3D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5239512"/>
            <a:ext cx="5285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D166"/>
                </a:solidFill>
              </a:rPr>
              <a:t>p = max(4, p_mdl) for ESPRIT: BVP typically has cardiac fundamental + 1st harmonic → needs p=4 minimum (2 complex sinusoids = 4 complex poles).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MDL Model Order Selection — Adaptive per Window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5E0"/>
                </a:solidFill>
              </a:rPr>
              <a:t>Wax &amp; Kailath (1985) — information-theoretic model order from eigenvalue structure</a:t>
            </a:r>
          </a:p>
        </p:txBody>
      </p:sp>
      <p:pic>
        <p:nvPicPr>
          <p:cNvPr id="5" name="Picture 4" descr="mdl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61872"/>
            <a:ext cx="5029200" cy="3200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577840" y="1261872"/>
            <a:ext cx="6309360" cy="3200400"/>
          </a:xfrm>
          <a:prstGeom prst="rect">
            <a:avLst/>
          </a:prstGeom>
          <a:solidFill>
            <a:srgbClr val="1E2D3D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87568" y="1298448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</a:rPr>
              <a:t>MDL(k) Formula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87568" y="1719072"/>
            <a:ext cx="6126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D166"/>
                </a:solidFill>
              </a:rPr>
              <a:t>MDL(k) = −N·n_n·log(g_mean/a_mean) + 0.5·k·(2M−k)·log(N)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CCD5E0"/>
                </a:solidFill>
              </a:rPr>
              <a:t>k    = candidate model order (# complex poles)</a:t>
            </a:r>
          </a:p>
          <a:p>
            <a:pPr algn="l"/>
            <a:r>
              <a:rPr sz="1250" b="0">
                <a:solidFill>
                  <a:srgbClr val="CCD5E0"/>
                </a:solidFill>
              </a:rPr>
              <a:t>n_n  = M − k = # noise eigenvalues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g_mean = exp(mean(log(λ_{k+1:M})))  ← geometric mean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a_mean = mean(λ_{k+1:M})            ← arithmetic mean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50" b="1">
                <a:solidFill>
                  <a:srgbClr val="FF6B6B"/>
                </a:solidFill>
              </a:rPr>
              <a:t>Term 1: −N·n_n·log(g/a):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g ≤ a always (AM-GM inequality).</a:t>
            </a:r>
          </a:p>
          <a:p>
            <a:pPr algn="l"/>
            <a:r>
              <a:rPr sz="1250" b="0">
                <a:solidFill>
                  <a:srgbClr val="52B788"/>
                </a:solidFill>
              </a:rPr>
              <a:t>White noise: g≈a → log(g/a)≈0 → term≈0</a:t>
            </a:r>
          </a:p>
          <a:p>
            <a:pPr algn="l"/>
            <a:r>
              <a:rPr sz="1250" b="0">
                <a:solidFill>
                  <a:srgbClr val="FF6B6B"/>
                </a:solidFill>
              </a:rPr>
              <a:t>Coloured noise: g&lt;&lt;a → term large &amp; negative</a:t>
            </a:r>
          </a:p>
          <a:p>
            <a:pPr algn="l"/>
            <a:r>
              <a:rPr sz="1250" b="0">
                <a:solidFill>
                  <a:srgbClr val="CCD5E0"/>
                </a:solidFill>
              </a:rPr>
              <a:t>= penalty for leaving signal energy in noise subspace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50" b="1">
                <a:solidFill>
                  <a:srgbClr val="00B4D8"/>
                </a:solidFill>
              </a:rPr>
              <a:t>Term 2: 0.5·k·(2M-k)·log(N):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Complexity penalty for k free frequency parameters.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Grows with k — prevents overfitting.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4617720"/>
            <a:ext cx="5486400" cy="713232"/>
          </a:xfrm>
          <a:prstGeom prst="rect">
            <a:avLst/>
          </a:prstGeom>
          <a:solidFill>
            <a:srgbClr val="1E2D3D"/>
          </a:solidFill>
          <a:ln w="1524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4663440"/>
            <a:ext cx="52852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A261"/>
                </a:solidFill>
              </a:rPr>
              <a:t>Why step by 2 only (k=0,2,4,6)?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Complex sinusoids come in conjugate pairs for real signals.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Even k = always physically meaningful model orders.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4617720"/>
            <a:ext cx="5989320" cy="713232"/>
          </a:xfrm>
          <a:prstGeom prst="rect">
            <a:avLst/>
          </a:prstGeom>
          <a:solidFill>
            <a:srgbClr val="1E2D3D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8" y="4663440"/>
            <a:ext cx="5788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2B788"/>
                </a:solidFill>
              </a:rPr>
              <a:t>max_k = 6: at most 3 sinusoids in cardiac band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(cardiac fundamental + 2 harmonics).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k&gt;6 = overfitting; ESPRIT needs p=max(4, k_mdl).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5486400"/>
            <a:ext cx="11658600" cy="585216"/>
          </a:xfrm>
          <a:prstGeom prst="rect">
            <a:avLst/>
          </a:prstGeom>
          <a:solidFill>
            <a:srgbClr val="1A0A00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5532120"/>
            <a:ext cx="11475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166"/>
                </a:solidFill>
              </a:rPr>
              <a:t>M_sub = max(win_N/4, 6): ensures N_cols ≈ 3M (stable autocorrelation estimate). Floor at 6 guarantees MDL has at least 7 eigenvalues to work with (enough for max_k=6 steps).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Section B — Sliding-Window Multi-Method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5E0"/>
                </a:solidFill>
              </a:rPr>
              <a:t>[2, 3, 5, 10, 20] seconds  ×  6 estimators  ×  1s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2801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5E0"/>
                </a:solidFill>
              </a:rPr>
              <a:t>Window ↓ / Method 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1261872"/>
            <a:ext cx="1481328" cy="320040"/>
          </a:xfrm>
          <a:prstGeom prst="rect">
            <a:avLst/>
          </a:prstGeom>
          <a:solidFill>
            <a:srgbClr val="1E2D3D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95728" y="1271016"/>
            <a:ext cx="144475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0B4D8"/>
                </a:solidFill>
              </a:rPr>
              <a:t>Welch Ham-tight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3959352" y="1261872"/>
            <a:ext cx="1481328" cy="320040"/>
          </a:xfrm>
          <a:prstGeom prst="rect">
            <a:avLst/>
          </a:prstGeom>
          <a:solidFill>
            <a:srgbClr val="1E2D3D"/>
          </a:solidFill>
          <a:ln w="1524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77639" y="1271016"/>
            <a:ext cx="144475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48CAE4"/>
                </a:solidFill>
              </a:rPr>
              <a:t>Welch Ham-adapt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1264" y="1261872"/>
            <a:ext cx="1481328" cy="320040"/>
          </a:xfrm>
          <a:prstGeom prst="rect">
            <a:avLst/>
          </a:prstGeom>
          <a:solidFill>
            <a:srgbClr val="1E2D3D"/>
          </a:solidFill>
          <a:ln w="1524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9552" y="1271016"/>
            <a:ext cx="144475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4A261"/>
                </a:solidFill>
              </a:rPr>
              <a:t>Welch El-tight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23175" y="1261872"/>
            <a:ext cx="1481328" cy="320040"/>
          </a:xfrm>
          <a:prstGeom prst="rect">
            <a:avLst/>
          </a:prstGeom>
          <a:solidFill>
            <a:srgbClr val="1E2D3D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41464" y="1271016"/>
            <a:ext cx="144475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D166"/>
                </a:solidFill>
              </a:rPr>
              <a:t>Welch El-adapt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05088" y="1261872"/>
            <a:ext cx="1481328" cy="320040"/>
          </a:xfrm>
          <a:prstGeom prst="rect">
            <a:avLst/>
          </a:prstGeom>
          <a:solidFill>
            <a:srgbClr val="1E2D3D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23376" y="1271016"/>
            <a:ext cx="144475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52B788"/>
                </a:solidFill>
              </a:rPr>
              <a:t>MUSIC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87000" y="1261872"/>
            <a:ext cx="1481328" cy="320040"/>
          </a:xfrm>
          <a:prstGeom prst="rect">
            <a:avLst/>
          </a:prstGeom>
          <a:solidFill>
            <a:srgbClr val="1E2D3D"/>
          </a:solidFill>
          <a:ln w="15240">
            <a:solidFill>
              <a:srgbClr val="B5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05288" y="1271016"/>
            <a:ext cx="144475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B583FF"/>
                </a:solidFill>
              </a:rPr>
              <a:t>ESPRIT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1664208"/>
            <a:ext cx="1920240" cy="420624"/>
          </a:xfrm>
          <a:prstGeom prst="rect">
            <a:avLst/>
          </a:prstGeom>
          <a:solidFill>
            <a:srgbClr val="1E2D3D"/>
          </a:solidFill>
          <a:ln w="1524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1700784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2s  (Δf=0.50Hz)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1664208"/>
            <a:ext cx="1481328" cy="420624"/>
          </a:xfrm>
          <a:prstGeom prst="rect">
            <a:avLst/>
          </a:prstGeom>
          <a:solidFill>
            <a:srgbClr val="060622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95728" y="1719072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B4D8"/>
                </a:solidFill>
              </a:rPr>
              <a:t>est_welch()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59352" y="1664208"/>
            <a:ext cx="1481328" cy="420624"/>
          </a:xfrm>
          <a:prstGeom prst="rect">
            <a:avLst/>
          </a:prstGeom>
          <a:solidFill>
            <a:srgbClr val="060622"/>
          </a:solidFill>
          <a:ln w="1524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1719072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8CAE4"/>
                </a:solidFill>
              </a:rPr>
              <a:t>est_welch()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41264" y="1664208"/>
            <a:ext cx="1481328" cy="420624"/>
          </a:xfrm>
          <a:prstGeom prst="rect">
            <a:avLst/>
          </a:prstGeom>
          <a:solidFill>
            <a:srgbClr val="060622"/>
          </a:solidFill>
          <a:ln w="1524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59552" y="1719072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4A261"/>
                </a:solidFill>
              </a:rPr>
              <a:t>est_welch()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23175" y="1664208"/>
            <a:ext cx="1481328" cy="420624"/>
          </a:xfrm>
          <a:prstGeom prst="rect">
            <a:avLst/>
          </a:prstGeom>
          <a:solidFill>
            <a:srgbClr val="060622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41464" y="1719072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D166"/>
                </a:solidFill>
              </a:rPr>
              <a:t>est_welch()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05088" y="1664208"/>
            <a:ext cx="1481328" cy="420624"/>
          </a:xfrm>
          <a:prstGeom prst="rect">
            <a:avLst/>
          </a:prstGeom>
          <a:solidFill>
            <a:srgbClr val="061206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23376" y="1719072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2B788"/>
                </a:solidFill>
              </a:rPr>
              <a:t>est_music()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87000" y="1664208"/>
            <a:ext cx="1481328" cy="420624"/>
          </a:xfrm>
          <a:prstGeom prst="rect">
            <a:avLst/>
          </a:prstGeom>
          <a:solidFill>
            <a:srgbClr val="061206"/>
          </a:solidFill>
          <a:ln w="15240">
            <a:solidFill>
              <a:srgbClr val="B5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05288" y="1719072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583FF"/>
                </a:solidFill>
              </a:rPr>
              <a:t>est_esprit()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" y="2139696"/>
            <a:ext cx="1920240" cy="420624"/>
          </a:xfrm>
          <a:prstGeom prst="rect">
            <a:avLst/>
          </a:prstGeom>
          <a:solidFill>
            <a:srgbClr val="1E2D3D"/>
          </a:solidFill>
          <a:ln w="1524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2176272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3s  (Δf=0.33Hz)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0" y="2139696"/>
            <a:ext cx="1481328" cy="420624"/>
          </a:xfrm>
          <a:prstGeom prst="rect">
            <a:avLst/>
          </a:prstGeom>
          <a:solidFill>
            <a:srgbClr val="060622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95728" y="2194560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B4D8"/>
                </a:solidFill>
              </a:rPr>
              <a:t>est_welch()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59352" y="2139696"/>
            <a:ext cx="1481328" cy="420624"/>
          </a:xfrm>
          <a:prstGeom prst="rect">
            <a:avLst/>
          </a:prstGeom>
          <a:solidFill>
            <a:srgbClr val="060622"/>
          </a:solidFill>
          <a:ln w="1524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77639" y="2194560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8CAE4"/>
                </a:solidFill>
              </a:rPr>
              <a:t>est_welch()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41264" y="2139696"/>
            <a:ext cx="1481328" cy="420624"/>
          </a:xfrm>
          <a:prstGeom prst="rect">
            <a:avLst/>
          </a:prstGeom>
          <a:solidFill>
            <a:srgbClr val="060622"/>
          </a:solidFill>
          <a:ln w="1524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59552" y="2194560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4A261"/>
                </a:solidFill>
              </a:rPr>
              <a:t>est_welch()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23175" y="2139696"/>
            <a:ext cx="1481328" cy="420624"/>
          </a:xfrm>
          <a:prstGeom prst="rect">
            <a:avLst/>
          </a:prstGeom>
          <a:solidFill>
            <a:srgbClr val="060622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41464" y="2194560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D166"/>
                </a:solidFill>
              </a:rPr>
              <a:t>est_welch()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05088" y="2139696"/>
            <a:ext cx="1481328" cy="420624"/>
          </a:xfrm>
          <a:prstGeom prst="rect">
            <a:avLst/>
          </a:prstGeom>
          <a:solidFill>
            <a:srgbClr val="061206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23376" y="2194560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2B788"/>
                </a:solidFill>
              </a:rPr>
              <a:t>est_music()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287000" y="2139696"/>
            <a:ext cx="1481328" cy="420624"/>
          </a:xfrm>
          <a:prstGeom prst="rect">
            <a:avLst/>
          </a:prstGeom>
          <a:solidFill>
            <a:srgbClr val="061206"/>
          </a:solidFill>
          <a:ln w="15240">
            <a:solidFill>
              <a:srgbClr val="B5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05288" y="2194560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583FF"/>
                </a:solidFill>
              </a:rPr>
              <a:t>est_esprit()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" y="2615184"/>
            <a:ext cx="1920240" cy="420624"/>
          </a:xfrm>
          <a:prstGeom prst="rect">
            <a:avLst/>
          </a:prstGeom>
          <a:solidFill>
            <a:srgbClr val="1E2D3D"/>
          </a:solidFill>
          <a:ln w="1524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265176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5s  (Δf=0.20Hz)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77440" y="2615184"/>
            <a:ext cx="1481328" cy="420624"/>
          </a:xfrm>
          <a:prstGeom prst="rect">
            <a:avLst/>
          </a:prstGeom>
          <a:solidFill>
            <a:srgbClr val="060622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95728" y="2670048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B4D8"/>
                </a:solidFill>
              </a:rPr>
              <a:t>est_welch()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59352" y="2615184"/>
            <a:ext cx="1481328" cy="420624"/>
          </a:xfrm>
          <a:prstGeom prst="rect">
            <a:avLst/>
          </a:prstGeom>
          <a:solidFill>
            <a:srgbClr val="060622"/>
          </a:solidFill>
          <a:ln w="1524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77639" y="2670048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8CAE4"/>
                </a:solidFill>
              </a:rPr>
              <a:t>est_welch()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41264" y="2615184"/>
            <a:ext cx="1481328" cy="420624"/>
          </a:xfrm>
          <a:prstGeom prst="rect">
            <a:avLst/>
          </a:prstGeom>
          <a:solidFill>
            <a:srgbClr val="060622"/>
          </a:solidFill>
          <a:ln w="1524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59552" y="2670048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4A261"/>
                </a:solidFill>
              </a:rPr>
              <a:t>est_welch()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23175" y="2615184"/>
            <a:ext cx="1481328" cy="420624"/>
          </a:xfrm>
          <a:prstGeom prst="rect">
            <a:avLst/>
          </a:prstGeom>
          <a:solidFill>
            <a:srgbClr val="060622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41464" y="2670048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D166"/>
                </a:solidFill>
              </a:rPr>
              <a:t>est_welch()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705088" y="2615184"/>
            <a:ext cx="1481328" cy="420624"/>
          </a:xfrm>
          <a:prstGeom prst="rect">
            <a:avLst/>
          </a:prstGeom>
          <a:solidFill>
            <a:srgbClr val="061206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723376" y="2670048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2B788"/>
                </a:solidFill>
              </a:rPr>
              <a:t>est_music()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287000" y="2615184"/>
            <a:ext cx="1481328" cy="420624"/>
          </a:xfrm>
          <a:prstGeom prst="rect">
            <a:avLst/>
          </a:prstGeom>
          <a:solidFill>
            <a:srgbClr val="061206"/>
          </a:solidFill>
          <a:ln w="15240">
            <a:solidFill>
              <a:srgbClr val="B5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305288" y="2670048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583FF"/>
                </a:solidFill>
              </a:rPr>
              <a:t>est_esprit()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47472" y="3090672"/>
            <a:ext cx="1920240" cy="420624"/>
          </a:xfrm>
          <a:prstGeom prst="rect">
            <a:avLst/>
          </a:prstGeom>
          <a:solidFill>
            <a:srgbClr val="1E2D3D"/>
          </a:solidFill>
          <a:ln w="1524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" y="3127248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10s (Δf=0.10Hz)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377440" y="3090672"/>
            <a:ext cx="1481328" cy="420624"/>
          </a:xfrm>
          <a:prstGeom prst="rect">
            <a:avLst/>
          </a:prstGeom>
          <a:solidFill>
            <a:srgbClr val="060622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395728" y="3145536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B4D8"/>
                </a:solidFill>
              </a:rPr>
              <a:t>est_welch()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959352" y="3090672"/>
            <a:ext cx="1481328" cy="420624"/>
          </a:xfrm>
          <a:prstGeom prst="rect">
            <a:avLst/>
          </a:prstGeom>
          <a:solidFill>
            <a:srgbClr val="060622"/>
          </a:solidFill>
          <a:ln w="1524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77639" y="3145536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8CAE4"/>
                </a:solidFill>
              </a:rPr>
              <a:t>est_welch()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541264" y="3090672"/>
            <a:ext cx="1481328" cy="420624"/>
          </a:xfrm>
          <a:prstGeom prst="rect">
            <a:avLst/>
          </a:prstGeom>
          <a:solidFill>
            <a:srgbClr val="060622"/>
          </a:solidFill>
          <a:ln w="1524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59552" y="3145536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4A261"/>
                </a:solidFill>
              </a:rPr>
              <a:t>est_welch()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123175" y="3090672"/>
            <a:ext cx="1481328" cy="420624"/>
          </a:xfrm>
          <a:prstGeom prst="rect">
            <a:avLst/>
          </a:prstGeom>
          <a:solidFill>
            <a:srgbClr val="060622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141464" y="3145536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D166"/>
                </a:solidFill>
              </a:rPr>
              <a:t>est_welch()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705088" y="3090672"/>
            <a:ext cx="1481328" cy="420624"/>
          </a:xfrm>
          <a:prstGeom prst="rect">
            <a:avLst/>
          </a:prstGeom>
          <a:solidFill>
            <a:srgbClr val="061206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723376" y="3145536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2B788"/>
                </a:solidFill>
              </a:rPr>
              <a:t>est_music()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287000" y="3090672"/>
            <a:ext cx="1481328" cy="420624"/>
          </a:xfrm>
          <a:prstGeom prst="rect">
            <a:avLst/>
          </a:prstGeom>
          <a:solidFill>
            <a:srgbClr val="061206"/>
          </a:solidFill>
          <a:ln w="15240">
            <a:solidFill>
              <a:srgbClr val="B5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305288" y="3145536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583FF"/>
                </a:solidFill>
              </a:rPr>
              <a:t>est_esprit()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47472" y="3566160"/>
            <a:ext cx="1920240" cy="420624"/>
          </a:xfrm>
          <a:prstGeom prst="rect">
            <a:avLst/>
          </a:prstGeom>
          <a:solidFill>
            <a:srgbClr val="1E2D3D"/>
          </a:solidFill>
          <a:ln w="1524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1480" y="3602736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20s (Δf=0.05Hz)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377440" y="3566160"/>
            <a:ext cx="1481328" cy="420624"/>
          </a:xfrm>
          <a:prstGeom prst="rect">
            <a:avLst/>
          </a:prstGeom>
          <a:solidFill>
            <a:srgbClr val="060622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395728" y="3621024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B4D8"/>
                </a:solidFill>
              </a:rPr>
              <a:t>est_welch()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959352" y="3566160"/>
            <a:ext cx="1481328" cy="420624"/>
          </a:xfrm>
          <a:prstGeom prst="rect">
            <a:avLst/>
          </a:prstGeom>
          <a:solidFill>
            <a:srgbClr val="060622"/>
          </a:solidFill>
          <a:ln w="1524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977639" y="3621024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8CAE4"/>
                </a:solidFill>
              </a:rPr>
              <a:t>est_welch()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541264" y="3566160"/>
            <a:ext cx="1481328" cy="420624"/>
          </a:xfrm>
          <a:prstGeom prst="rect">
            <a:avLst/>
          </a:prstGeom>
          <a:solidFill>
            <a:srgbClr val="060622"/>
          </a:solidFill>
          <a:ln w="1524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559552" y="3621024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4A261"/>
                </a:solidFill>
              </a:rPr>
              <a:t>est_welch()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123175" y="3566160"/>
            <a:ext cx="1481328" cy="420624"/>
          </a:xfrm>
          <a:prstGeom prst="rect">
            <a:avLst/>
          </a:prstGeom>
          <a:solidFill>
            <a:srgbClr val="060622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41464" y="3621024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D166"/>
                </a:solidFill>
              </a:rPr>
              <a:t>est_welch()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705088" y="3566160"/>
            <a:ext cx="1481328" cy="420624"/>
          </a:xfrm>
          <a:prstGeom prst="rect">
            <a:avLst/>
          </a:prstGeom>
          <a:solidFill>
            <a:srgbClr val="061206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723376" y="3621024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2B788"/>
                </a:solidFill>
              </a:rPr>
              <a:t>est_music()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287000" y="3566160"/>
            <a:ext cx="1481328" cy="420624"/>
          </a:xfrm>
          <a:prstGeom prst="rect">
            <a:avLst/>
          </a:prstGeom>
          <a:solidFill>
            <a:srgbClr val="061206"/>
          </a:solidFill>
          <a:ln w="15240">
            <a:solidFill>
              <a:srgbClr val="B5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305288" y="3621024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583FF"/>
                </a:solidFill>
              </a:rPr>
              <a:t>est_esprit()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20040" y="4187952"/>
            <a:ext cx="5623560" cy="1207008"/>
          </a:xfrm>
          <a:prstGeom prst="rect">
            <a:avLst/>
          </a:prstGeom>
          <a:solidFill>
            <a:srgbClr val="1E2D3D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29768" y="4233672"/>
            <a:ext cx="54223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00B4D8"/>
                </a:solidFill>
              </a:rPr>
              <a:t>Per-window computation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win_N = win_secs × fs  (frames in window)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M_sub = max(win_N/4, 6)  (Hankel dim)</a:t>
            </a:r>
          </a:p>
          <a:p>
            <a:pPr algn="l"/>
            <a:r>
              <a:rPr sz="1250" b="0">
                <a:solidFill>
                  <a:srgbClr val="CCD5E0"/>
                </a:solidFill>
              </a:rPr>
              <a:t>step  = round(fs, 1) = 1 second step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starts = 1 : step : T − win_N + 1</a:t>
            </a:r>
          </a:p>
          <a:p>
            <a:pPr algn="l"/>
            <a:r>
              <a:rPr sz="1250" b="0">
                <a:solidFill>
                  <a:srgbClr val="FFD166"/>
                </a:solidFill>
              </a:rPr>
              <a:t>p_mdl  = mdl_order_local(seg, M_sub, 6)  ← adaptive per window</a:t>
            </a:r>
          </a:p>
          <a:p>
            <a:pPr algn="l"/>
            <a:r>
              <a:rPr sz="1250" b="0">
                <a:solidFill>
                  <a:srgbClr val="FFD166"/>
                </a:solidFill>
              </a:rPr>
              <a:t>p_esprit = max(4, p_mdl)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080760" y="4187952"/>
            <a:ext cx="5852160" cy="1207008"/>
          </a:xfrm>
          <a:prstGeom prst="rect">
            <a:avLst/>
          </a:prstGeom>
          <a:solidFill>
            <a:srgbClr val="1E2D3D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90488" y="4233672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52B788"/>
                </a:solidFill>
              </a:rPr>
              <a:t>Per-window metrics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bpm_gt_win = interp1(gt_time, gt_hr, t_win_centre)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err = bpm_est − bpm_gt_win  (per method)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MAE  = mean(|err|, 'omitnan')</a:t>
            </a:r>
          </a:p>
          <a:p>
            <a:pPr algn="l"/>
            <a:r>
              <a:rPr sz="1250" b="0">
                <a:solidFill>
                  <a:srgbClr val="FFFFFF"/>
                </a:solidFill>
              </a:rPr>
              <a:t>Acc% = 100 × mean(|err| ≤ ACC_THR=10, 'omitnan')</a:t>
            </a:r>
          </a:p>
          <a:p>
            <a:pPr algn="l"/>
            <a:r>
              <a:rPr sz="1250" b="0">
                <a:solidFill>
                  <a:srgbClr val="FFD166"/>
                </a:solidFill>
              </a:rPr>
              <a:t>HQ-MAE = MAE over windows where CONF ≥ 0.80 only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20040" y="5550408"/>
            <a:ext cx="11658600" cy="594360"/>
          </a:xfrm>
          <a:prstGeom prst="rect">
            <a:avLst/>
          </a:prstGeom>
          <a:solidFill>
            <a:srgbClr val="120012"/>
          </a:solidFill>
          <a:ln w="15240">
            <a:solidFill>
              <a:srgbClr val="FF5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29768" y="5596128"/>
            <a:ext cx="114757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5FD2"/>
                </a:solidFill>
              </a:rPr>
              <a:t>MUSIC and ESPRIT always run on S_primary (BVP_ham_tight) — the same signal as Welch Ham-tight. This isolates the effect of the frequency estimator method with the filter signal held constant.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Per-Window Confidence Scoring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5E0"/>
                </a:solidFill>
              </a:rPr>
              <a:t>Four factors → composite CONF → HQ gate for fair method comparison</a:t>
            </a:r>
          </a:p>
        </p:txBody>
      </p:sp>
      <p:pic>
        <p:nvPicPr>
          <p:cNvPr id="5" name="Picture 4" descr="conf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61872"/>
            <a:ext cx="5943600" cy="3337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92240" y="1261872"/>
            <a:ext cx="5440680" cy="3337560"/>
          </a:xfrm>
          <a:prstGeom prst="rect">
            <a:avLst/>
          </a:prstGeom>
          <a:solidFill>
            <a:srgbClr val="1E2D3D"/>
          </a:solidFill>
          <a:ln w="15240">
            <a:solidFill>
              <a:srgbClr val="FF5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1968" y="1298448"/>
            <a:ext cx="5285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FD2"/>
                </a:solidFill>
              </a:rPr>
              <a:t>win_quality() — 4 Factors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1968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SNR (×0.40)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2084831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P_cardiac / mean(P_in_band at ≥0.5Hz from peak)
Direct measure. Low SNR → BPM unreliable.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4323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2B788"/>
                </a:solidFill>
              </a:rPr>
              <a:t>det_rate (×0.30)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2798063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mean(face_detected per frame)
Stale bbox → misaligned ROI → corrupted signal.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314553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skin_mean (×0.15)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3511296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mean(skin_pixel_count per frame)
&lt;300px → face occluded / detection failing.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38587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</a:rPr>
              <a:t>lum_cv (×0.15)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4224527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std(luminance)/mean(luminance) over window
High → camera AGC active → mult. noise.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773168"/>
            <a:ext cx="5943600" cy="987552"/>
          </a:xfrm>
          <a:prstGeom prst="rect">
            <a:avLst/>
          </a:prstGeom>
          <a:solidFill>
            <a:srgbClr val="1E2D3D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809744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Composite &amp; HQ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93792"/>
            <a:ext cx="57607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CONF = 0.40·SNR_s + 0.30·det_s + 0.15·skin_s + 0.15·lum_s
HQ if CONF ≥ 0.80   ·   HQ-MAE computed when Σ(HQ) ≥ 5 windows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4773168"/>
            <a:ext cx="5440680" cy="987552"/>
          </a:xfrm>
          <a:prstGeom prst="rect">
            <a:avLst/>
          </a:prstGeom>
          <a:solidFill>
            <a:srgbClr val="1E2D3D"/>
          </a:solidFill>
          <a:ln w="1524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4809744"/>
            <a:ext cx="5285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E0EF"/>
                </a:solidFill>
              </a:rPr>
              <a:t>Why report both overall &amp; HQ MAE?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5193792"/>
            <a:ext cx="52852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HQ MAE &lt;&lt; overall MAE → estimator is accurate, held back by bad windows.
HQ MAE ≈ overall MAE → bad windows don't affect this estimator (or all windows are bad).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897880"/>
            <a:ext cx="11658600" cy="566928"/>
          </a:xfrm>
          <a:prstGeom prst="rect">
            <a:avLst/>
          </a:prstGeom>
          <a:solidFill>
            <a:srgbClr val="001022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5943600"/>
            <a:ext cx="11475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CONF_THR=0.80 requires SNR≥6dB when all other factors are perfect. With W=[0.40,0.30,0.15,0.15]: min SNR_score = (0.80−0.30−0.15−0.15)/0.40 = 0.50 → snr_db = 0.50×12 = 6dB. This matches the SNR_THR=6dB threshold.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BPM Tracking Results — 2s vs 10s Window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5E0"/>
                </a:solidFill>
              </a:rPr>
              <a:t>Real pipeline output: Welch fails at 2s · MUSIC/ESPRIT survive · 10s all methods converge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6187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4A261"/>
                </a:solidFill>
              </a:rPr>
              <a:t>2-second window</a:t>
            </a:r>
          </a:p>
        </p:txBody>
      </p:sp>
      <p:pic>
        <p:nvPicPr>
          <p:cNvPr id="6" name="Picture 5" descr="BPM Track _ 2s 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64208"/>
            <a:ext cx="5943600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126187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52B788"/>
                </a:solidFill>
              </a:rPr>
              <a:t>10-second window</a:t>
            </a:r>
          </a:p>
        </p:txBody>
      </p:sp>
      <p:pic>
        <p:nvPicPr>
          <p:cNvPr id="8" name="Picture 7" descr="BPM Track _ 10s wind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64208"/>
            <a:ext cx="5577840" cy="39319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20040" y="5742432"/>
            <a:ext cx="5943600" cy="621792"/>
          </a:xfrm>
          <a:prstGeom prst="rect">
            <a:avLst/>
          </a:prstGeom>
          <a:solidFill>
            <a:srgbClr val="1A0800"/>
          </a:solidFill>
          <a:ln w="1524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5788152"/>
            <a:ext cx="574243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4A261"/>
                </a:solidFill>
              </a:rPr>
              <a:t>2s: Welch (Δf=0.5Hz=30BPM) scattered. MUSIC/ESPRIT show tighter tracking in HQ windows (cyan fill). Coloured noise visible as error spikes in low-confidence periods.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5742432"/>
            <a:ext cx="5577840" cy="621792"/>
          </a:xfrm>
          <a:prstGeom prst="rect">
            <a:avLst/>
          </a:prstGeom>
          <a:solidFill>
            <a:srgbClr val="001400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5788152"/>
            <a:ext cx="53766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2B788"/>
                </a:solidFill>
              </a:rPr>
              <a:t>10s: all methods (Welch, MUSIC, ESPRIT) track GT closely. Welch @10s is the validated baseline. MUSIC/ESPRIT advantage is their ability to match this at shorter windows.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BPM Tracking — 5s and 20s Windows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5E0"/>
                </a:solidFill>
              </a:rPr>
              <a:t>5s: transition region · 20s: maximum accuracy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6187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B4D8"/>
                </a:solidFill>
              </a:rPr>
              <a:t>5-second window</a:t>
            </a:r>
          </a:p>
        </p:txBody>
      </p:sp>
      <p:pic>
        <p:nvPicPr>
          <p:cNvPr id="6" name="Picture 5" descr="BPM Track _ 5s 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64208"/>
            <a:ext cx="5943600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126187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B583FF"/>
                </a:solidFill>
              </a:rPr>
              <a:t>20-second window</a:t>
            </a:r>
          </a:p>
        </p:txBody>
      </p:sp>
      <p:pic>
        <p:nvPicPr>
          <p:cNvPr id="8" name="Picture 7" descr="BPM Track _ 20s wind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64208"/>
            <a:ext cx="5577840" cy="39319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20040" y="5742432"/>
            <a:ext cx="5943600" cy="621792"/>
          </a:xfrm>
          <a:prstGeom prst="rect">
            <a:avLst/>
          </a:prstGeom>
          <a:solidFill>
            <a:srgbClr val="000A1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5788152"/>
            <a:ext cx="574243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B4D8"/>
                </a:solidFill>
              </a:rPr>
              <a:t>5s: Welch resolution Δf=0.20Hz=12BPM — approaching usable. MUSIC/ESPRIT advantage most visible here: sub-bin resolution in the transition zone. Key research finding zone.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5742432"/>
            <a:ext cx="5577840" cy="621792"/>
          </a:xfrm>
          <a:prstGeom prst="rect">
            <a:avLst/>
          </a:prstGeom>
          <a:solidFill>
            <a:srgbClr val="120022"/>
          </a:solidFill>
          <a:ln w="15240">
            <a:solidFill>
              <a:srgbClr val="B5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5788152"/>
            <a:ext cx="53766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583FF"/>
                </a:solidFill>
              </a:rPr>
              <a:t>20s: highest accuracy for all methods (Δf=0.05Hz=3BPM for Welch). Reference condition. MUSIC/ESPRIT at 20s usually match — confirming correct implementation.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Parameter Rationale &amp; Research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455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5E0"/>
                </a:solidFill>
              </a:rPr>
              <a:t>Every threshold is a reasoned engineering decision — and what we learn from the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5852160" cy="4892040"/>
          </a:xfrm>
          <a:prstGeom prst="rect">
            <a:avLst/>
          </a:prstGeom>
          <a:solidFill>
            <a:srgbClr val="1E2D3D"/>
          </a:solidFill>
          <a:ln w="1524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A261"/>
                </a:solidFill>
              </a:rPr>
              <a:t>Key Parameters — Why These Values?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737360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[2,3,5,10,20]s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764792"/>
            <a:ext cx="4023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10s = Welch baseline. 2-3s tests MUSIC/ESPRIT theoretical limit. 5s = transition zone. 20s = reference.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267712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2B788"/>
                </a:solidFill>
              </a:rPr>
              <a:t>M_sub = win_N/4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295144"/>
            <a:ext cx="4023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Ensures N_cols≈3M for stable autocorr. estimate. min=6 so MDL has 7+ eigenvalues.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798063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583FF"/>
                </a:solidFill>
              </a:rPr>
              <a:t>max_k =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825496"/>
            <a:ext cx="4023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≤3 real sinusoids in cardiac band (fundamental+2 harmonics). k&gt;6 = overfitting.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3328415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A261"/>
                </a:solidFill>
              </a:rPr>
              <a:t>5% harmonic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355848"/>
            <a:ext cx="4023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More aggressive than Stage 2's 30%. Short windows: spectral resolution too low to distinguish sub-harmonics clearly.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3858768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±0.2Hz MUSIC nbr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886200"/>
            <a:ext cx="4023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MUSIC peak can shift ±0.2Hz from true freq at short windows. Neighbourhood search prevents missing harmonic.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4389120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</a:rPr>
              <a:t>ESPRIT ratio &gt;1.5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4416552"/>
            <a:ext cx="4023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Two freqs &lt;50% apart = noise-split (same signal). &gt;50% apart = truly distinct (cardiac + harmonic).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4919471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5FD2"/>
                </a:solidFill>
              </a:rPr>
              <a:t>CONF_THR = 0.80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946903"/>
            <a:ext cx="4023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~top 50-60% of windows qualify as HQ. Calibrated so HQ-MAE is meaningful but not cherry-picked.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5449823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E0EF"/>
                </a:solidFill>
              </a:rPr>
              <a:t>ACC_THR = ±10BPM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477255"/>
            <a:ext cx="4023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FDA/clinical standard for consumer HR monitors. De facto rPPG literature comparison threshold.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261872"/>
            <a:ext cx="5486400" cy="4892040"/>
          </a:xfrm>
          <a:prstGeom prst="rect">
            <a:avLst/>
          </a:prstGeom>
          <a:solidFill>
            <a:srgbClr val="1E2D3D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12984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2B788"/>
                </a:solidFill>
              </a:rPr>
              <a:t>Research Findings (Prof. Chen Roadmap)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1719072"/>
            <a:ext cx="5394960" cy="777240"/>
          </a:xfrm>
          <a:prstGeom prst="rect">
            <a:avLst/>
          </a:prstGeom>
          <a:solidFill>
            <a:srgbClr val="0A140A"/>
          </a:solidFill>
          <a:ln w="1524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174650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4A261"/>
                </a:solidFill>
              </a:rPr>
              <a:t>Short windows (2-3s):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5632" y="1746504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MUSIC/ESPRIT measurably better than Welch in HQ windows. Welch at 2s (Δf=30BPM) is essentially non-functional.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2587752"/>
            <a:ext cx="5394960" cy="777240"/>
          </a:xfrm>
          <a:prstGeom prst="rect">
            <a:avLst/>
          </a:prstGeom>
          <a:solidFill>
            <a:srgbClr val="0A140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261518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B4D8"/>
                </a:solidFill>
              </a:rPr>
              <a:t>Medium windows (5s):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85632" y="2615184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MUSIC/ESPRIT show clearest advantage. Welch at 5s (Δf=12BPM) is marginal. Subspace methods give reliable estimates in HQ windows.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3456432"/>
            <a:ext cx="5394960" cy="777240"/>
          </a:xfrm>
          <a:prstGeom prst="rect">
            <a:avLst/>
          </a:prstGeom>
          <a:solidFill>
            <a:srgbClr val="0A140A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3483863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52B788"/>
                </a:solidFill>
              </a:rPr>
              <a:t>Long windows (10-20s):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85632" y="3483863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All methods converge. Welch at 10s is reliable baseline. MUSIC/ESPRIT match it — confirms correct implementation.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4325112"/>
            <a:ext cx="5394960" cy="777240"/>
          </a:xfrm>
          <a:prstGeom prst="rect">
            <a:avLst/>
          </a:prstGeom>
          <a:solidFill>
            <a:srgbClr val="0A140A"/>
          </a:solidFill>
          <a:ln w="1524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43525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6B6B"/>
                </a:solidFill>
              </a:rPr>
              <a:t>Coloured noise impact: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85632" y="4352544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When Ljung-Box confirms coloured noise, MUSIC/ESPRIT accuracy degrades. White noise assumption is violated — theoretical guarantees weakened.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5193792"/>
            <a:ext cx="5394960" cy="777240"/>
          </a:xfrm>
          <a:prstGeom prst="rect">
            <a:avLst/>
          </a:prstGeom>
          <a:solidFill>
            <a:srgbClr val="0A140A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522122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D166"/>
                </a:solidFill>
              </a:rPr>
              <a:t>Next step (DocBOT):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85632" y="5221224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If MUSIC/ESPRIT hold at 5s on more recordings, replace Welch in the real-time BPM display. Reduce latency from 10s to 5s.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