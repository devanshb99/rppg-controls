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This is Stage 1 of the rPPG pipeline — the acquisition and signal extraction layer.</a:t>
            </a:r>
          </a:p>
          <a:p>
            <a:r>
              <a:rPr lang="en-US" dirty="0"/>
              <a:t>It takes raw video as input and produces a clean per-frame RGB time series for downstream heart-rate estimation.</a:t>
            </a:r>
          </a:p>
          <a:p>
            <a:r>
              <a:rPr lang="en-US" dirty="0"/>
              <a:t>The pipeline combines deep learning (BiSeNet SegFormer), geometric face mesh (MediaPipe 468-point),</a:t>
            </a:r>
          </a:p>
          <a:p>
            <a:r>
              <a:rPr lang="en-US" dirty="0"/>
              <a:t>classical colour-space rules (YCbCr, Kovac RGB, HSV), Gaussian mixture models, and texture analysis (LBP/SVC).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Blood pulsing through sub-dermal vessels changes the amount of green light absorbed by the skin.</a:t>
            </a:r>
          </a:p>
          <a:p>
            <a:r>
              <a:rPr lang="en-US" dirty="0"/>
              <a:t>This creates a tiny oscillation of about 1-2% in the green channel's reflectance.</a:t>
            </a:r>
          </a:p>
          <a:p>
            <a:r>
              <a:rPr lang="en-US" dirty="0"/>
              <a:t>The human heart rate spans 40-210 BPM = 0.67 to 3.5 Hz — that is the cardiac band we filter to.</a:t>
            </a:r>
          </a:p>
          <a:p>
            <a:r>
              <a:rPr lang="en-US" dirty="0"/>
              <a:t>The main challenge: this 1-2% signal is buried under noise from motion, lighting changes, hair pixels, and camera AGC.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Walk through the two-row flow:</a:t>
            </a:r>
          </a:p>
          <a:p>
            <a:r>
              <a:rPr lang="en-US" dirty="0"/>
              <a:t>Row 1 (left→right): Video frames → MediaPipe gives 468 face landmarks → BiSeNet deep-learning skin classifier runs every 10 frames → three colour-space rules vote on each pixel → GMM clustering confirms skin in Cb-Cr space.</a:t>
            </a:r>
          </a:p>
          <a:p>
            <a:r>
              <a:rPr lang="en-US" dirty="0"/>
              <a:t>Row 2 (right→left): Texture analysis rejects hair → all evidence combined into final mask → luminance-normalised, probability-weighted R/G/B extraction → CHROM projection → 4 IIR filters plus spatial PCA.</a:t>
            </a:r>
          </a:p>
          <a:p>
            <a:r>
              <a:rPr lang="en-US" dirty="0"/>
              <a:t>Key performance notes: BiSeNet is the expensive step; caching and thread parallelism keep it under real-time budget.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MediaPipe's FaceLandmarker outputs 468 3D landmarks normalised to [0,1]. We multiply by frame W and H to get pixel coordinates.</a:t>
            </a:r>
          </a:p>
          <a:p>
            <a:r>
              <a:rPr lang="en-US" dirty="0"/>
              <a:t>VIDEO mode is critical — it keeps the Kalman filter tracker alive across frames. Without it we'd pay the full detection cost every frame.</a:t>
            </a:r>
          </a:p>
          <a:p>
            <a:r>
              <a:rPr lang="en-US" dirty="0"/>
              <a:t>The camera mirror check: if landmark 33 (left eye outer corner) has smaller x than landmark 263 (right eye outer corner), the camera is NOT mirrored. If reversed, left/right ROI indices are swapped.</a:t>
            </a:r>
          </a:p>
          <a:p>
            <a:r>
              <a:rPr lang="en-US" dirty="0"/>
              <a:t>The 4-pixel gate prevents wasted polygon recomputation from Kalman filter jitter — sub-4px landmark motion doesn't meaningfully change the ROI shape.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SegFormer is a mix-transformer encoder with a lightweight MLP decoder. It was fine-tuned on CelebAMask-HQ for 19-class face segmentation. We only use class 1 (skin).</a:t>
            </a:r>
          </a:p>
          <a:p>
            <a:r>
              <a:rPr lang="en-US" dirty="0"/>
              <a:t>Key innovation: we return BOTH a hard mask AND a soft probability map. The hard mask drives Boolean operations; the soft map drives weighted averaging.</a:t>
            </a:r>
          </a:p>
          <a:p>
            <a:r>
              <a:rPr lang="en-US" dirty="0"/>
              <a:t>The bilinear upsampling (not nearest-neighbour) produces smooth probability maps — important for the EMA smoothing that follows.</a:t>
            </a:r>
          </a:p>
          <a:p>
            <a:r>
              <a:rPr lang="en-US" dirty="0"/>
              <a:t>The EMA with alpha=0.03 means the smoothed probability map updates at ~3% of the new frame's probability each frame. At 30fps, this gives a 1.1-second time constant — enough to smooth the 10-frame gaps without introducing significant lag.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Three completely independent methods are used, each operating in a different colour space.</a:t>
            </a:r>
          </a:p>
          <a:p>
            <a:r>
              <a:rPr lang="en-US" dirty="0"/>
              <a:t>Method 1 (YCbCr): fitted adaptively from BiSeNet-confirmed seed pixels. The mean±2.5σ window adapts to this subject under this lighting. The hardcoded limits are physical constraints — the absolute extremes of valid human skin chrominance from published literature.</a:t>
            </a:r>
          </a:p>
          <a:p>
            <a:r>
              <a:rPr lang="en-US" dirty="0"/>
              <a:t>Method 2 (Kovac): deterministic, no data-fitting. Works on the physics of how all skin tones interact with broadband light.</a:t>
            </a:r>
          </a:p>
          <a:p>
            <a:r>
              <a:rPr lang="en-US" dirty="0"/>
              <a:t>Method 3 (HSV): critically uses circular statistics for hue — a plain mean on hue angles near 0°/360° would give completely wrong results.</a:t>
            </a:r>
          </a:p>
          <a:p>
            <a:r>
              <a:rPr lang="en-US" dirty="0"/>
              <a:t>The left-right split handles asymmetric lighting — if there is a window to the subject's left, the left and right cheeks will have different colour distributions.</a:t>
            </a:r>
          </a:p>
          <a:p>
            <a:r>
              <a:rPr lang="en-US" dirty="0"/>
              <a:t>Two-of-three majority vote prevents any single noisy method from accepting or rejecting a pixel. The shadow recovery override is an exception — it specifically catches dark skin under shadow that all three methods miss.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All four texture maps are computed on the illumination-normalised image — the grayscale is divided by a local Gaussian blur, removing slow brightness ramps so LBP sees only fine texture.</a:t>
            </a:r>
          </a:p>
          <a:p>
            <a:r>
              <a:rPr lang="en-US" dirty="0"/>
              <a:t>LBP transition count: the precomputed 256-entry lookup table converts any 8-bit LBP code to its circular transition count in one array indexing operation — extremely fast.</a:t>
            </a:r>
          </a:p>
          <a:p>
            <a:r>
              <a:rPr lang="en-US" dirty="0"/>
              <a:t>Gradient coherence: averaging unit vectors (not raw gradients) means the result represents directional alignment, not edge strength. Hair fibres create strong oriented edges aligned in one direction — high coherence.</a:t>
            </a:r>
          </a:p>
          <a:p>
            <a:r>
              <a:rPr lang="en-US" dirty="0"/>
              <a:t>SVC: coefficient of variation in 9x9 windows — normalised by local mean so dark and bright regions are comparable.</a:t>
            </a:r>
          </a:p>
          <a:p>
            <a:r>
              <a:rPr lang="en-US" dirty="0"/>
              <a:t>The dual-evidence requirement is the key anti-false-positive design: a noisy skin pixel might have high LBP but low coherence and SVC. Hair will have high LBP AND high coherence OR SVC.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ROI polygons are built from specific MediaPipe landmark indices — not bounding boxes.</a:t>
            </a:r>
          </a:p>
          <a:p>
            <a:r>
              <a:rPr lang="en-US" dirty="0"/>
              <a:t>Forehead: 18 vertices are enough to trace the hairline boundary faithfully. The polygon deliberately stays above the eyebrow landmarks so brow hair is outside the ROI before even running hair rejection.</a:t>
            </a:r>
          </a:p>
          <a:p>
            <a:r>
              <a:rPr lang="en-US" dirty="0"/>
              <a:t>Cheeks: the 0.12 and 0.72 fractions are the key parameters. 12% ensures we're below the eye socket — the periorbital area has thinner skin and different photoplethysmography characteristics. 72% ensures we're above the jawline and any beard shadow.</a:t>
            </a:r>
          </a:p>
          <a:p>
            <a:r>
              <a:rPr lang="en-US" dirty="0"/>
              <a:t>Exclusion zones are a hard rule — moustache and beard skin, even if BiSeNet and all three colour methods say it's skin, is always removed. The haemodynamics of facial hair regions are different from the measurement sites (forehead, cheeks) used to calibrate the CHROM algorithm.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GMM operates in 2D Cb-Cr space, not the full 3D YCbCr. Luminance is excluded because it depends heavily on lighting — the same skin under bright vs dim light has the same chrominance but very different luminance.</a:t>
            </a:r>
          </a:p>
          <a:p>
            <a:r>
              <a:rPr lang="en-US" dirty="0"/>
              <a:t>The GMM is fitted on BiSeNet-confirmed skin pixels, which act as an extremely clean seed for the model — we're fitting to known-good skin pixels.</a:t>
            </a:r>
          </a:p>
          <a:p>
            <a:r>
              <a:rPr lang="en-US" dirty="0"/>
              <a:t>Why 3 components? Under asymmetric lighting, the face shows 2-3 distinct chrominance clusters: well-lit skin, shadowed skin, and a transitional zone. A single Gaussian cannot model this.</a:t>
            </a:r>
          </a:p>
          <a:p>
            <a:r>
              <a:rPr lang="en-US" dirty="0"/>
              <a:t>The skin component identification after fitting is elegant: instead of labelling components by hand, we find the one whose centroid is closest to the overall seed mean. This is robust regardless of how the EM algorithm orders the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combination logic is a union of evidence: any credible source labelling a pixel as skin gets it included — but then geometric and texture filters can veto it.</a:t>
            </a:r>
          </a:p>
          <a:p>
            <a:r>
              <a:rPr lang="en-US" dirty="0"/>
              <a:t>This is more permissive than intersection-based logic (which would require all methods to agree) and more reliable than union-only (which would include too much noise).</a:t>
            </a:r>
          </a:p>
          <a:p>
            <a:r>
              <a:rPr lang="en-US" dirty="0"/>
              <a:t>Luminance normalisation is critical for removing camera AGC effects. Without it, a recording where the subject moves into a shadow would show a step change in all three channels — indistinguishable from a very strong physiological event.</a:t>
            </a:r>
          </a:p>
          <a:p>
            <a:r>
              <a:rPr lang="en-US" dirty="0"/>
              <a:t>The probability-weighted average is the key quality innovation vs simple spatial mean. It continuously penalises uncertain pixels rather than binary-gating them, which produces smoother, more stable time series.</a:t>
            </a:r>
          </a:p>
          <a:p>
            <a:r>
              <a:rPr lang="en-US" dirty="0"/>
              <a:t>The quality score per frame drives quality-weighted MAE in Stage 2 — frames where the skin detection was confident contribute more to the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CHROM is the gold-standard rPPG BVP extraction algorithm from de Haan &amp; Jeanne 2013.</a:t>
            </a:r>
          </a:p>
          <a:p>
            <a:r>
              <a:rPr lang="en-US" dirty="0"/>
              <a:t>The three projection coefficients (3,-2 for Xs and 1.5,1,-1.5 for Ys) are NOT empirical — they are analytically derived from integrating the camera's spectral sensitivity curves over the haemoglobin absorption spectrum. They are physically grounded.</a:t>
            </a:r>
          </a:p>
          <a:p>
            <a:r>
              <a:rPr lang="en-US" dirty="0"/>
              <a:t>The alpha parameter is adaptive per recording: it adjusts the relative scaling of Xs and Ys to cancel specular reflection. Specular reflection adds a component proportional to the illumination spectrum to both Xs and Ys — alpha removes it.</a:t>
            </a:r>
          </a:p>
          <a:p>
            <a:r>
              <a:rPr lang="en-US" dirty="0"/>
              <a:t>Spatial PCA is a generalisation of CHROM: instead of manually defining the projection direction, SVD finds the linear combination of all 9 regional signals that maximises variance in the cardiac band. It automatically discovers the best weighting of forehead vs cheeks vs L vs R vs R/G/B.</a:t>
            </a:r>
          </a:p>
          <a:p>
            <a:r>
              <a:rPr lang="en-US" dirty="0"/>
              <a:t>All four IIR filters are applied with filtfilt — this doubles the effective order but removes all phase distortion. Phase distortion would shift different frequency components in time, distorting the BVP waveform shape.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output CSV is the contract between Stage 1 and Stage 2. Every row is one successfully processed frame.</a:t>
            </a:r>
          </a:p>
          <a:p>
            <a:r>
              <a:rPr lang="en-US" dirty="0"/>
              <a:t>The 5 BVP variant columns let Stage 2 directly compare filter families without re-running the acquisition pipeline.</a:t>
            </a:r>
          </a:p>
          <a:p>
            <a:r>
              <a:rPr lang="en-US" dirty="0"/>
              <a:t>The 8 quality metrics per frame are the key innovation for downstream quality-gating. Stage 2 uses quality_score to weight-average the BPM error — frames where the skin detection was poor contribute less to the reported accuracy.</a:t>
            </a:r>
          </a:p>
          <a:p>
            <a:r>
              <a:rPr lang="en-US" dirty="0"/>
              <a:t>The composite quality score weights BiSeNet confidence highest (25%) because the deep learning classifier is the most reliable single predictor of skin detection quality. Colour voting (20%) and GMM agreement (20%) are independent corroborating evidence. ROI coverage, green CV, and hair fraction are secondary factors.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These three decisions explain WHY the code is structured the way it is.</a:t>
            </a:r>
          </a:p>
          <a:p>
            <a:r>
              <a:rPr lang="en-US" dirty="0"/>
              <a:t>Decision 1 (compute once): compute_frame_maps() is called at the top of the per-frame loop and passed as a dict. Every subsequent function (adaptive_color_skin, compute_texture_maps, final combination) reads from this dict. This is not just an optimisation — it also ensures consistency: all methods see exactly the same floating-point representation of each channel.</a:t>
            </a:r>
          </a:p>
          <a:p>
            <a:r>
              <a:rPr lang="en-US" dirty="0"/>
              <a:t>Decision 2 (caching): the EMA is subtle but important. Without it, every 10th frame would have a discrete jump in the probability-weighted RGB means when BiSeNet produces a new estimate. The EMA smooths this to a ~1-second ramp, which is invisible in the BVP signal at cardiac frequencies.</a:t>
            </a:r>
          </a:p>
          <a:p>
            <a:r>
              <a:rPr lang="en-US" dirty="0"/>
              <a:t>Decision 3 (consensus): this is the most important architectural decision. No single method is trusted. The ensemble approach was tested against simpler designs (BiSeNet alone, YCbCr alone) and always outperforms in terms of quality_score and downstream BPM accuracy.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0972800" cy="1097280"/>
          </a:xfrm>
          <a:prstGeom prst="rect">
            <a:avLst/>
          </a:prstGeom>
          <a:noFill/>
        </p:spPr>
        <p:txBody>
          <a:bodyPr wrap="square">
            <a:spAutoFit/>
          </a:bodyPr>
          <a:lstStyle/>
          <a:p>
            <a:pPr algn="l"/>
            <a:r>
              <a:rPr sz="4600" b="1" i="0">
                <a:solidFill>
                  <a:srgbClr val="FFFFFF"/>
                </a:solidFill>
              </a:rPr>
              <a:t>rPPG Camera Pipeline</a:t>
            </a:r>
          </a:p>
        </p:txBody>
      </p:sp>
      <p:sp>
        <p:nvSpPr>
          <p:cNvPr id="4" name="TextBox 3"/>
          <p:cNvSpPr txBox="1"/>
          <p:nvPr/>
        </p:nvSpPr>
        <p:spPr>
          <a:xfrm>
            <a:off x="457200" y="2606040"/>
            <a:ext cx="10972800" cy="640080"/>
          </a:xfrm>
          <a:prstGeom prst="rect">
            <a:avLst/>
          </a:prstGeom>
          <a:noFill/>
        </p:spPr>
        <p:txBody>
          <a:bodyPr wrap="square">
            <a:spAutoFit/>
          </a:bodyPr>
          <a:lstStyle/>
          <a:p>
            <a:pPr algn="l"/>
            <a:r>
              <a:rPr sz="2600" b="0" i="0">
                <a:solidFill>
                  <a:srgbClr val="90E0EF"/>
                </a:solidFill>
              </a:rPr>
              <a:t>Raw Frame Acquisition &amp; Signal Extraction</a:t>
            </a:r>
          </a:p>
        </p:txBody>
      </p:sp>
      <p:sp>
        <p:nvSpPr>
          <p:cNvPr id="5" name="TextBox 4"/>
          <p:cNvSpPr txBox="1"/>
          <p:nvPr/>
        </p:nvSpPr>
        <p:spPr>
          <a:xfrm>
            <a:off x="457200" y="3337560"/>
            <a:ext cx="10972800" cy="411480"/>
          </a:xfrm>
          <a:prstGeom prst="rect">
            <a:avLst/>
          </a:prstGeom>
          <a:noFill/>
        </p:spPr>
        <p:txBody>
          <a:bodyPr wrap="square">
            <a:spAutoFit/>
          </a:bodyPr>
          <a:lstStyle/>
          <a:p>
            <a:pPr algn="l"/>
            <a:r>
              <a:rPr sz="1800" b="0" i="0">
                <a:solidFill>
                  <a:srgbClr val="CCD5E0"/>
                </a:solidFill>
              </a:rPr>
              <a:t>Stage 1 of 3  ·  rppg_pipeline_refined.py</a:t>
            </a:r>
          </a:p>
        </p:txBody>
      </p:sp>
      <p:sp>
        <p:nvSpPr>
          <p:cNvPr id="6" name="TextBox 5"/>
          <p:cNvSpPr txBox="1"/>
          <p:nvPr/>
        </p:nvSpPr>
        <p:spPr>
          <a:xfrm>
            <a:off x="457200" y="3931920"/>
            <a:ext cx="10972800" cy="548640"/>
          </a:xfrm>
          <a:prstGeom prst="rect">
            <a:avLst/>
          </a:prstGeom>
          <a:noFill/>
        </p:spPr>
        <p:txBody>
          <a:bodyPr wrap="square">
            <a:spAutoFit/>
          </a:bodyPr>
          <a:lstStyle/>
          <a:p>
            <a:pPr algn="l"/>
            <a:r>
              <a:rPr sz="2000" b="0" i="1">
                <a:solidFill>
                  <a:srgbClr val="FFD166"/>
                </a:solidFill>
              </a:rPr>
              <a:t>From raw video frames  →  per-frame RGB blood-volume-pulse signal</a:t>
            </a:r>
          </a:p>
        </p:txBody>
      </p:sp>
      <p:sp>
        <p:nvSpPr>
          <p:cNvPr id="7" name="Rectangle 6"/>
          <p:cNvSpPr/>
          <p:nvPr/>
        </p:nvSpPr>
        <p:spPr>
          <a:xfrm>
            <a:off x="457200" y="5943600"/>
            <a:ext cx="1097280" cy="38404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961888"/>
            <a:ext cx="1005839" cy="347472"/>
          </a:xfrm>
          <a:prstGeom prst="rect">
            <a:avLst/>
          </a:prstGeom>
          <a:noFill/>
        </p:spPr>
        <p:txBody>
          <a:bodyPr wrap="square">
            <a:spAutoFit/>
          </a:bodyPr>
          <a:lstStyle/>
          <a:p>
            <a:pPr algn="ctr"/>
            <a:r>
              <a:rPr sz="1300" b="1" i="0">
                <a:solidFill>
                  <a:srgbClr val="FFFFFF"/>
                </a:solidFill>
              </a:rPr>
              <a:t>BiSeNet</a:t>
            </a:r>
          </a:p>
        </p:txBody>
      </p:sp>
      <p:sp>
        <p:nvSpPr>
          <p:cNvPr id="9" name="Rectangle 8"/>
          <p:cNvSpPr/>
          <p:nvPr/>
        </p:nvSpPr>
        <p:spPr>
          <a:xfrm>
            <a:off x="1691640" y="5943600"/>
            <a:ext cx="1280160" cy="384048"/>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37360" y="5961888"/>
            <a:ext cx="1188719" cy="347472"/>
          </a:xfrm>
          <a:prstGeom prst="rect">
            <a:avLst/>
          </a:prstGeom>
          <a:noFill/>
        </p:spPr>
        <p:txBody>
          <a:bodyPr wrap="square">
            <a:spAutoFit/>
          </a:bodyPr>
          <a:lstStyle/>
          <a:p>
            <a:pPr algn="ctr"/>
            <a:r>
              <a:rPr sz="1300" b="1" i="0">
                <a:solidFill>
                  <a:srgbClr val="FFFFFF"/>
                </a:solidFill>
              </a:rPr>
              <a:t>MediaPipe</a:t>
            </a:r>
          </a:p>
        </p:txBody>
      </p:sp>
      <p:sp>
        <p:nvSpPr>
          <p:cNvPr id="11" name="Rectangle 10"/>
          <p:cNvSpPr/>
          <p:nvPr/>
        </p:nvSpPr>
        <p:spPr>
          <a:xfrm>
            <a:off x="3108960" y="5943600"/>
            <a:ext cx="1005840" cy="384048"/>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79" y="5961888"/>
            <a:ext cx="914400" cy="347472"/>
          </a:xfrm>
          <a:prstGeom prst="rect">
            <a:avLst/>
          </a:prstGeom>
          <a:noFill/>
        </p:spPr>
        <p:txBody>
          <a:bodyPr wrap="square">
            <a:spAutoFit/>
          </a:bodyPr>
          <a:lstStyle/>
          <a:p>
            <a:pPr algn="ctr"/>
            <a:r>
              <a:rPr sz="1300" b="1" i="0">
                <a:solidFill>
                  <a:srgbClr val="FFFFFF"/>
                </a:solidFill>
              </a:rPr>
              <a:t>CHROM</a:t>
            </a:r>
          </a:p>
        </p:txBody>
      </p:sp>
      <p:sp>
        <p:nvSpPr>
          <p:cNvPr id="13" name="Rectangle 12"/>
          <p:cNvSpPr/>
          <p:nvPr/>
        </p:nvSpPr>
        <p:spPr>
          <a:xfrm>
            <a:off x="4251960" y="5943600"/>
            <a:ext cx="822960" cy="384048"/>
          </a:xfrm>
          <a:prstGeom prst="rect">
            <a:avLst/>
          </a:prstGeom>
          <a:solidFill>
            <a:srgbClr val="B5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5961888"/>
            <a:ext cx="731520" cy="347472"/>
          </a:xfrm>
          <a:prstGeom prst="rect">
            <a:avLst/>
          </a:prstGeom>
          <a:noFill/>
        </p:spPr>
        <p:txBody>
          <a:bodyPr wrap="square">
            <a:spAutoFit/>
          </a:bodyPr>
          <a:lstStyle/>
          <a:p>
            <a:pPr algn="ctr"/>
            <a:r>
              <a:rPr sz="1300" b="1" i="0">
                <a:solidFill>
                  <a:srgbClr val="FFFFFF"/>
                </a:solidFill>
              </a:rPr>
              <a:t>GMM</a:t>
            </a:r>
          </a:p>
        </p:txBody>
      </p:sp>
      <p:sp>
        <p:nvSpPr>
          <p:cNvPr id="15" name="Rectangle 14"/>
          <p:cNvSpPr/>
          <p:nvPr/>
        </p:nvSpPr>
        <p:spPr>
          <a:xfrm>
            <a:off x="5212080" y="5943600"/>
            <a:ext cx="1188720" cy="38404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7800" y="5961888"/>
            <a:ext cx="1097280" cy="347472"/>
          </a:xfrm>
          <a:prstGeom prst="rect">
            <a:avLst/>
          </a:prstGeom>
          <a:noFill/>
        </p:spPr>
        <p:txBody>
          <a:bodyPr wrap="square">
            <a:spAutoFit/>
          </a:bodyPr>
          <a:lstStyle/>
          <a:p>
            <a:pPr algn="ctr"/>
            <a:r>
              <a:rPr sz="1300" b="1" i="0">
                <a:solidFill>
                  <a:srgbClr val="FFFFFF"/>
                </a:solidFill>
              </a:rPr>
              <a:t>LBP · SVC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What is rPPG?</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Remote Photoplethysmography — contactless heart rate from a camera</a:t>
            </a:r>
          </a:p>
        </p:txBody>
      </p:sp>
      <p:sp>
        <p:nvSpPr>
          <p:cNvPr id="5" name="TextBox 4"/>
          <p:cNvSpPr txBox="1"/>
          <p:nvPr/>
        </p:nvSpPr>
        <p:spPr>
          <a:xfrm>
            <a:off x="457200" y="1234440"/>
            <a:ext cx="5303520" cy="5120640"/>
          </a:xfrm>
          <a:prstGeom prst="rect">
            <a:avLst/>
          </a:prstGeom>
          <a:noFill/>
        </p:spPr>
        <p:txBody>
          <a:bodyPr wrap="square">
            <a:spAutoFit/>
          </a:bodyPr>
          <a:lstStyle/>
          <a:p>
            <a:pPr algn="l"/>
            <a:r>
              <a:rPr sz="1600" b="1">
                <a:solidFill>
                  <a:srgbClr val="00B4D8"/>
                </a:solidFill>
              </a:rPr>
              <a:t>The Physics</a:t>
            </a:r>
          </a:p>
          <a:p>
            <a:pPr algn="l"/>
            <a:r>
              <a:rPr sz="1600" b="0">
                <a:solidFill>
                  <a:srgbClr val="FFFFFF"/>
                </a:solidFill>
              </a:rPr>
              <a:t>Blood absorbs green light more than oxygenated tissue.</a:t>
            </a:r>
          </a:p>
          <a:p>
            <a:pPr algn="l"/>
            <a:r>
              <a:rPr sz="1600" b="0">
                <a:solidFill>
                  <a:srgbClr val="FFFFFF"/>
                </a:solidFill>
              </a:rPr>
              <a:t>Each heartbeat pushes a bolus of blood through sub-dermal vessels,</a:t>
            </a:r>
          </a:p>
          <a:p>
            <a:pPr algn="l"/>
            <a:r>
              <a:rPr sz="1600" b="0">
                <a:solidFill>
                  <a:srgbClr val="FFFFFF"/>
                </a:solidFill>
              </a:rPr>
              <a:t>creating a ~1–2% oscillation in skin reflectance.</a:t>
            </a:r>
          </a:p>
          <a:p>
            <a:pPr algn="l"/>
            <a:r>
              <a:rPr sz="1600" b="0">
                <a:solidFill>
                  <a:srgbClr val="FFFFFF"/>
                </a:solidFill>
              </a:rPr>
              <a:t/>
            </a:r>
          </a:p>
          <a:p>
            <a:pPr algn="l"/>
            <a:r>
              <a:rPr sz="1600" b="1">
                <a:solidFill>
                  <a:srgbClr val="F4A261"/>
                </a:solidFill>
              </a:rPr>
              <a:t>The Challenge</a:t>
            </a:r>
          </a:p>
          <a:p>
            <a:pPr algn="l"/>
            <a:r>
              <a:rPr sz="1600" b="0">
                <a:solidFill>
                  <a:srgbClr val="FFFFFF"/>
                </a:solidFill>
              </a:rPr>
              <a:t>The signal is buried in noise: hair, speculars,</a:t>
            </a:r>
          </a:p>
          <a:p>
            <a:pPr algn="l"/>
            <a:r>
              <a:rPr sz="1600" b="0">
                <a:solidFill>
                  <a:srgbClr val="FFFFFF"/>
                </a:solidFill>
              </a:rPr>
              <a:t>motion, illumination drift, camera AGC.</a:t>
            </a:r>
          </a:p>
          <a:p>
            <a:pPr algn="l"/>
            <a:r>
              <a:rPr sz="1600" b="0">
                <a:solidFill>
                  <a:srgbClr val="FFFFFF"/>
                </a:solidFill>
              </a:rPr>
              <a:t>SNR is typically −20 dB before processing.</a:t>
            </a:r>
          </a:p>
          <a:p>
            <a:pPr algn="l"/>
            <a:r>
              <a:rPr sz="1600" b="0">
                <a:solidFill>
                  <a:srgbClr val="FFFFFF"/>
                </a:solidFill>
              </a:rPr>
              <a:t/>
            </a:r>
          </a:p>
          <a:p>
            <a:pPr algn="l"/>
            <a:r>
              <a:rPr sz="1600" b="1">
                <a:solidFill>
                  <a:srgbClr val="52B788"/>
                </a:solidFill>
              </a:rPr>
              <a:t>The Goal</a:t>
            </a:r>
          </a:p>
          <a:p>
            <a:pPr algn="l"/>
            <a:r>
              <a:rPr sz="1600" b="0">
                <a:solidFill>
                  <a:srgbClr val="FFFFFF"/>
                </a:solidFill>
              </a:rPr>
              <a:t>Extract a clean R/G/B time series from skin pixels only.</a:t>
            </a:r>
          </a:p>
          <a:p>
            <a:pPr algn="l"/>
            <a:r>
              <a:rPr sz="1600" b="0">
                <a:solidFill>
                  <a:srgbClr val="FFFFFF"/>
                </a:solidFill>
              </a:rPr>
              <a:t>Then frequency-estimate to get BPM.</a:t>
            </a:r>
          </a:p>
        </p:txBody>
      </p:sp>
      <p:sp>
        <p:nvSpPr>
          <p:cNvPr id="6" name="Rectangle 5"/>
          <p:cNvSpPr/>
          <p:nvPr/>
        </p:nvSpPr>
        <p:spPr>
          <a:xfrm>
            <a:off x="6583680" y="1371600"/>
            <a:ext cx="5120640" cy="3657600"/>
          </a:xfrm>
          <a:prstGeom prst="rect">
            <a:avLst/>
          </a:prstGeom>
          <a:solidFill>
            <a:srgbClr val="1E2D3D"/>
          </a:solidFill>
          <a:ln w="15240">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417320"/>
            <a:ext cx="4937760" cy="320040"/>
          </a:xfrm>
          <a:prstGeom prst="rect">
            <a:avLst/>
          </a:prstGeom>
          <a:noFill/>
        </p:spPr>
        <p:txBody>
          <a:bodyPr wrap="square">
            <a:spAutoFit/>
          </a:bodyPr>
          <a:lstStyle/>
          <a:p>
            <a:pPr algn="l"/>
            <a:r>
              <a:rPr sz="1300" b="0" i="0">
                <a:solidFill>
                  <a:srgbClr val="CCD5E0"/>
                </a:solidFill>
              </a:rPr>
              <a:t>Green-channel reflectance over time</a:t>
            </a:r>
          </a:p>
        </p:txBody>
      </p:sp>
      <p:sp>
        <p:nvSpPr>
          <p:cNvPr id="8" name="Rectangle 7"/>
          <p:cNvSpPr/>
          <p:nvPr/>
        </p:nvSpPr>
        <p:spPr>
          <a:xfrm>
            <a:off x="6675120" y="3108960"/>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35308" y="328596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795496" y="345599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5685" y="3612354"/>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15873" y="3748875"/>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976061" y="386017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36250" y="394188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96438" y="399076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56626" y="4004894"/>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16815" y="398372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77003" y="392808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37191" y="384016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97380" y="372342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57568" y="358248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17756" y="3422877"/>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77945" y="3250902"/>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638133" y="307333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98322" y="289716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58510" y="272934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18698" y="257648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78887" y="244461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39075" y="233891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99263" y="226355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59452" y="222151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19640" y="221444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79828" y="224261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0017" y="230493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00205" y="239893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360393" y="252090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20582" y="2666057"/>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80770" y="282865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40958" y="300230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601147" y="318015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661335" y="3355200"/>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721524" y="352054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781712" y="3669664"/>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41900" y="3796692"/>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02089" y="3896620"/>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62277" y="396550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022465" y="4000647"/>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82654" y="4000647"/>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142842" y="396550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203030" y="3896620"/>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263219" y="3796692"/>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323407" y="3669664"/>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383595" y="352054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443784" y="3355200"/>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03972" y="318015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564161" y="300230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624349" y="282865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84537" y="2666057"/>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744726" y="252090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804914" y="239893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865102" y="230493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925291" y="224261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985479" y="221444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045667" y="222151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105856" y="226355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166044" y="233891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226232" y="244461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0286421" y="257648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346609" y="272934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06797" y="289716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466986" y="307333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527174" y="3250902"/>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587363" y="3422877"/>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647551" y="358248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707739" y="372342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767928" y="384016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828116" y="392808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888304" y="3983723"/>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948493" y="4004894"/>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1008681" y="399076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1068869" y="3941881"/>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129058" y="3860179"/>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1189246" y="3748875"/>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1249434" y="3612354"/>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11309623" y="3455998"/>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369811" y="3285966"/>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1430000" y="3108960"/>
            <a:ext cx="54864"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629400" y="3017520"/>
            <a:ext cx="457200" cy="320040"/>
          </a:xfrm>
          <a:prstGeom prst="rect">
            <a:avLst/>
          </a:prstGeom>
          <a:noFill/>
        </p:spPr>
        <p:txBody>
          <a:bodyPr wrap="square">
            <a:spAutoFit/>
          </a:bodyPr>
          <a:lstStyle/>
          <a:p>
            <a:pPr algn="l"/>
            <a:r>
              <a:rPr sz="1400" b="1" i="0">
                <a:solidFill>
                  <a:srgbClr val="52B788"/>
                </a:solidFill>
              </a:rPr>
              <a:t>G(t)</a:t>
            </a:r>
          </a:p>
        </p:txBody>
      </p:sp>
      <p:sp>
        <p:nvSpPr>
          <p:cNvPr id="89" name="TextBox 88"/>
          <p:cNvSpPr txBox="1"/>
          <p:nvPr/>
        </p:nvSpPr>
        <p:spPr>
          <a:xfrm>
            <a:off x="11338560" y="4892040"/>
            <a:ext cx="548640" cy="274320"/>
          </a:xfrm>
          <a:prstGeom prst="rect">
            <a:avLst/>
          </a:prstGeom>
          <a:noFill/>
        </p:spPr>
        <p:txBody>
          <a:bodyPr wrap="square">
            <a:spAutoFit/>
          </a:bodyPr>
          <a:lstStyle/>
          <a:p>
            <a:pPr algn="l"/>
            <a:r>
              <a:rPr sz="1300" b="0" i="0">
                <a:solidFill>
                  <a:srgbClr val="CCD5E0"/>
                </a:solidFill>
              </a:rPr>
              <a:t>t →</a:t>
            </a:r>
          </a:p>
        </p:txBody>
      </p:sp>
      <p:sp>
        <p:nvSpPr>
          <p:cNvPr id="90" name="TextBox 89"/>
          <p:cNvSpPr txBox="1"/>
          <p:nvPr/>
        </p:nvSpPr>
        <p:spPr>
          <a:xfrm>
            <a:off x="9601200" y="1920240"/>
            <a:ext cx="1371600" cy="548640"/>
          </a:xfrm>
          <a:prstGeom prst="rect">
            <a:avLst/>
          </a:prstGeom>
          <a:noFill/>
        </p:spPr>
        <p:txBody>
          <a:bodyPr wrap="square">
            <a:spAutoFit/>
          </a:bodyPr>
          <a:lstStyle/>
          <a:p>
            <a:pPr algn="l"/>
            <a:r>
              <a:rPr sz="1300" b="1" i="0">
                <a:solidFill>
                  <a:srgbClr val="FFD166"/>
                </a:solidFill>
              </a:rPr>
              <a:t>~1–2%
oscillation</a:t>
            </a:r>
          </a:p>
        </p:txBody>
      </p:sp>
      <p:sp>
        <p:nvSpPr>
          <p:cNvPr id="91" name="TextBox 90"/>
          <p:cNvSpPr txBox="1"/>
          <p:nvPr/>
        </p:nvSpPr>
        <p:spPr>
          <a:xfrm>
            <a:off x="7498079" y="1691640"/>
            <a:ext cx="914400" cy="320040"/>
          </a:xfrm>
          <a:prstGeom prst="rect">
            <a:avLst/>
          </a:prstGeom>
          <a:noFill/>
        </p:spPr>
        <p:txBody>
          <a:bodyPr wrap="square">
            <a:spAutoFit/>
          </a:bodyPr>
          <a:lstStyle/>
          <a:p>
            <a:pPr algn="l"/>
            <a:r>
              <a:rPr sz="1300" b="1" i="0">
                <a:solidFill>
                  <a:srgbClr val="FF6B6B"/>
                </a:solidFill>
              </a:rPr>
              <a:t>♥ beat</a:t>
            </a:r>
          </a:p>
        </p:txBody>
      </p:sp>
      <p:sp>
        <p:nvSpPr>
          <p:cNvPr id="92" name="TextBox 91"/>
          <p:cNvSpPr txBox="1"/>
          <p:nvPr/>
        </p:nvSpPr>
        <p:spPr>
          <a:xfrm>
            <a:off x="9144000" y="1691640"/>
            <a:ext cx="914400" cy="320040"/>
          </a:xfrm>
          <a:prstGeom prst="rect">
            <a:avLst/>
          </a:prstGeom>
          <a:noFill/>
        </p:spPr>
        <p:txBody>
          <a:bodyPr wrap="square">
            <a:spAutoFit/>
          </a:bodyPr>
          <a:lstStyle/>
          <a:p>
            <a:pPr algn="l"/>
            <a:r>
              <a:rPr sz="1300" b="1" i="0">
                <a:solidFill>
                  <a:srgbClr val="FF6B6B"/>
                </a:solidFill>
              </a:rPr>
              <a:t>♥ beat</a:t>
            </a:r>
          </a:p>
        </p:txBody>
      </p:sp>
      <p:sp>
        <p:nvSpPr>
          <p:cNvPr id="93" name="TextBox 92"/>
          <p:cNvSpPr txBox="1"/>
          <p:nvPr/>
        </p:nvSpPr>
        <p:spPr>
          <a:xfrm>
            <a:off x="10789920" y="1691640"/>
            <a:ext cx="914400" cy="320040"/>
          </a:xfrm>
          <a:prstGeom prst="rect">
            <a:avLst/>
          </a:prstGeom>
          <a:noFill/>
        </p:spPr>
        <p:txBody>
          <a:bodyPr wrap="square">
            <a:spAutoFit/>
          </a:bodyPr>
          <a:lstStyle/>
          <a:p>
            <a:pPr algn="l"/>
            <a:r>
              <a:rPr sz="1300" b="1" i="0">
                <a:solidFill>
                  <a:srgbClr val="FF6B6B"/>
                </a:solidFill>
              </a:rPr>
              <a:t>♥ beat</a:t>
            </a:r>
          </a:p>
        </p:txBody>
      </p:sp>
      <p:sp>
        <p:nvSpPr>
          <p:cNvPr id="94" name="TextBox 93"/>
          <p:cNvSpPr txBox="1"/>
          <p:nvPr/>
        </p:nvSpPr>
        <p:spPr>
          <a:xfrm>
            <a:off x="6675120" y="4956048"/>
            <a:ext cx="4937760" cy="320040"/>
          </a:xfrm>
          <a:prstGeom prst="rect">
            <a:avLst/>
          </a:prstGeom>
          <a:noFill/>
        </p:spPr>
        <p:txBody>
          <a:bodyPr wrap="square">
            <a:spAutoFit/>
          </a:bodyPr>
          <a:lstStyle/>
          <a:p>
            <a:pPr algn="l"/>
            <a:r>
              <a:rPr sz="1300" b="1" i="0">
                <a:solidFill>
                  <a:srgbClr val="90E0EF"/>
                </a:solidFill>
              </a:rPr>
              <a:t>Cardiac band: 0.67–3.5 Hz  (40–210 BPM)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Pipeline Overview</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rppg_pipeline_refined.py — end-to-end signal chain</a:t>
            </a:r>
          </a:p>
        </p:txBody>
      </p:sp>
      <p:sp>
        <p:nvSpPr>
          <p:cNvPr id="5" name="Rectangle 4"/>
          <p:cNvSpPr/>
          <p:nvPr/>
        </p:nvSpPr>
        <p:spPr>
          <a:xfrm>
            <a:off x="320040" y="1417320"/>
            <a:ext cx="1920240" cy="731520"/>
          </a:xfrm>
          <a:prstGeom prst="rect">
            <a:avLst/>
          </a:prstGeom>
          <a:solidFill>
            <a:srgbClr val="0D1B2A"/>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508760"/>
            <a:ext cx="1792224" cy="594360"/>
          </a:xfrm>
          <a:prstGeom prst="rect">
            <a:avLst/>
          </a:prstGeom>
          <a:noFill/>
        </p:spPr>
        <p:txBody>
          <a:bodyPr wrap="square">
            <a:spAutoFit/>
          </a:bodyPr>
          <a:lstStyle/>
          <a:p>
            <a:pPr algn="ctr"/>
            <a:r>
              <a:rPr sz="1300" b="1" i="0">
                <a:solidFill>
                  <a:srgbClr val="00B4D8"/>
                </a:solidFill>
              </a:rPr>
              <a:t>Video
Frames</a:t>
            </a:r>
          </a:p>
        </p:txBody>
      </p:sp>
      <p:sp>
        <p:nvSpPr>
          <p:cNvPr id="7" name="Rectangle 6"/>
          <p:cNvSpPr/>
          <p:nvPr/>
        </p:nvSpPr>
        <p:spPr>
          <a:xfrm>
            <a:off x="2423160" y="1417320"/>
            <a:ext cx="2011680" cy="73152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87168" y="1508760"/>
            <a:ext cx="1883664" cy="594360"/>
          </a:xfrm>
          <a:prstGeom prst="rect">
            <a:avLst/>
          </a:prstGeom>
          <a:noFill/>
        </p:spPr>
        <p:txBody>
          <a:bodyPr wrap="square">
            <a:spAutoFit/>
          </a:bodyPr>
          <a:lstStyle/>
          <a:p>
            <a:pPr algn="ctr"/>
            <a:r>
              <a:rPr sz="1300" b="1" i="0">
                <a:solidFill>
                  <a:srgbClr val="52B788"/>
                </a:solidFill>
              </a:rPr>
              <a:t>MediaPipe
Face Mesh</a:t>
            </a:r>
          </a:p>
        </p:txBody>
      </p:sp>
      <p:sp>
        <p:nvSpPr>
          <p:cNvPr id="9" name="Rectangle 8"/>
          <p:cNvSpPr/>
          <p:nvPr/>
        </p:nvSpPr>
        <p:spPr>
          <a:xfrm>
            <a:off x="4617720" y="1417320"/>
            <a:ext cx="2011680" cy="73152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1508760"/>
            <a:ext cx="1883664" cy="594360"/>
          </a:xfrm>
          <a:prstGeom prst="rect">
            <a:avLst/>
          </a:prstGeom>
          <a:noFill/>
        </p:spPr>
        <p:txBody>
          <a:bodyPr wrap="square">
            <a:spAutoFit/>
          </a:bodyPr>
          <a:lstStyle/>
          <a:p>
            <a:pPr algn="ctr"/>
            <a:r>
              <a:rPr sz="1300" b="1" i="0">
                <a:solidFill>
                  <a:srgbClr val="00B4D8"/>
                </a:solidFill>
              </a:rPr>
              <a:t>BiSeNet
Skin Parse</a:t>
            </a:r>
          </a:p>
        </p:txBody>
      </p:sp>
      <p:sp>
        <p:nvSpPr>
          <p:cNvPr id="11" name="Rectangle 10"/>
          <p:cNvSpPr/>
          <p:nvPr/>
        </p:nvSpPr>
        <p:spPr>
          <a:xfrm>
            <a:off x="6812280" y="1417320"/>
            <a:ext cx="2011680" cy="73152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76288" y="1508760"/>
            <a:ext cx="1883664" cy="594360"/>
          </a:xfrm>
          <a:prstGeom prst="rect">
            <a:avLst/>
          </a:prstGeom>
          <a:noFill/>
        </p:spPr>
        <p:txBody>
          <a:bodyPr wrap="square">
            <a:spAutoFit/>
          </a:bodyPr>
          <a:lstStyle/>
          <a:p>
            <a:pPr algn="ctr"/>
            <a:r>
              <a:rPr sz="1300" b="1" i="0">
                <a:solidFill>
                  <a:srgbClr val="F4A261"/>
                </a:solidFill>
              </a:rPr>
              <a:t>Colour
Voting ×3</a:t>
            </a:r>
          </a:p>
        </p:txBody>
      </p:sp>
      <p:sp>
        <p:nvSpPr>
          <p:cNvPr id="13" name="Rectangle 12"/>
          <p:cNvSpPr/>
          <p:nvPr/>
        </p:nvSpPr>
        <p:spPr>
          <a:xfrm>
            <a:off x="9006840" y="1417320"/>
            <a:ext cx="2011680" cy="73152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70848" y="1508760"/>
            <a:ext cx="1883664" cy="594360"/>
          </a:xfrm>
          <a:prstGeom prst="rect">
            <a:avLst/>
          </a:prstGeom>
          <a:noFill/>
        </p:spPr>
        <p:txBody>
          <a:bodyPr wrap="square">
            <a:spAutoFit/>
          </a:bodyPr>
          <a:lstStyle/>
          <a:p>
            <a:pPr algn="ctr"/>
            <a:r>
              <a:rPr sz="1300" b="1" i="0">
                <a:solidFill>
                  <a:srgbClr val="B583FF"/>
                </a:solidFill>
              </a:rPr>
              <a:t>GMM
Cluster</a:t>
            </a:r>
          </a:p>
        </p:txBody>
      </p:sp>
      <p:cxnSp>
        <p:nvCxnSpPr>
          <p:cNvPr id="15" name="Connector 14"/>
          <p:cNvCxnSpPr/>
          <p:nvPr/>
        </p:nvCxnSpPr>
        <p:spPr>
          <a:xfrm>
            <a:off x="2240280" y="1783080"/>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34840" y="1783080"/>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629400" y="1783080"/>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823960" y="1783080"/>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12680" y="2148840"/>
            <a:ext cx="0" cy="64008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006840" y="2788920"/>
            <a:ext cx="2011680" cy="731520"/>
          </a:xfrm>
          <a:prstGeom prst="rect">
            <a:avLst/>
          </a:prstGeom>
          <a:solidFill>
            <a:srgbClr val="1E2D3D"/>
          </a:solidFill>
          <a:ln w="1524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0848" y="2880360"/>
            <a:ext cx="1883664" cy="594360"/>
          </a:xfrm>
          <a:prstGeom prst="rect">
            <a:avLst/>
          </a:prstGeom>
          <a:noFill/>
        </p:spPr>
        <p:txBody>
          <a:bodyPr wrap="square">
            <a:spAutoFit/>
          </a:bodyPr>
          <a:lstStyle/>
          <a:p>
            <a:pPr algn="ctr"/>
            <a:r>
              <a:rPr sz="1300" b="1" i="0">
                <a:solidFill>
                  <a:srgbClr val="FF6B6B"/>
                </a:solidFill>
              </a:rPr>
              <a:t>Hair
Rejection</a:t>
            </a:r>
          </a:p>
        </p:txBody>
      </p:sp>
      <p:sp>
        <p:nvSpPr>
          <p:cNvPr id="22" name="Rectangle 21"/>
          <p:cNvSpPr/>
          <p:nvPr/>
        </p:nvSpPr>
        <p:spPr>
          <a:xfrm>
            <a:off x="6812280" y="2788920"/>
            <a:ext cx="2011680" cy="73152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2880360"/>
            <a:ext cx="1883664" cy="594360"/>
          </a:xfrm>
          <a:prstGeom prst="rect">
            <a:avLst/>
          </a:prstGeom>
          <a:noFill/>
        </p:spPr>
        <p:txBody>
          <a:bodyPr wrap="square">
            <a:spAutoFit/>
          </a:bodyPr>
          <a:lstStyle/>
          <a:p>
            <a:pPr algn="ctr"/>
            <a:r>
              <a:rPr sz="1300" b="1" i="0">
                <a:solidFill>
                  <a:srgbClr val="52B788"/>
                </a:solidFill>
              </a:rPr>
              <a:t>Final Skin
Mask</a:t>
            </a:r>
          </a:p>
        </p:txBody>
      </p:sp>
      <p:sp>
        <p:nvSpPr>
          <p:cNvPr id="24" name="Rectangle 23"/>
          <p:cNvSpPr/>
          <p:nvPr/>
        </p:nvSpPr>
        <p:spPr>
          <a:xfrm>
            <a:off x="4617720" y="2788920"/>
            <a:ext cx="2011680" cy="73152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81728" y="2880360"/>
            <a:ext cx="1883664" cy="594360"/>
          </a:xfrm>
          <a:prstGeom prst="rect">
            <a:avLst/>
          </a:prstGeom>
          <a:noFill/>
        </p:spPr>
        <p:txBody>
          <a:bodyPr wrap="square">
            <a:spAutoFit/>
          </a:bodyPr>
          <a:lstStyle/>
          <a:p>
            <a:pPr algn="ctr"/>
            <a:r>
              <a:rPr sz="1300" b="1" i="0">
                <a:solidFill>
                  <a:srgbClr val="00B4D8"/>
                </a:solidFill>
              </a:rPr>
              <a:t>Prob-Weighted
RGB Extraction</a:t>
            </a:r>
          </a:p>
        </p:txBody>
      </p:sp>
      <p:sp>
        <p:nvSpPr>
          <p:cNvPr id="26" name="Rectangle 25"/>
          <p:cNvSpPr/>
          <p:nvPr/>
        </p:nvSpPr>
        <p:spPr>
          <a:xfrm>
            <a:off x="2423160" y="2788920"/>
            <a:ext cx="2011680" cy="73152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87168" y="2880360"/>
            <a:ext cx="1883664" cy="594360"/>
          </a:xfrm>
          <a:prstGeom prst="rect">
            <a:avLst/>
          </a:prstGeom>
          <a:noFill/>
        </p:spPr>
        <p:txBody>
          <a:bodyPr wrap="square">
            <a:spAutoFit/>
          </a:bodyPr>
          <a:lstStyle/>
          <a:p>
            <a:pPr algn="ctr"/>
            <a:r>
              <a:rPr sz="1300" b="1" i="0">
                <a:solidFill>
                  <a:srgbClr val="F4A261"/>
                </a:solidFill>
              </a:rPr>
              <a:t>CHROM
Projection</a:t>
            </a:r>
          </a:p>
        </p:txBody>
      </p:sp>
      <p:sp>
        <p:nvSpPr>
          <p:cNvPr id="28" name="Rectangle 27"/>
          <p:cNvSpPr/>
          <p:nvPr/>
        </p:nvSpPr>
        <p:spPr>
          <a:xfrm>
            <a:off x="320040" y="2788920"/>
            <a:ext cx="2011680" cy="73152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2880360"/>
            <a:ext cx="1883664" cy="594360"/>
          </a:xfrm>
          <a:prstGeom prst="rect">
            <a:avLst/>
          </a:prstGeom>
          <a:noFill/>
        </p:spPr>
        <p:txBody>
          <a:bodyPr wrap="square">
            <a:spAutoFit/>
          </a:bodyPr>
          <a:lstStyle/>
          <a:p>
            <a:pPr algn="ctr"/>
            <a:r>
              <a:rPr sz="1300" b="1" i="0">
                <a:solidFill>
                  <a:srgbClr val="B583FF"/>
                </a:solidFill>
              </a:rPr>
              <a:t>4× IIR
Filter + PCA</a:t>
            </a:r>
          </a:p>
        </p:txBody>
      </p:sp>
      <p:cxnSp>
        <p:nvCxnSpPr>
          <p:cNvPr id="30" name="Connector 29"/>
          <p:cNvCxnSpPr/>
          <p:nvPr/>
        </p:nvCxnSpPr>
        <p:spPr>
          <a:xfrm flipH="1">
            <a:off x="8823960" y="3154679"/>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629400" y="3154679"/>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4434840" y="3154679"/>
            <a:ext cx="18288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331720" y="3154679"/>
            <a:ext cx="91440" cy="0"/>
          </a:xfrm>
          <a:prstGeom prst="line">
            <a:avLst/>
          </a:prstGeom>
          <a:ln w="22860">
            <a:solidFill>
              <a:srgbClr val="00B4D8"/>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20040" y="4160520"/>
            <a:ext cx="10972800" cy="640080"/>
          </a:xfrm>
          <a:prstGeom prst="rect">
            <a:avLst/>
          </a:prstGeom>
          <a:solidFill>
            <a:srgbClr val="06403A"/>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4233672"/>
            <a:ext cx="10789920" cy="475488"/>
          </a:xfrm>
          <a:prstGeom prst="rect">
            <a:avLst/>
          </a:prstGeom>
          <a:noFill/>
        </p:spPr>
        <p:txBody>
          <a:bodyPr wrap="square">
            <a:spAutoFit/>
          </a:bodyPr>
          <a:lstStyle/>
          <a:p>
            <a:pPr algn="l"/>
            <a:r>
              <a:rPr sz="1400" b="1" i="0">
                <a:solidFill>
                  <a:srgbClr val="52B788"/>
                </a:solidFill>
              </a:rPr>
              <a:t>OUTPUT → rppg_output.csv   (T rows × 26 cols: R/G/B raw + normalised, BVP variants ×5, quality metrics ×8, gt_bpm)</a:t>
            </a:r>
          </a:p>
        </p:txBody>
      </p:sp>
      <p:sp>
        <p:nvSpPr>
          <p:cNvPr id="36" name="Rectangle 35"/>
          <p:cNvSpPr/>
          <p:nvPr/>
        </p:nvSpPr>
        <p:spPr>
          <a:xfrm>
            <a:off x="320040" y="4983480"/>
            <a:ext cx="5303520" cy="685800"/>
          </a:xfrm>
          <a:prstGeom prst="rect">
            <a:avLst/>
          </a:prstGeom>
          <a:solidFill>
            <a:srgbClr val="1E1A00"/>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5047488"/>
            <a:ext cx="5120640" cy="548640"/>
          </a:xfrm>
          <a:prstGeom prst="rect">
            <a:avLst/>
          </a:prstGeom>
          <a:noFill/>
        </p:spPr>
        <p:txBody>
          <a:bodyPr wrap="square">
            <a:spAutoFit/>
          </a:bodyPr>
          <a:lstStyle/>
          <a:p>
            <a:pPr algn="l"/>
            <a:r>
              <a:rPr sz="1250" b="0" i="0">
                <a:solidFill>
                  <a:srgbClr val="FFD166"/>
                </a:solidFill>
              </a:rPr>
              <a:t>⚡ Caching: BiSeNet every 10 frames · ROI mask only when landmarks move &gt;4px · EMA smooths prob map</a:t>
            </a:r>
          </a:p>
        </p:txBody>
      </p:sp>
      <p:sp>
        <p:nvSpPr>
          <p:cNvPr id="38" name="Rectangle 37"/>
          <p:cNvSpPr/>
          <p:nvPr/>
        </p:nvSpPr>
        <p:spPr>
          <a:xfrm>
            <a:off x="5806440" y="4983480"/>
            <a:ext cx="5943600" cy="685800"/>
          </a:xfrm>
          <a:prstGeom prst="rect">
            <a:avLst/>
          </a:prstGeom>
          <a:solidFill>
            <a:srgbClr val="001A2E"/>
          </a:solidFill>
          <a:ln w="15240">
            <a:solidFill>
              <a:srgbClr val="90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97880" y="5047488"/>
            <a:ext cx="5760720" cy="548640"/>
          </a:xfrm>
          <a:prstGeom prst="rect">
            <a:avLst/>
          </a:prstGeom>
          <a:noFill/>
        </p:spPr>
        <p:txBody>
          <a:bodyPr wrap="square">
            <a:spAutoFit/>
          </a:bodyPr>
          <a:lstStyle/>
          <a:p>
            <a:pPr algn="l"/>
            <a:r>
              <a:rPr sz="1250" b="0" i="0">
                <a:solidFill>
                  <a:srgbClr val="90E0EF"/>
                </a:solidFill>
              </a:rPr>
              <a:t>⚡ Parallelism: texture maps + colour segmentation run on 2 CPU threads simultaneously (GIL released by numpy/OpenCV)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Face Detection — MediaPipe FaceLandmarker</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468 3D landmarks · VIDEO mode · timestamp-driven Kalman tracker</a:t>
            </a:r>
          </a:p>
        </p:txBody>
      </p:sp>
      <p:pic>
        <p:nvPicPr>
          <p:cNvPr id="5" name="Picture 4" descr="mediapipe_mesh.jpg"/>
          <p:cNvPicPr>
            <a:picLocks noChangeAspect="1"/>
          </p:cNvPicPr>
          <p:nvPr/>
        </p:nvPicPr>
        <p:blipFill>
          <a:blip r:embed="rId2"/>
          <a:stretch>
            <a:fillRect/>
          </a:stretch>
        </p:blipFill>
        <p:spPr>
          <a:xfrm>
            <a:off x="365760" y="1280160"/>
            <a:ext cx="4114800" cy="4206240"/>
          </a:xfrm>
          <a:prstGeom prst="rect">
            <a:avLst/>
          </a:prstGeom>
        </p:spPr>
      </p:pic>
      <p:sp>
        <p:nvSpPr>
          <p:cNvPr id="6" name="Rectangle 5"/>
          <p:cNvSpPr/>
          <p:nvPr/>
        </p:nvSpPr>
        <p:spPr>
          <a:xfrm>
            <a:off x="4754880" y="1261872"/>
            <a:ext cx="7040880" cy="141732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92040" y="1298448"/>
            <a:ext cx="6766560" cy="1325880"/>
          </a:xfrm>
          <a:prstGeom prst="rect">
            <a:avLst/>
          </a:prstGeom>
          <a:noFill/>
        </p:spPr>
        <p:txBody>
          <a:bodyPr wrap="square">
            <a:spAutoFit/>
          </a:bodyPr>
          <a:lstStyle/>
          <a:p>
            <a:pPr algn="l"/>
            <a:r>
              <a:rPr sz="1400" b="1">
                <a:solidFill>
                  <a:srgbClr val="52B788"/>
                </a:solidFill>
              </a:rPr>
              <a:t>Why VIDEO mode?</a:t>
            </a:r>
          </a:p>
          <a:p>
            <a:pPr algn="l"/>
            <a:r>
              <a:rPr sz="1400" b="0">
                <a:solidFill>
                  <a:srgbClr val="FFFFFF"/>
                </a:solidFill>
              </a:rPr>
              <a:t>Frames arrive in timestamp order → internal Kalman tracker smooths jitter.</a:t>
            </a:r>
          </a:p>
          <a:p>
            <a:pPr algn="l"/>
            <a:r>
              <a:rPr sz="1400" b="0">
                <a:solidFill>
                  <a:srgbClr val="CCD5E0"/>
                </a:solidFill>
              </a:rPr>
              <a:t>IMAGE mode: each frame independent (slower, no smoothing).</a:t>
            </a:r>
          </a:p>
          <a:p>
            <a:pPr algn="l"/>
            <a:r>
              <a:rPr sz="1400" b="0">
                <a:solidFill>
                  <a:srgbClr val="CCD5E0"/>
                </a:solidFill>
              </a:rPr>
              <a:t>LIVE_STREAM mode: async callbacks — wrong for offline processing.</a:t>
            </a:r>
          </a:p>
        </p:txBody>
      </p:sp>
      <p:sp>
        <p:nvSpPr>
          <p:cNvPr id="8" name="Rectangle 7"/>
          <p:cNvSpPr/>
          <p:nvPr/>
        </p:nvSpPr>
        <p:spPr>
          <a:xfrm>
            <a:off x="4754880" y="2788920"/>
            <a:ext cx="7040880" cy="141732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92040" y="2825496"/>
            <a:ext cx="6766560" cy="1325880"/>
          </a:xfrm>
          <a:prstGeom prst="rect">
            <a:avLst/>
          </a:prstGeom>
          <a:noFill/>
        </p:spPr>
        <p:txBody>
          <a:bodyPr wrap="square">
            <a:spAutoFit/>
          </a:bodyPr>
          <a:lstStyle/>
          <a:p>
            <a:pPr algn="l"/>
            <a:r>
              <a:rPr sz="1400" b="1">
                <a:solidFill>
                  <a:srgbClr val="00B4D8"/>
                </a:solidFill>
              </a:rPr>
              <a:t>Landmark → Pixel Coordinate</a:t>
            </a:r>
          </a:p>
          <a:p>
            <a:pPr algn="l"/>
            <a:r>
              <a:rPr sz="1400" b="0">
                <a:solidFill>
                  <a:srgbClr val="FFD166"/>
                </a:solidFill>
              </a:rPr>
              <a:t>pts[i] = [lm.x × W,  lm.y × H]   (normalised → pixel)</a:t>
            </a:r>
          </a:p>
          <a:p>
            <a:pPr algn="l"/>
            <a:r>
              <a:rPr sz="1400" b="0">
                <a:solidFill>
                  <a:srgbClr val="CCD5E0"/>
                </a:solidFill>
              </a:rPr>
              <a:t>pts[33]  = outer left eye canthus</a:t>
            </a:r>
          </a:p>
          <a:p>
            <a:pPr algn="l"/>
            <a:r>
              <a:rPr sz="1400" b="0">
                <a:solidFill>
                  <a:srgbClr val="CCD5E0"/>
                </a:solidFill>
              </a:rPr>
              <a:t>pts[263] = outer right eye canthus  →  mirror detection</a:t>
            </a:r>
          </a:p>
          <a:p>
            <a:pPr algn="l"/>
            <a:r>
              <a:rPr sz="1400" b="0">
                <a:solidFill>
                  <a:srgbClr val="CCD5E0"/>
                </a:solidFill>
              </a:rPr>
              <a:t>pts[10]  = superior forehead midline</a:t>
            </a:r>
          </a:p>
        </p:txBody>
      </p:sp>
      <p:sp>
        <p:nvSpPr>
          <p:cNvPr id="10" name="Rectangle 9"/>
          <p:cNvSpPr/>
          <p:nvPr/>
        </p:nvSpPr>
        <p:spPr>
          <a:xfrm>
            <a:off x="4754880" y="4315968"/>
            <a:ext cx="3383280" cy="91440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92040" y="4352544"/>
            <a:ext cx="3200400" cy="804672"/>
          </a:xfrm>
          <a:prstGeom prst="rect">
            <a:avLst/>
          </a:prstGeom>
          <a:noFill/>
        </p:spPr>
        <p:txBody>
          <a:bodyPr wrap="square">
            <a:spAutoFit/>
          </a:bodyPr>
          <a:lstStyle/>
          <a:p>
            <a:pPr algn="l"/>
            <a:r>
              <a:rPr sz="1400" b="1">
                <a:solidFill>
                  <a:srgbClr val="F4A261"/>
                </a:solidFill>
              </a:rPr>
              <a:t>Confidence thresholds: 0.5 each</a:t>
            </a:r>
          </a:p>
          <a:p>
            <a:pPr algn="l"/>
            <a:r>
              <a:rPr sz="1400" b="0">
                <a:solidFill>
                  <a:srgbClr val="FFFFFF"/>
                </a:solidFill>
              </a:rPr>
              <a:t>detect / presence / tracking</a:t>
            </a:r>
          </a:p>
          <a:p>
            <a:pPr algn="l"/>
            <a:r>
              <a:rPr sz="1400" b="0">
                <a:solidFill>
                  <a:srgbClr val="CCD5E0"/>
                </a:solidFill>
              </a:rPr>
              <a:t>→ num_faces = 1 only</a:t>
            </a:r>
          </a:p>
        </p:txBody>
      </p:sp>
      <p:sp>
        <p:nvSpPr>
          <p:cNvPr id="12" name="Rectangle 11"/>
          <p:cNvSpPr/>
          <p:nvPr/>
        </p:nvSpPr>
        <p:spPr>
          <a:xfrm>
            <a:off x="8275320" y="4315968"/>
            <a:ext cx="3520440" cy="91440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4352544"/>
            <a:ext cx="3337560" cy="804672"/>
          </a:xfrm>
          <a:prstGeom prst="rect">
            <a:avLst/>
          </a:prstGeom>
          <a:noFill/>
        </p:spPr>
        <p:txBody>
          <a:bodyPr wrap="square">
            <a:spAutoFit/>
          </a:bodyPr>
          <a:lstStyle/>
          <a:p>
            <a:pPr algn="l"/>
            <a:r>
              <a:rPr sz="1400" b="1">
                <a:solidFill>
                  <a:srgbClr val="B583FF"/>
                </a:solidFill>
              </a:rPr>
              <a:t>4px movement cache gate</a:t>
            </a:r>
          </a:p>
          <a:p>
            <a:pPr algn="l"/>
            <a:r>
              <a:rPr sz="1400" b="0">
                <a:solidFill>
                  <a:srgbClr val="FFFFFF"/>
                </a:solidFill>
              </a:rPr>
              <a:t>ROI mask only recomputed</a:t>
            </a:r>
          </a:p>
          <a:p>
            <a:pPr algn="l"/>
            <a:r>
              <a:rPr sz="1400" b="0">
                <a:solidFill>
                  <a:srgbClr val="FFFFFF"/>
                </a:solidFill>
              </a:rPr>
              <a:t>when any landmark shifts &gt;4px</a:t>
            </a:r>
          </a:p>
        </p:txBody>
      </p:sp>
      <p:sp>
        <p:nvSpPr>
          <p:cNvPr id="14" name="Rectangle 13"/>
          <p:cNvSpPr/>
          <p:nvPr/>
        </p:nvSpPr>
        <p:spPr>
          <a:xfrm>
            <a:off x="365760" y="5486400"/>
            <a:ext cx="11430000" cy="685800"/>
          </a:xfrm>
          <a:prstGeom prst="rect">
            <a:avLst/>
          </a:prstGeom>
          <a:solidFill>
            <a:srgbClr val="060620"/>
          </a:solidFill>
          <a:ln w="15240">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532120"/>
            <a:ext cx="11247120" cy="566928"/>
          </a:xfrm>
          <a:prstGeom prst="rect">
            <a:avLst/>
          </a:prstGeom>
          <a:noFill/>
        </p:spPr>
        <p:txBody>
          <a:bodyPr wrap="square">
            <a:spAutoFit/>
          </a:bodyPr>
          <a:lstStyle/>
          <a:p>
            <a:pPr algn="l"/>
            <a:r>
              <a:rPr sz="1250" b="0" i="0">
                <a:solidFill>
                  <a:srgbClr val="90E0EF"/>
                </a:solidFill>
              </a:rPr>
              <a:t>Key indices: 33/263 eye outer · 234/454 temple · 70/300 brow outer · 107/336 brow inner · 129/358 nose ala · 172/397 jaw · 54/284 forehead lateral · 10/9 forehead midline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Deep Learning Skin Segmentation — BiSeNet / SegFormer</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jonathandinu/face-parsing · 19-class CelebAMask-HQ · runs every 10 frames</a:t>
            </a:r>
          </a:p>
        </p:txBody>
      </p:sp>
      <p:sp>
        <p:nvSpPr>
          <p:cNvPr id="5" name="Rectangle 4"/>
          <p:cNvSpPr/>
          <p:nvPr/>
        </p:nvSpPr>
        <p:spPr>
          <a:xfrm>
            <a:off x="365760" y="1371600"/>
            <a:ext cx="1508760" cy="100584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17320"/>
            <a:ext cx="1417320" cy="868680"/>
          </a:xfrm>
          <a:prstGeom prst="rect">
            <a:avLst/>
          </a:prstGeom>
          <a:noFill/>
        </p:spPr>
        <p:txBody>
          <a:bodyPr wrap="square">
            <a:spAutoFit/>
          </a:bodyPr>
          <a:lstStyle/>
          <a:p>
            <a:pPr algn="ctr"/>
            <a:r>
              <a:rPr sz="1100" b="0" i="0">
                <a:solidFill>
                  <a:srgbClr val="00B4D8"/>
                </a:solidFill>
              </a:rPr>
              <a:t>Mix-Trans
Stage 1
(1/4)</a:t>
            </a:r>
          </a:p>
        </p:txBody>
      </p:sp>
      <p:cxnSp>
        <p:nvCxnSpPr>
          <p:cNvPr id="7" name="Connector 6"/>
          <p:cNvCxnSpPr/>
          <p:nvPr/>
        </p:nvCxnSpPr>
        <p:spPr>
          <a:xfrm>
            <a:off x="1874519" y="1874519"/>
            <a:ext cx="228601" cy="0"/>
          </a:xfrm>
          <a:prstGeom prst="line">
            <a:avLst/>
          </a:prstGeom>
          <a:ln w="15240">
            <a:solidFill>
              <a:srgbClr val="90E0E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103120" y="1371600"/>
            <a:ext cx="1508760" cy="1005840"/>
          </a:xfrm>
          <a:prstGeom prst="rect">
            <a:avLst/>
          </a:prstGeom>
          <a:solidFill>
            <a:srgbClr val="1E2D3D"/>
          </a:solidFill>
          <a:ln w="15240">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40" y="1417320"/>
            <a:ext cx="1417320" cy="868680"/>
          </a:xfrm>
          <a:prstGeom prst="rect">
            <a:avLst/>
          </a:prstGeom>
          <a:noFill/>
        </p:spPr>
        <p:txBody>
          <a:bodyPr wrap="square">
            <a:spAutoFit/>
          </a:bodyPr>
          <a:lstStyle/>
          <a:p>
            <a:pPr algn="ctr"/>
            <a:r>
              <a:rPr sz="1100" b="0" i="0">
                <a:solidFill>
                  <a:srgbClr val="48CAE4"/>
                </a:solidFill>
              </a:rPr>
              <a:t>Mix-Trans
Stage 2
(1/8)</a:t>
            </a:r>
          </a:p>
        </p:txBody>
      </p:sp>
      <p:cxnSp>
        <p:nvCxnSpPr>
          <p:cNvPr id="10" name="Connector 9"/>
          <p:cNvCxnSpPr/>
          <p:nvPr/>
        </p:nvCxnSpPr>
        <p:spPr>
          <a:xfrm>
            <a:off x="3611879" y="1874519"/>
            <a:ext cx="228601" cy="0"/>
          </a:xfrm>
          <a:prstGeom prst="line">
            <a:avLst/>
          </a:prstGeom>
          <a:ln w="15240">
            <a:solidFill>
              <a:srgbClr val="90E0EF"/>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3840480" y="1371600"/>
            <a:ext cx="1508760" cy="100584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6200" y="1417320"/>
            <a:ext cx="1417320" cy="868680"/>
          </a:xfrm>
          <a:prstGeom prst="rect">
            <a:avLst/>
          </a:prstGeom>
          <a:noFill/>
        </p:spPr>
        <p:txBody>
          <a:bodyPr wrap="square">
            <a:spAutoFit/>
          </a:bodyPr>
          <a:lstStyle/>
          <a:p>
            <a:pPr algn="ctr"/>
            <a:r>
              <a:rPr sz="1100" b="0" i="0">
                <a:solidFill>
                  <a:srgbClr val="52B788"/>
                </a:solidFill>
              </a:rPr>
              <a:t>Mix-Trans
Stage 3
(1/16)</a:t>
            </a:r>
          </a:p>
        </p:txBody>
      </p:sp>
      <p:cxnSp>
        <p:nvCxnSpPr>
          <p:cNvPr id="13" name="Connector 12"/>
          <p:cNvCxnSpPr/>
          <p:nvPr/>
        </p:nvCxnSpPr>
        <p:spPr>
          <a:xfrm>
            <a:off x="5349240" y="1874519"/>
            <a:ext cx="228600" cy="0"/>
          </a:xfrm>
          <a:prstGeom prst="line">
            <a:avLst/>
          </a:prstGeom>
          <a:ln w="15240">
            <a:solidFill>
              <a:srgbClr val="90E0E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577840" y="1371600"/>
            <a:ext cx="1508760" cy="100584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3559" y="1417320"/>
            <a:ext cx="1417320" cy="868680"/>
          </a:xfrm>
          <a:prstGeom prst="rect">
            <a:avLst/>
          </a:prstGeom>
          <a:noFill/>
        </p:spPr>
        <p:txBody>
          <a:bodyPr wrap="square">
            <a:spAutoFit/>
          </a:bodyPr>
          <a:lstStyle/>
          <a:p>
            <a:pPr algn="ctr"/>
            <a:r>
              <a:rPr sz="1100" b="0" i="0">
                <a:solidFill>
                  <a:srgbClr val="F4A261"/>
                </a:solidFill>
              </a:rPr>
              <a:t>Mix-Trans
Stage 4
(1/32)</a:t>
            </a:r>
          </a:p>
        </p:txBody>
      </p:sp>
      <p:sp>
        <p:nvSpPr>
          <p:cNvPr id="16" name="Rectangle 15"/>
          <p:cNvSpPr/>
          <p:nvPr/>
        </p:nvSpPr>
        <p:spPr>
          <a:xfrm>
            <a:off x="1371600" y="2606040"/>
            <a:ext cx="4572000" cy="685800"/>
          </a:xfrm>
          <a:prstGeom prst="rect">
            <a:avLst/>
          </a:prstGeom>
          <a:solidFill>
            <a:srgbClr val="1A1A40"/>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63040" y="2670048"/>
            <a:ext cx="4389120" cy="530352"/>
          </a:xfrm>
          <a:prstGeom prst="rect">
            <a:avLst/>
          </a:prstGeom>
          <a:noFill/>
        </p:spPr>
        <p:txBody>
          <a:bodyPr wrap="square">
            <a:spAutoFit/>
          </a:bodyPr>
          <a:lstStyle/>
          <a:p>
            <a:pPr algn="l"/>
            <a:r>
              <a:rPr sz="1300" b="1" i="0">
                <a:solidFill>
                  <a:srgbClr val="B583FF"/>
                </a:solidFill>
              </a:rPr>
              <a:t>Lightweight MLP Decoder  →  logits @ ¼ resolution  (1×19×H/4×W/4)</a:t>
            </a:r>
          </a:p>
        </p:txBody>
      </p:sp>
      <p:sp>
        <p:nvSpPr>
          <p:cNvPr id="18" name="Rectangle 17"/>
          <p:cNvSpPr/>
          <p:nvPr/>
        </p:nvSpPr>
        <p:spPr>
          <a:xfrm>
            <a:off x="1371600" y="3493008"/>
            <a:ext cx="4572000" cy="594360"/>
          </a:xfrm>
          <a:prstGeom prst="rect">
            <a:avLst/>
          </a:prstGeom>
          <a:solidFill>
            <a:srgbClr val="0A2A1A"/>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63040" y="3566160"/>
            <a:ext cx="4389120" cy="457200"/>
          </a:xfrm>
          <a:prstGeom prst="rect">
            <a:avLst/>
          </a:prstGeom>
          <a:noFill/>
        </p:spPr>
        <p:txBody>
          <a:bodyPr wrap="square">
            <a:spAutoFit/>
          </a:bodyPr>
          <a:lstStyle/>
          <a:p>
            <a:pPr algn="l"/>
            <a:r>
              <a:rPr sz="1300" b="0" i="0">
                <a:solidFill>
                  <a:srgbClr val="52B788"/>
                </a:solidFill>
              </a:rPr>
              <a:t>F.interpolate  (bilinear, align_corners=False)  →  full resolution  (1×19×H×W)</a:t>
            </a:r>
          </a:p>
        </p:txBody>
      </p:sp>
      <p:sp>
        <p:nvSpPr>
          <p:cNvPr id="20" name="Rectangle 19"/>
          <p:cNvSpPr/>
          <p:nvPr/>
        </p:nvSpPr>
        <p:spPr>
          <a:xfrm>
            <a:off x="1371600" y="4279392"/>
            <a:ext cx="2103120" cy="594360"/>
          </a:xfrm>
          <a:prstGeom prst="rect">
            <a:avLst/>
          </a:prstGeom>
          <a:solidFill>
            <a:srgbClr val="1E2D3D"/>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4315968"/>
            <a:ext cx="1920240" cy="521207"/>
          </a:xfrm>
          <a:prstGeom prst="rect">
            <a:avLst/>
          </a:prstGeom>
          <a:noFill/>
        </p:spPr>
        <p:txBody>
          <a:bodyPr wrap="square">
            <a:spAutoFit/>
          </a:bodyPr>
          <a:lstStyle/>
          <a:p>
            <a:pPr algn="l"/>
            <a:r>
              <a:rPr sz="1300" b="0" i="0">
                <a:solidFill>
                  <a:srgbClr val="FFD166"/>
                </a:solidFill>
              </a:rPr>
              <a:t>softmax(dim=1)
P(skin) per pixel</a:t>
            </a:r>
          </a:p>
        </p:txBody>
      </p:sp>
      <p:sp>
        <p:nvSpPr>
          <p:cNvPr id="22" name="Rectangle 21"/>
          <p:cNvSpPr/>
          <p:nvPr/>
        </p:nvSpPr>
        <p:spPr>
          <a:xfrm>
            <a:off x="3657600" y="4279392"/>
            <a:ext cx="2286000" cy="594360"/>
          </a:xfrm>
          <a:prstGeom prst="rect">
            <a:avLst/>
          </a:prstGeom>
          <a:solidFill>
            <a:srgbClr val="1E2D3D"/>
          </a:solidFill>
          <a:ln w="1524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39" y="4315968"/>
            <a:ext cx="2103120" cy="521207"/>
          </a:xfrm>
          <a:prstGeom prst="rect">
            <a:avLst/>
          </a:prstGeom>
          <a:noFill/>
        </p:spPr>
        <p:txBody>
          <a:bodyPr wrap="square">
            <a:spAutoFit/>
          </a:bodyPr>
          <a:lstStyle/>
          <a:p>
            <a:pPr algn="l"/>
            <a:r>
              <a:rPr sz="1300" b="0" i="0">
                <a:solidFill>
                  <a:srgbClr val="FF6B6B"/>
                </a:solidFill>
              </a:rPr>
              <a:t>argmax == 1
hard skin mask</a:t>
            </a:r>
          </a:p>
        </p:txBody>
      </p:sp>
      <p:cxnSp>
        <p:nvCxnSpPr>
          <p:cNvPr id="24" name="Connector 23"/>
          <p:cNvCxnSpPr/>
          <p:nvPr/>
        </p:nvCxnSpPr>
        <p:spPr>
          <a:xfrm>
            <a:off x="3657600" y="3291840"/>
            <a:ext cx="0" cy="201168"/>
          </a:xfrm>
          <a:prstGeom prst="line">
            <a:avLst/>
          </a:prstGeom>
          <a:ln w="22860">
            <a:solidFill>
              <a:srgbClr val="52B78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423160" y="4087368"/>
            <a:ext cx="0" cy="192024"/>
          </a:xfrm>
          <a:prstGeom prst="line">
            <a:avLst/>
          </a:prstGeom>
          <a:ln w="22860">
            <a:solidFill>
              <a:srgbClr val="FFD1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72000" y="4087368"/>
            <a:ext cx="0" cy="192024"/>
          </a:xfrm>
          <a:prstGeom prst="line">
            <a:avLst/>
          </a:prstGeom>
          <a:ln w="22860">
            <a:solidFill>
              <a:srgbClr val="FF6B6B"/>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400800" y="1280160"/>
            <a:ext cx="5486400" cy="182880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1316736"/>
            <a:ext cx="5303520" cy="1719072"/>
          </a:xfrm>
          <a:prstGeom prst="rect">
            <a:avLst/>
          </a:prstGeom>
          <a:noFill/>
        </p:spPr>
        <p:txBody>
          <a:bodyPr wrap="square">
            <a:spAutoFit/>
          </a:bodyPr>
          <a:lstStyle/>
          <a:p>
            <a:pPr algn="l"/>
            <a:r>
              <a:rPr sz="1350" b="1">
                <a:solidFill>
                  <a:srgbClr val="00B4D8"/>
                </a:solidFill>
              </a:rPr>
              <a:t>parse_skin()  — what it returns</a:t>
            </a:r>
          </a:p>
          <a:p>
            <a:pPr algn="l"/>
            <a:r>
              <a:rPr sz="1350" b="0">
                <a:solidFill>
                  <a:srgbClr val="FFFFFF"/>
                </a:solidFill>
              </a:rPr>
              <a:t>① Hard mask: bool (H,W)  — argmax==1 (skin class)</a:t>
            </a:r>
          </a:p>
          <a:p>
            <a:pPr algn="l"/>
            <a:r>
              <a:rPr sz="1350" b="0">
                <a:solidFill>
                  <a:srgbClr val="FFD166"/>
                </a:solidFill>
              </a:rPr>
              <a:t>② Soft prob map: float32 (H,W)  — P(skin)∈[0,1]</a:t>
            </a:r>
          </a:p>
          <a:p>
            <a:pPr algn="l"/>
            <a:r>
              <a:rPr sz="1350" b="0">
                <a:solidFill>
                  <a:srgbClr val="FFFFFF"/>
                </a:solidFill>
              </a:rPr>
              <a:t/>
            </a:r>
          </a:p>
          <a:p>
            <a:pPr algn="l"/>
            <a:r>
              <a:rPr sz="1350" b="0">
                <a:solidFill>
                  <a:srgbClr val="CCD5E0"/>
                </a:solidFill>
              </a:rPr>
              <a:t>Hard mask → pixel inclusion/exclusion (Boolean ops)</a:t>
            </a:r>
          </a:p>
          <a:p>
            <a:pPr algn="l"/>
            <a:r>
              <a:rPr sz="1350" b="0">
                <a:solidFill>
                  <a:srgbClr val="CCD5E0"/>
                </a:solidFill>
              </a:rPr>
              <a:t>Soft map → per-pixel weight during RGB extraction</a:t>
            </a:r>
          </a:p>
          <a:p>
            <a:pPr algn="l"/>
            <a:r>
              <a:rPr sz="1350" b="0">
                <a:solidFill>
                  <a:srgbClr val="52B788"/>
                </a:solidFill>
              </a:rPr>
              <a:t>Pixels at 90% confidence contribute 90× more</a:t>
            </a:r>
          </a:p>
          <a:p>
            <a:pPr algn="l"/>
            <a:r>
              <a:rPr sz="1350" b="0">
                <a:solidFill>
                  <a:srgbClr val="52B788"/>
                </a:solidFill>
              </a:rPr>
              <a:t>than pixels at 10% confidence.</a:t>
            </a:r>
          </a:p>
        </p:txBody>
      </p:sp>
      <p:sp>
        <p:nvSpPr>
          <p:cNvPr id="29" name="Rectangle 28"/>
          <p:cNvSpPr/>
          <p:nvPr/>
        </p:nvSpPr>
        <p:spPr>
          <a:xfrm>
            <a:off x="6400800" y="3246120"/>
            <a:ext cx="5486400" cy="141732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282696"/>
            <a:ext cx="5303520" cy="1307592"/>
          </a:xfrm>
          <a:prstGeom prst="rect">
            <a:avLst/>
          </a:prstGeom>
          <a:noFill/>
        </p:spPr>
        <p:txBody>
          <a:bodyPr wrap="square">
            <a:spAutoFit/>
          </a:bodyPr>
          <a:lstStyle/>
          <a:p>
            <a:pPr algn="l"/>
            <a:r>
              <a:rPr sz="1350" b="1">
                <a:solidFill>
                  <a:srgbClr val="F4A261"/>
                </a:solidFill>
              </a:rPr>
              <a:t>Speed: every 10 frames  (BISENET_EVERY = 10)</a:t>
            </a:r>
          </a:p>
          <a:p>
            <a:pPr algn="l"/>
            <a:r>
              <a:rPr sz="1350" b="0">
                <a:solidFill>
                  <a:srgbClr val="FFFFFF"/>
                </a:solidFill>
              </a:rPr>
              <a:t>Face crop → rescale to ≤384px max dim → SegFormer</a:t>
            </a:r>
          </a:p>
          <a:p>
            <a:pPr algn="l"/>
            <a:r>
              <a:rPr sz="1350" b="0">
                <a:solidFill>
                  <a:srgbClr val="FFFFFF"/>
                </a:solidFill>
              </a:rPr>
              <a:t>→ resize back to original crop → embed in full frame</a:t>
            </a:r>
          </a:p>
          <a:p>
            <a:pPr algn="l"/>
            <a:r>
              <a:rPr sz="1350" b="0">
                <a:solidFill>
                  <a:srgbClr val="CCD5E0"/>
                </a:solidFill>
              </a:rPr>
              <a:t>EMA (α=0.03) bridges the 10-frame gap smoothly:</a:t>
            </a:r>
          </a:p>
          <a:p>
            <a:pPr algn="l"/>
            <a:r>
              <a:rPr sz="1350" b="0">
                <a:solidFill>
                  <a:srgbClr val="FFD166"/>
                </a:solidFill>
              </a:rPr>
              <a:t>sk_prob_smooth += 0.03 × (sk_prob_new − sk_prob_smooth)</a:t>
            </a:r>
          </a:p>
          <a:p>
            <a:pPr algn="l"/>
            <a:r>
              <a:rPr sz="1350" b="0">
                <a:solidFill>
                  <a:srgbClr val="CCD5E0"/>
                </a:solidFill>
              </a:rPr>
              <a:t>Time constant ≈ 1.1 s  at 30 fps</a:t>
            </a:r>
          </a:p>
        </p:txBody>
      </p:sp>
      <p:sp>
        <p:nvSpPr>
          <p:cNvPr id="31" name="Rectangle 30"/>
          <p:cNvSpPr/>
          <p:nvPr/>
        </p:nvSpPr>
        <p:spPr>
          <a:xfrm>
            <a:off x="6400800" y="4800600"/>
            <a:ext cx="5486400" cy="68580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846320"/>
            <a:ext cx="5303520" cy="566928"/>
          </a:xfrm>
          <a:prstGeom prst="rect">
            <a:avLst/>
          </a:prstGeom>
          <a:noFill/>
        </p:spPr>
        <p:txBody>
          <a:bodyPr wrap="square">
            <a:spAutoFit/>
          </a:bodyPr>
          <a:lstStyle/>
          <a:p>
            <a:pPr algn="l"/>
            <a:r>
              <a:rPr sz="1300" b="0" i="0">
                <a:solidFill>
                  <a:srgbClr val="B583FF"/>
                </a:solidFill>
              </a:rPr>
              <a:t>torch.no_grad()  →  disables gradient tracking  →  30% faster inference  (no backprop graph)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Adaptive Multi-Method Colour Skin Detection</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3 independent colour-space methods · per-half fitting · majority vote</a:t>
            </a:r>
          </a:p>
        </p:txBody>
      </p:sp>
      <p:sp>
        <p:nvSpPr>
          <p:cNvPr id="5" name="Rectangle 4"/>
          <p:cNvSpPr/>
          <p:nvPr/>
        </p:nvSpPr>
        <p:spPr>
          <a:xfrm>
            <a:off x="320040" y="1280160"/>
            <a:ext cx="3657600" cy="292608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325880"/>
            <a:ext cx="3474720" cy="548640"/>
          </a:xfrm>
          <a:prstGeom prst="rect">
            <a:avLst/>
          </a:prstGeom>
          <a:noFill/>
        </p:spPr>
        <p:txBody>
          <a:bodyPr wrap="square">
            <a:spAutoFit/>
          </a:bodyPr>
          <a:lstStyle/>
          <a:p>
            <a:pPr algn="l"/>
            <a:r>
              <a:rPr sz="1500" b="1" i="0">
                <a:solidFill>
                  <a:srgbClr val="00B4D8"/>
                </a:solidFill>
              </a:rPr>
              <a:t>Method 1
Adaptive YCbCr</a:t>
            </a:r>
          </a:p>
        </p:txBody>
      </p:sp>
      <p:sp>
        <p:nvSpPr>
          <p:cNvPr id="7" name="TextBox 6"/>
          <p:cNvSpPr txBox="1"/>
          <p:nvPr/>
        </p:nvSpPr>
        <p:spPr>
          <a:xfrm>
            <a:off x="411480" y="1920240"/>
            <a:ext cx="3474720" cy="2148840"/>
          </a:xfrm>
          <a:prstGeom prst="rect">
            <a:avLst/>
          </a:prstGeom>
          <a:noFill/>
        </p:spPr>
        <p:txBody>
          <a:bodyPr wrap="square">
            <a:spAutoFit/>
          </a:bodyPr>
          <a:lstStyle/>
          <a:p>
            <a:pPr algn="l"/>
            <a:r>
              <a:rPr sz="1300" b="0" i="0">
                <a:solidFill>
                  <a:srgbClr val="FFFFFF"/>
                </a:solidFill>
              </a:rPr>
              <a:t>Fit mean±2.5σ on Cb, Cr, Y
from BiSeNet seed pixels
(per image half)
Fallback: Chai &amp; Ngan 1999
Cb∈[77,127]  Cr∈[133,173]</a:t>
            </a:r>
          </a:p>
        </p:txBody>
      </p:sp>
      <p:sp>
        <p:nvSpPr>
          <p:cNvPr id="8" name="Rectangle 7"/>
          <p:cNvSpPr/>
          <p:nvPr/>
        </p:nvSpPr>
        <p:spPr>
          <a:xfrm>
            <a:off x="4297679" y="1280160"/>
            <a:ext cx="3657600" cy="292608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1325880"/>
            <a:ext cx="3474720" cy="548640"/>
          </a:xfrm>
          <a:prstGeom prst="rect">
            <a:avLst/>
          </a:prstGeom>
          <a:noFill/>
        </p:spPr>
        <p:txBody>
          <a:bodyPr wrap="square">
            <a:spAutoFit/>
          </a:bodyPr>
          <a:lstStyle/>
          <a:p>
            <a:pPr algn="l"/>
            <a:r>
              <a:rPr sz="1500" b="1" i="0">
                <a:solidFill>
                  <a:srgbClr val="F4A261"/>
                </a:solidFill>
              </a:rPr>
              <a:t>Method 2
Kovac RGB Rule</a:t>
            </a:r>
          </a:p>
        </p:txBody>
      </p:sp>
      <p:sp>
        <p:nvSpPr>
          <p:cNvPr id="10" name="TextBox 9"/>
          <p:cNvSpPr txBox="1"/>
          <p:nvPr/>
        </p:nvSpPr>
        <p:spPr>
          <a:xfrm>
            <a:off x="4389120" y="1920240"/>
            <a:ext cx="3474720" cy="2148840"/>
          </a:xfrm>
          <a:prstGeom prst="rect">
            <a:avLst/>
          </a:prstGeom>
          <a:noFill/>
        </p:spPr>
        <p:txBody>
          <a:bodyPr wrap="square">
            <a:spAutoFit/>
          </a:bodyPr>
          <a:lstStyle/>
          <a:p>
            <a:pPr algn="l"/>
            <a:r>
              <a:rPr sz="1300" b="0" i="0">
                <a:solidFill>
                  <a:srgbClr val="FFFFFF"/>
                </a:solidFill>
              </a:rPr>
              <a:t>Static structural rule:
R&gt;95, G&gt;40, B&gt;20
|max−min|&gt;15
|R−G|&gt;15, R&gt;G, R&gt;B
Skin-tone agnostic</a:t>
            </a:r>
          </a:p>
        </p:txBody>
      </p:sp>
      <p:sp>
        <p:nvSpPr>
          <p:cNvPr id="11" name="Rectangle 10"/>
          <p:cNvSpPr/>
          <p:nvPr/>
        </p:nvSpPr>
        <p:spPr>
          <a:xfrm>
            <a:off x="8275319" y="1280160"/>
            <a:ext cx="3657600" cy="292608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1325880"/>
            <a:ext cx="3474720" cy="548640"/>
          </a:xfrm>
          <a:prstGeom prst="rect">
            <a:avLst/>
          </a:prstGeom>
          <a:noFill/>
        </p:spPr>
        <p:txBody>
          <a:bodyPr wrap="square">
            <a:spAutoFit/>
          </a:bodyPr>
          <a:lstStyle/>
          <a:p>
            <a:pPr algn="l"/>
            <a:r>
              <a:rPr sz="1500" b="1" i="0">
                <a:solidFill>
                  <a:srgbClr val="52B788"/>
                </a:solidFill>
              </a:rPr>
              <a:t>Method 3
Adaptive HSV</a:t>
            </a:r>
          </a:p>
        </p:txBody>
      </p:sp>
      <p:sp>
        <p:nvSpPr>
          <p:cNvPr id="13" name="TextBox 12"/>
          <p:cNvSpPr txBox="1"/>
          <p:nvPr/>
        </p:nvSpPr>
        <p:spPr>
          <a:xfrm>
            <a:off x="8366759" y="1920240"/>
            <a:ext cx="3474720" cy="2148840"/>
          </a:xfrm>
          <a:prstGeom prst="rect">
            <a:avLst/>
          </a:prstGeom>
          <a:noFill/>
        </p:spPr>
        <p:txBody>
          <a:bodyPr wrap="square">
            <a:spAutoFit/>
          </a:bodyPr>
          <a:lstStyle/>
          <a:p>
            <a:pPr algn="l"/>
            <a:r>
              <a:rPr sz="1300" b="0" i="0">
                <a:solidFill>
                  <a:srgbClr val="FFFFFF"/>
                </a:solidFill>
              </a:rPr>
              <a:t>Circular mean of hue:
atan2(mean(sin H), mean(cos H))
Fit ±2.5σ on H and S
Wrap-around handled correctly</a:t>
            </a:r>
          </a:p>
        </p:txBody>
      </p:sp>
      <p:sp>
        <p:nvSpPr>
          <p:cNvPr id="14" name="Rectangle 13"/>
          <p:cNvSpPr/>
          <p:nvPr/>
        </p:nvSpPr>
        <p:spPr>
          <a:xfrm>
            <a:off x="320040" y="4343400"/>
            <a:ext cx="5029200" cy="1005840"/>
          </a:xfrm>
          <a:prstGeom prst="rect">
            <a:avLst/>
          </a:prstGeom>
          <a:solidFill>
            <a:srgbClr val="1A0A30"/>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4407408"/>
            <a:ext cx="4846320" cy="365760"/>
          </a:xfrm>
          <a:prstGeom prst="rect">
            <a:avLst/>
          </a:prstGeom>
          <a:noFill/>
        </p:spPr>
        <p:txBody>
          <a:bodyPr wrap="square">
            <a:spAutoFit/>
          </a:bodyPr>
          <a:lstStyle/>
          <a:p>
            <a:pPr algn="l"/>
            <a:r>
              <a:rPr sz="1450" b="1" i="0">
                <a:solidFill>
                  <a:srgbClr val="FFD166"/>
                </a:solidFill>
              </a:rPr>
              <a:t>vote = m1 + m2 + m3     →     (vote ≥ 2) | shadow_recovery</a:t>
            </a:r>
          </a:p>
        </p:txBody>
      </p:sp>
      <p:sp>
        <p:nvSpPr>
          <p:cNvPr id="16" name="TextBox 15"/>
          <p:cNvSpPr txBox="1"/>
          <p:nvPr/>
        </p:nvSpPr>
        <p:spPr>
          <a:xfrm>
            <a:off x="411480" y="4828032"/>
            <a:ext cx="4846320" cy="457200"/>
          </a:xfrm>
          <a:prstGeom prst="rect">
            <a:avLst/>
          </a:prstGeom>
          <a:noFill/>
        </p:spPr>
        <p:txBody>
          <a:bodyPr wrap="square">
            <a:spAutoFit/>
          </a:bodyPr>
          <a:lstStyle/>
          <a:p>
            <a:pPr algn="l"/>
            <a:r>
              <a:rPr sz="1300" b="0" i="0">
                <a:solidFill>
                  <a:srgbClr val="CCD5E0"/>
                </a:solidFill>
              </a:rPr>
              <a:t>Pixel accepted as skin if ≥ 2 of 3 methods agree  OR  it matches the shadow skin rule</a:t>
            </a:r>
          </a:p>
        </p:txBody>
      </p:sp>
      <p:sp>
        <p:nvSpPr>
          <p:cNvPr id="17" name="Rectangle 16"/>
          <p:cNvSpPr/>
          <p:nvPr/>
        </p:nvSpPr>
        <p:spPr>
          <a:xfrm>
            <a:off x="5577840" y="4343400"/>
            <a:ext cx="6400800" cy="1005840"/>
          </a:xfrm>
          <a:prstGeom prst="rect">
            <a:avLst/>
          </a:prstGeom>
          <a:solidFill>
            <a:srgbClr val="0A1A30"/>
          </a:solidFill>
          <a:ln w="15240">
            <a:solidFill>
              <a:srgbClr val="90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0" y="4379976"/>
            <a:ext cx="6217920" cy="896112"/>
          </a:xfrm>
          <a:prstGeom prst="rect">
            <a:avLst/>
          </a:prstGeom>
          <a:noFill/>
        </p:spPr>
        <p:txBody>
          <a:bodyPr wrap="square">
            <a:spAutoFit/>
          </a:bodyPr>
          <a:lstStyle/>
          <a:p>
            <a:pPr algn="l"/>
            <a:r>
              <a:rPr sz="1350" b="1">
                <a:solidFill>
                  <a:srgbClr val="90E0EF"/>
                </a:solidFill>
              </a:rPr>
              <a:t>Shadow Recovery Override</a:t>
            </a:r>
          </a:p>
          <a:p>
            <a:pPr algn="l"/>
            <a:r>
              <a:rPr sz="1350" b="0">
                <a:solidFill>
                  <a:srgbClr val="FFD166"/>
                </a:solidFill>
              </a:rPr>
              <a:t>Cb∈[60,145]  Cr∈[115,190]  Y∈[10,45)  S≥0.08</a:t>
            </a:r>
          </a:p>
          <a:p>
            <a:pPr algn="l"/>
            <a:r>
              <a:rPr sz="1350" b="0">
                <a:solidFill>
                  <a:srgbClr val="CCD5E0"/>
                </a:solidFill>
              </a:rPr>
              <a:t>Broadened chrominance for dark-lit skin — standard YCbCr fails here.</a:t>
            </a:r>
          </a:p>
        </p:txBody>
      </p:sp>
      <p:sp>
        <p:nvSpPr>
          <p:cNvPr id="19" name="Rectangle 18"/>
          <p:cNvSpPr/>
          <p:nvPr/>
        </p:nvSpPr>
        <p:spPr>
          <a:xfrm>
            <a:off x="320040" y="5513832"/>
            <a:ext cx="11658600" cy="658368"/>
          </a:xfrm>
          <a:prstGeom prst="rect">
            <a:avLst/>
          </a:prstGeom>
          <a:solidFill>
            <a:srgbClr val="121200"/>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5559552"/>
            <a:ext cx="11475720" cy="530352"/>
          </a:xfrm>
          <a:prstGeom prst="rect">
            <a:avLst/>
          </a:prstGeom>
          <a:noFill/>
        </p:spPr>
        <p:txBody>
          <a:bodyPr wrap="square">
            <a:spAutoFit/>
          </a:bodyPr>
          <a:lstStyle/>
          <a:p>
            <a:pPr algn="l"/>
            <a:r>
              <a:rPr sz="1250" b="0" i="0">
                <a:solidFill>
                  <a:srgbClr val="FFD166"/>
                </a:solidFill>
              </a:rPr>
              <a:t>Image split left/right halves — parameters fitted independently to handle asymmetric lighting (e.g. window on one side of subject)  ·  seed = BiSeNet confirmed pixels ∩ face ROI  ·  min 30 seed pixels required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Texture-Based Hair Rejection</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LBP · Gradient Coherence · SVC · Specular mask  →  dual-evidence requirement</a:t>
            </a:r>
          </a:p>
        </p:txBody>
      </p:sp>
      <p:sp>
        <p:nvSpPr>
          <p:cNvPr id="5" name="Rectangle 4"/>
          <p:cNvSpPr/>
          <p:nvPr/>
        </p:nvSpPr>
        <p:spPr>
          <a:xfrm>
            <a:off x="274320" y="1280160"/>
            <a:ext cx="2697480" cy="310896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1316736"/>
            <a:ext cx="2551176" cy="457200"/>
          </a:xfrm>
          <a:prstGeom prst="rect">
            <a:avLst/>
          </a:prstGeom>
          <a:noFill/>
        </p:spPr>
        <p:txBody>
          <a:bodyPr wrap="square">
            <a:spAutoFit/>
          </a:bodyPr>
          <a:lstStyle/>
          <a:p>
            <a:pPr algn="l"/>
            <a:r>
              <a:rPr sz="1300" b="1" i="0">
                <a:solidFill>
                  <a:srgbClr val="00B4D8"/>
                </a:solidFill>
              </a:rPr>
              <a:t>LBP Transition Count</a:t>
            </a:r>
          </a:p>
        </p:txBody>
      </p:sp>
      <p:sp>
        <p:nvSpPr>
          <p:cNvPr id="7" name="TextBox 6"/>
          <p:cNvSpPr txBox="1"/>
          <p:nvPr/>
        </p:nvSpPr>
        <p:spPr>
          <a:xfrm>
            <a:off x="347472" y="1810512"/>
            <a:ext cx="2551176" cy="2514600"/>
          </a:xfrm>
          <a:prstGeom prst="rect">
            <a:avLst/>
          </a:prstGeom>
          <a:noFill/>
        </p:spPr>
        <p:txBody>
          <a:bodyPr wrap="square">
            <a:spAutoFit/>
          </a:bodyPr>
          <a:lstStyle/>
          <a:p>
            <a:pPr algn="l"/>
            <a:r>
              <a:rPr sz="1150" b="0" i="0">
                <a:solidFill>
                  <a:srgbClr val="FFFFFF"/>
                </a:solidFill>
              </a:rPr>
              <a:t>8-neighbour binary pattern per pixel
→ count 0→1/1→0 flips around ring
Skin: 0–2 transitions (smooth)
Hair: 6–8 transitions (fine texture)
Precomputed 256-entry lookup table
(module-level, computed once at import)</a:t>
            </a:r>
          </a:p>
        </p:txBody>
      </p:sp>
      <p:sp>
        <p:nvSpPr>
          <p:cNvPr id="8" name="Rectangle 7"/>
          <p:cNvSpPr/>
          <p:nvPr/>
        </p:nvSpPr>
        <p:spPr>
          <a:xfrm>
            <a:off x="3264408" y="1280160"/>
            <a:ext cx="2697480" cy="310896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316736"/>
            <a:ext cx="2551176" cy="457200"/>
          </a:xfrm>
          <a:prstGeom prst="rect">
            <a:avLst/>
          </a:prstGeom>
          <a:noFill/>
        </p:spPr>
        <p:txBody>
          <a:bodyPr wrap="square">
            <a:spAutoFit/>
          </a:bodyPr>
          <a:lstStyle/>
          <a:p>
            <a:pPr algn="l"/>
            <a:r>
              <a:rPr sz="1300" b="1" i="0">
                <a:solidFill>
                  <a:srgbClr val="52B788"/>
                </a:solidFill>
              </a:rPr>
              <a:t>Gradient Coherence</a:t>
            </a:r>
          </a:p>
        </p:txBody>
      </p:sp>
      <p:sp>
        <p:nvSpPr>
          <p:cNvPr id="10" name="TextBox 9"/>
          <p:cNvSpPr txBox="1"/>
          <p:nvPr/>
        </p:nvSpPr>
        <p:spPr>
          <a:xfrm>
            <a:off x="3337560" y="1810512"/>
            <a:ext cx="2551176" cy="2514600"/>
          </a:xfrm>
          <a:prstGeom prst="rect">
            <a:avLst/>
          </a:prstGeom>
          <a:noFill/>
        </p:spPr>
        <p:txBody>
          <a:bodyPr wrap="square">
            <a:spAutoFit/>
          </a:bodyPr>
          <a:lstStyle/>
          <a:p>
            <a:pPr algn="l"/>
            <a:r>
              <a:rPr sz="1150" b="0" i="0">
                <a:solidFill>
                  <a:srgbClr val="FFFFFF"/>
                </a:solidFill>
              </a:rPr>
              <a:t>Sobel → unit direction vectors
→ smooth with σ=6px Gaussian
→ magnitude of mean vector
Fibre-aligned hair: high coherence
Specular/uniform: moderate
Random noise: low coherence</a:t>
            </a:r>
          </a:p>
        </p:txBody>
      </p:sp>
      <p:sp>
        <p:nvSpPr>
          <p:cNvPr id="11" name="Rectangle 10"/>
          <p:cNvSpPr/>
          <p:nvPr/>
        </p:nvSpPr>
        <p:spPr>
          <a:xfrm>
            <a:off x="6254496" y="1280160"/>
            <a:ext cx="2697480" cy="310896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1316736"/>
            <a:ext cx="2551176" cy="457200"/>
          </a:xfrm>
          <a:prstGeom prst="rect">
            <a:avLst/>
          </a:prstGeom>
          <a:noFill/>
        </p:spPr>
        <p:txBody>
          <a:bodyPr wrap="square">
            <a:spAutoFit/>
          </a:bodyPr>
          <a:lstStyle/>
          <a:p>
            <a:pPr algn="l"/>
            <a:r>
              <a:rPr sz="1300" b="1" i="0">
                <a:solidFill>
                  <a:srgbClr val="F4A261"/>
                </a:solidFill>
              </a:rPr>
              <a:t>Spectral Variation Coeff</a:t>
            </a:r>
          </a:p>
        </p:txBody>
      </p:sp>
      <p:sp>
        <p:nvSpPr>
          <p:cNvPr id="13" name="TextBox 12"/>
          <p:cNvSpPr txBox="1"/>
          <p:nvPr/>
        </p:nvSpPr>
        <p:spPr>
          <a:xfrm>
            <a:off x="6327648" y="1810512"/>
            <a:ext cx="2551176" cy="2514600"/>
          </a:xfrm>
          <a:prstGeom prst="rect">
            <a:avLst/>
          </a:prstGeom>
          <a:noFill/>
        </p:spPr>
        <p:txBody>
          <a:bodyPr wrap="square">
            <a:spAutoFit/>
          </a:bodyPr>
          <a:lstStyle/>
          <a:p>
            <a:pPr algn="l"/>
            <a:r>
              <a:rPr sz="1150" b="0" i="0">
                <a:solidFill>
                  <a:srgbClr val="FFFFFF"/>
                </a:solidFill>
              </a:rPr>
              <a:t>SVC = σ/μ in 9×9 local window
Var(g) = E[g²] − E[g]²
High SVC = locally variable intensity
= texture / hair strand pattern
Normalised by μ+1 for brightness
independence</a:t>
            </a:r>
          </a:p>
        </p:txBody>
      </p:sp>
      <p:sp>
        <p:nvSpPr>
          <p:cNvPr id="14" name="Rectangle 13"/>
          <p:cNvSpPr/>
          <p:nvPr/>
        </p:nvSpPr>
        <p:spPr>
          <a:xfrm>
            <a:off x="9244584" y="1280160"/>
            <a:ext cx="2697480" cy="310896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17736" y="1316736"/>
            <a:ext cx="2551176" cy="457200"/>
          </a:xfrm>
          <a:prstGeom prst="rect">
            <a:avLst/>
          </a:prstGeom>
          <a:noFill/>
        </p:spPr>
        <p:txBody>
          <a:bodyPr wrap="square">
            <a:spAutoFit/>
          </a:bodyPr>
          <a:lstStyle/>
          <a:p>
            <a:pPr algn="l"/>
            <a:r>
              <a:rPr sz="1300" b="1" i="0">
                <a:solidFill>
                  <a:srgbClr val="B583FF"/>
                </a:solidFill>
              </a:rPr>
              <a:t>Specular Mask</a:t>
            </a:r>
          </a:p>
        </p:txBody>
      </p:sp>
      <p:sp>
        <p:nvSpPr>
          <p:cNvPr id="16" name="TextBox 15"/>
          <p:cNvSpPr txBox="1"/>
          <p:nvPr/>
        </p:nvSpPr>
        <p:spPr>
          <a:xfrm>
            <a:off x="9317736" y="1810512"/>
            <a:ext cx="2551176" cy="2514600"/>
          </a:xfrm>
          <a:prstGeom prst="rect">
            <a:avLst/>
          </a:prstGeom>
          <a:noFill/>
        </p:spPr>
        <p:txBody>
          <a:bodyPr wrap="square">
            <a:spAutoFit/>
          </a:bodyPr>
          <a:lstStyle/>
          <a:p>
            <a:pPr algn="l"/>
            <a:r>
              <a:rPr sz="1150" b="0" i="0">
                <a:solidFill>
                  <a:srgbClr val="FFFFFF"/>
                </a:solidFill>
              </a:rPr>
              <a:t>pixel &gt; local_mean(31×31) × 1.25 + 25
Mirror-reflected light — physically
distinct from skin colour.
Specular pixels: IMMUNE to hair
rejection (already excluded),
not counted in thresholds</a:t>
            </a:r>
          </a:p>
        </p:txBody>
      </p:sp>
      <p:sp>
        <p:nvSpPr>
          <p:cNvPr id="17" name="Rectangle 16"/>
          <p:cNvSpPr/>
          <p:nvPr/>
        </p:nvSpPr>
        <p:spPr>
          <a:xfrm>
            <a:off x="274320" y="4553712"/>
            <a:ext cx="11658600" cy="987552"/>
          </a:xfrm>
          <a:prstGeom prst="rect">
            <a:avLst/>
          </a:prstGeom>
          <a:solidFill>
            <a:srgbClr val="1A0505"/>
          </a:solidFill>
          <a:ln w="1524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4599432"/>
            <a:ext cx="11475720" cy="365760"/>
          </a:xfrm>
          <a:prstGeom prst="rect">
            <a:avLst/>
          </a:prstGeom>
          <a:noFill/>
        </p:spPr>
        <p:txBody>
          <a:bodyPr wrap="square">
            <a:spAutoFit/>
          </a:bodyPr>
          <a:lstStyle/>
          <a:p>
            <a:pPr algn="l"/>
            <a:r>
              <a:rPr sz="1500" b="1" i="0">
                <a:solidFill>
                  <a:srgbClr val="FF6B6B"/>
                </a:solidFill>
              </a:rPr>
              <a:t>Hair pixel  ≡  (LBP &gt; p70) AND ((Coherence &gt; p65) OR (SVC &gt; p65)) AND NOT specular</a:t>
            </a:r>
          </a:p>
        </p:txBody>
      </p:sp>
      <p:sp>
        <p:nvSpPr>
          <p:cNvPr id="19" name="TextBox 18"/>
          <p:cNvSpPr txBox="1"/>
          <p:nvPr/>
        </p:nvSpPr>
        <p:spPr>
          <a:xfrm>
            <a:off x="411480" y="4992624"/>
            <a:ext cx="11475720" cy="475488"/>
          </a:xfrm>
          <a:prstGeom prst="rect">
            <a:avLst/>
          </a:prstGeom>
          <a:noFill/>
        </p:spPr>
        <p:txBody>
          <a:bodyPr wrap="square">
            <a:spAutoFit/>
          </a:bodyPr>
          <a:lstStyle/>
          <a:p>
            <a:pPr algn="l"/>
            <a:r>
              <a:rPr sz="1300" b="0" i="0">
                <a:solidFill>
                  <a:srgbClr val="CCD5E0"/>
                </a:solidFill>
              </a:rPr>
              <a:t>Adaptive percentile thresholds — computed from current ROI distribution, not hardcoded values   ·   Forehead: pct=78 (stricter)   ·   Cheeks: pct=72 (more permissive, sideburns are common)</a:t>
            </a:r>
          </a:p>
        </p:txBody>
      </p:sp>
      <p:sp>
        <p:nvSpPr>
          <p:cNvPr id="20" name="Rectangle 19"/>
          <p:cNvSpPr/>
          <p:nvPr/>
        </p:nvSpPr>
        <p:spPr>
          <a:xfrm>
            <a:off x="274320" y="5669280"/>
            <a:ext cx="5760720" cy="530352"/>
          </a:xfrm>
          <a:prstGeom prst="rect">
            <a:avLst/>
          </a:prstGeom>
          <a:solidFill>
            <a:srgbClr val="1E2D3D"/>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5715000"/>
            <a:ext cx="5577840" cy="420624"/>
          </a:xfrm>
          <a:prstGeom prst="rect">
            <a:avLst/>
          </a:prstGeom>
          <a:noFill/>
        </p:spPr>
        <p:txBody>
          <a:bodyPr wrap="square">
            <a:spAutoFit/>
          </a:bodyPr>
          <a:lstStyle/>
          <a:p>
            <a:pPr algn="l"/>
            <a:r>
              <a:rPr sz="1250" b="0" i="0">
                <a:solidFill>
                  <a:srgbClr val="FFD166"/>
                </a:solidFill>
              </a:rPr>
              <a:t>Dual-evidence requirement: LBP alone is noisy → require corroboration from coherence OR SVC to suppress false positives</a:t>
            </a:r>
          </a:p>
        </p:txBody>
      </p:sp>
      <p:sp>
        <p:nvSpPr>
          <p:cNvPr id="22" name="Rectangle 21"/>
          <p:cNvSpPr/>
          <p:nvPr/>
        </p:nvSpPr>
        <p:spPr>
          <a:xfrm>
            <a:off x="6217920" y="5669280"/>
            <a:ext cx="5715000" cy="530352"/>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5715000"/>
            <a:ext cx="5577840" cy="420624"/>
          </a:xfrm>
          <a:prstGeom prst="rect">
            <a:avLst/>
          </a:prstGeom>
          <a:noFill/>
        </p:spPr>
        <p:txBody>
          <a:bodyPr wrap="square">
            <a:spAutoFit/>
          </a:bodyPr>
          <a:lstStyle/>
          <a:p>
            <a:pPr algn="l"/>
            <a:r>
              <a:rPr sz="1250" b="0" i="0">
                <a:solidFill>
                  <a:srgbClr val="52B788"/>
                </a:solidFill>
              </a:rPr>
              <a:t>All maps computed ONCE per frame → shared by forehead + cheek rejection calls (no recomputation)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ROI Polygon Construction</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Forehead (18 vertices) · Cheeks (7 vertices each) · Exclusion zones</a:t>
            </a:r>
          </a:p>
        </p:txBody>
      </p:sp>
      <p:sp>
        <p:nvSpPr>
          <p:cNvPr id="5" name="Oval 4"/>
          <p:cNvSpPr/>
          <p:nvPr/>
        </p:nvSpPr>
        <p:spPr>
          <a:xfrm>
            <a:off x="548640" y="1280160"/>
            <a:ext cx="3200400" cy="4572000"/>
          </a:xfrm>
          <a:prstGeom prst="ellipse">
            <a:avLst/>
          </a:prstGeom>
          <a:solidFill>
            <a:srgbClr val="2A1A10"/>
          </a:solidFill>
          <a:ln w="15240">
            <a:solidFill>
              <a:srgbClr val="CC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2377440" cy="594360"/>
          </a:xfrm>
          <a:prstGeom prst="rect">
            <a:avLst/>
          </a:prstGeom>
          <a:noFill/>
        </p:spPr>
        <p:txBody>
          <a:bodyPr wrap="square">
            <a:spAutoFit/>
          </a:bodyPr>
          <a:lstStyle/>
          <a:p>
            <a:pPr algn="ctr"/>
            <a:r>
              <a:rPr sz="1200" b="1" i="0">
                <a:solidFill>
                  <a:srgbClr val="00B4D8"/>
                </a:solidFill>
              </a:rPr>
              <a:t>FOREHEAD
(18 vertices)</a:t>
            </a:r>
          </a:p>
        </p:txBody>
      </p:sp>
      <p:sp>
        <p:nvSpPr>
          <p:cNvPr id="7" name="TextBox 6"/>
          <p:cNvSpPr txBox="1"/>
          <p:nvPr/>
        </p:nvSpPr>
        <p:spPr>
          <a:xfrm>
            <a:off x="640080" y="2926080"/>
            <a:ext cx="1097280" cy="502920"/>
          </a:xfrm>
          <a:prstGeom prst="rect">
            <a:avLst/>
          </a:prstGeom>
          <a:noFill/>
        </p:spPr>
        <p:txBody>
          <a:bodyPr wrap="square">
            <a:spAutoFit/>
          </a:bodyPr>
          <a:lstStyle/>
          <a:p>
            <a:pPr algn="ctr"/>
            <a:r>
              <a:rPr sz="1100" b="1" i="0">
                <a:solidFill>
                  <a:srgbClr val="FFD166"/>
                </a:solidFill>
              </a:rPr>
              <a:t>LEFT
CHEEK</a:t>
            </a:r>
          </a:p>
        </p:txBody>
      </p:sp>
      <p:sp>
        <p:nvSpPr>
          <p:cNvPr id="8" name="TextBox 7"/>
          <p:cNvSpPr txBox="1"/>
          <p:nvPr/>
        </p:nvSpPr>
        <p:spPr>
          <a:xfrm>
            <a:off x="2377440" y="2926080"/>
            <a:ext cx="1097280" cy="502920"/>
          </a:xfrm>
          <a:prstGeom prst="rect">
            <a:avLst/>
          </a:prstGeom>
          <a:noFill/>
        </p:spPr>
        <p:txBody>
          <a:bodyPr wrap="square">
            <a:spAutoFit/>
          </a:bodyPr>
          <a:lstStyle/>
          <a:p>
            <a:pPr algn="ctr"/>
            <a:r>
              <a:rPr sz="1100" b="1" i="0">
                <a:solidFill>
                  <a:srgbClr val="FFD166"/>
                </a:solidFill>
              </a:rPr>
              <a:t>RIGHT
CHEEK</a:t>
            </a:r>
          </a:p>
        </p:txBody>
      </p:sp>
      <p:sp>
        <p:nvSpPr>
          <p:cNvPr id="9" name="TextBox 8"/>
          <p:cNvSpPr txBox="1"/>
          <p:nvPr/>
        </p:nvSpPr>
        <p:spPr>
          <a:xfrm>
            <a:off x="1188720" y="4572000"/>
            <a:ext cx="1645920" cy="685800"/>
          </a:xfrm>
          <a:prstGeom prst="rect">
            <a:avLst/>
          </a:prstGeom>
          <a:noFill/>
        </p:spPr>
        <p:txBody>
          <a:bodyPr wrap="square">
            <a:spAutoFit/>
          </a:bodyPr>
          <a:lstStyle/>
          <a:p>
            <a:pPr algn="ctr"/>
            <a:r>
              <a:rPr sz="1000" b="0" i="0">
                <a:solidFill>
                  <a:srgbClr val="FF6B6B"/>
                </a:solidFill>
              </a:rPr>
              <a:t>EXCL ZONE
(moustache
+beard)</a:t>
            </a:r>
          </a:p>
        </p:txBody>
      </p:sp>
      <p:sp>
        <p:nvSpPr>
          <p:cNvPr id="10" name="Rectangle 9"/>
          <p:cNvSpPr/>
          <p:nvPr/>
        </p:nvSpPr>
        <p:spPr>
          <a:xfrm>
            <a:off x="4023360" y="1261872"/>
            <a:ext cx="7955279" cy="233172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33087" y="1298448"/>
            <a:ext cx="7772400" cy="384048"/>
          </a:xfrm>
          <a:prstGeom prst="rect">
            <a:avLst/>
          </a:prstGeom>
          <a:noFill/>
        </p:spPr>
        <p:txBody>
          <a:bodyPr wrap="square">
            <a:spAutoFit/>
          </a:bodyPr>
          <a:lstStyle/>
          <a:p>
            <a:pPr algn="l"/>
            <a:r>
              <a:rPr sz="1500" b="1" i="0">
                <a:solidFill>
                  <a:srgbClr val="00B4D8"/>
                </a:solidFill>
              </a:rPr>
              <a:t>Forehead Polygon</a:t>
            </a:r>
          </a:p>
        </p:txBody>
      </p:sp>
      <p:sp>
        <p:nvSpPr>
          <p:cNvPr id="12" name="TextBox 11"/>
          <p:cNvSpPr txBox="1"/>
          <p:nvPr/>
        </p:nvSpPr>
        <p:spPr>
          <a:xfrm>
            <a:off x="4133087" y="1719072"/>
            <a:ext cx="7772400" cy="1828800"/>
          </a:xfrm>
          <a:prstGeom prst="rect">
            <a:avLst/>
          </a:prstGeom>
          <a:noFill/>
        </p:spPr>
        <p:txBody>
          <a:bodyPr wrap="square">
            <a:spAutoFit/>
          </a:bodyPr>
          <a:lstStyle/>
          <a:p>
            <a:pPr algn="l"/>
            <a:r>
              <a:rPr sz="1300" b="0">
                <a:solidFill>
                  <a:srgbClr val="FFFFFF"/>
                </a:solidFill>
              </a:rPr>
              <a:t>18 vertices tracing: left temple-top → forehead upper arc → midline (pt 10) →</a:t>
            </a:r>
          </a:p>
          <a:p>
            <a:pPr algn="l"/>
            <a:r>
              <a:rPr sz="1300" b="0">
                <a:solidFill>
                  <a:srgbClr val="FFFFFF"/>
                </a:solidFill>
              </a:rPr>
              <a:t>right side → back along brow line → left temple</a:t>
            </a:r>
          </a:p>
          <a:p>
            <a:pPr algn="l"/>
            <a:r>
              <a:rPr sz="1300" b="0">
                <a:solidFill>
                  <a:srgbClr val="FFFFFF"/>
                </a:solidFill>
              </a:rPr>
              <a:t/>
            </a:r>
          </a:p>
          <a:p>
            <a:pPr algn="l"/>
            <a:r>
              <a:rPr sz="1300" b="0">
                <a:solidFill>
                  <a:srgbClr val="CCD5E0"/>
                </a:solidFill>
              </a:rPr>
              <a:t>Deliberate: goes ABOVE the eyebrows to include forehead skin,</a:t>
            </a:r>
          </a:p>
          <a:p>
            <a:pPr algn="l"/>
            <a:r>
              <a:rPr sz="1300" b="0">
                <a:solidFill>
                  <a:srgbClr val="CCD5E0"/>
                </a:solidFill>
              </a:rPr>
              <a:t>excludes brow hair which sits below brow_outer/brow_inner landmarks.</a:t>
            </a:r>
          </a:p>
        </p:txBody>
      </p:sp>
      <p:sp>
        <p:nvSpPr>
          <p:cNvPr id="13" name="Rectangle 12"/>
          <p:cNvSpPr/>
          <p:nvPr/>
        </p:nvSpPr>
        <p:spPr>
          <a:xfrm>
            <a:off x="4023360" y="3730752"/>
            <a:ext cx="7955279" cy="1920240"/>
          </a:xfrm>
          <a:prstGeom prst="rect">
            <a:avLst/>
          </a:prstGeom>
          <a:solidFill>
            <a:srgbClr val="1E2D3D"/>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33087" y="3767328"/>
            <a:ext cx="7772400" cy="384048"/>
          </a:xfrm>
          <a:prstGeom prst="rect">
            <a:avLst/>
          </a:prstGeom>
          <a:noFill/>
        </p:spPr>
        <p:txBody>
          <a:bodyPr wrap="square">
            <a:spAutoFit/>
          </a:bodyPr>
          <a:lstStyle/>
          <a:p>
            <a:pPr algn="l"/>
            <a:r>
              <a:rPr sz="1500" b="1" i="0">
                <a:solidFill>
                  <a:srgbClr val="FFD166"/>
                </a:solidFill>
              </a:rPr>
              <a:t>Cheek Polygon — parameterised fractions</a:t>
            </a:r>
          </a:p>
        </p:txBody>
      </p:sp>
      <p:sp>
        <p:nvSpPr>
          <p:cNvPr id="15" name="TextBox 14"/>
          <p:cNvSpPr txBox="1"/>
          <p:nvPr/>
        </p:nvSpPr>
        <p:spPr>
          <a:xfrm>
            <a:off x="4133087" y="4187952"/>
            <a:ext cx="7772400" cy="1389888"/>
          </a:xfrm>
          <a:prstGeom prst="rect">
            <a:avLst/>
          </a:prstGeom>
          <a:noFill/>
        </p:spPr>
        <p:txBody>
          <a:bodyPr wrap="square">
            <a:spAutoFit/>
          </a:bodyPr>
          <a:lstStyle/>
          <a:p>
            <a:pPr algn="l"/>
            <a:r>
              <a:rPr sz="1250" b="0">
                <a:solidFill>
                  <a:srgbClr val="FFFFFF"/>
                </a:solidFill>
              </a:rPr>
              <a:t>ey = eye_out.y + 0.12 × (jaw.y − eye_out.y)   ← top edge: 12% down from eye to jaw</a:t>
            </a:r>
          </a:p>
          <a:p>
            <a:pPr algn="l"/>
            <a:r>
              <a:rPr sz="1250" b="0">
                <a:solidFill>
                  <a:srgbClr val="FFFFFF"/>
                </a:solidFill>
              </a:rPr>
              <a:t>ly = eye_out.y + 0.72 × (jaw.y − eye_out.y)   ← bottom edge: 72% down</a:t>
            </a:r>
          </a:p>
          <a:p>
            <a:pPr algn="l"/>
            <a:r>
              <a:rPr sz="1250" b="0">
                <a:solidFill>
                  <a:srgbClr val="FFFFFF"/>
                </a:solidFill>
              </a:rPr>
              <a:t/>
            </a:r>
          </a:p>
          <a:p>
            <a:pPr algn="l"/>
            <a:r>
              <a:rPr sz="1250" b="0">
                <a:solidFill>
                  <a:srgbClr val="CCD5E0"/>
                </a:solidFill>
              </a:rPr>
              <a:t>12%: clears the periorbital area (thinner skin, different vasculature)</a:t>
            </a:r>
          </a:p>
          <a:p>
            <a:pPr algn="l"/>
            <a:r>
              <a:rPr sz="1250" b="0">
                <a:solidFill>
                  <a:srgbClr val="CCD5E0"/>
                </a:solidFill>
              </a:rPr>
              <a:t>72%: stops above jaw/chin (beard region)</a:t>
            </a:r>
          </a:p>
          <a:p>
            <a:pPr algn="l"/>
            <a:r>
              <a:rPr sz="1250" b="0">
                <a:solidFill>
                  <a:srgbClr val="CCD5E0"/>
                </a:solidFill>
              </a:rPr>
              <a:t>Medial edge: nose ala x-coordinate   ·   Lateral: temple x-coordinate</a:t>
            </a:r>
          </a:p>
        </p:txBody>
      </p:sp>
      <p:sp>
        <p:nvSpPr>
          <p:cNvPr id="16" name="Rectangle 15"/>
          <p:cNvSpPr/>
          <p:nvPr/>
        </p:nvSpPr>
        <p:spPr>
          <a:xfrm>
            <a:off x="4023360" y="5779008"/>
            <a:ext cx="7955279" cy="685800"/>
          </a:xfrm>
          <a:prstGeom prst="rect">
            <a:avLst/>
          </a:prstGeom>
          <a:solidFill>
            <a:srgbClr val="1A0000"/>
          </a:solidFill>
          <a:ln w="1524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33087" y="5824728"/>
            <a:ext cx="7772400" cy="566928"/>
          </a:xfrm>
          <a:prstGeom prst="rect">
            <a:avLst/>
          </a:prstGeom>
          <a:noFill/>
        </p:spPr>
        <p:txBody>
          <a:bodyPr wrap="square">
            <a:spAutoFit/>
          </a:bodyPr>
          <a:lstStyle/>
          <a:p>
            <a:pPr algn="l"/>
            <a:r>
              <a:rPr sz="1300" b="0" i="0">
                <a:solidFill>
                  <a:srgbClr val="FF6B6B"/>
                </a:solidFill>
              </a:rPr>
              <a:t>Exclusion zones: moustache (pts 129,358,291,61) ∪ beard (pts 61,291,397,152,172)  →  always removed from final skin mask regardless of colour votes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GMM Clustering in Cb–Cr Space</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Gaussian Mixture Model · 3 components · fitted on BiSeNet-confirmed pixels</a:t>
            </a:r>
          </a:p>
        </p:txBody>
      </p:sp>
      <p:sp>
        <p:nvSpPr>
          <p:cNvPr id="5" name="Rectangle 4"/>
          <p:cNvSpPr/>
          <p:nvPr/>
        </p:nvSpPr>
        <p:spPr>
          <a:xfrm>
            <a:off x="365760" y="1325880"/>
            <a:ext cx="4389120" cy="4389120"/>
          </a:xfrm>
          <a:prstGeom prst="rect">
            <a:avLst/>
          </a:prstGeom>
          <a:solidFill>
            <a:srgbClr val="1E2D3D"/>
          </a:solidFill>
          <a:ln w="15240">
            <a:solidFill>
              <a:srgbClr val="48C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4206240" cy="320040"/>
          </a:xfrm>
          <a:prstGeom prst="rect">
            <a:avLst/>
          </a:prstGeom>
          <a:noFill/>
        </p:spPr>
        <p:txBody>
          <a:bodyPr wrap="square">
            <a:spAutoFit/>
          </a:bodyPr>
          <a:lstStyle/>
          <a:p>
            <a:pPr algn="ctr"/>
            <a:r>
              <a:rPr sz="1300" b="0" i="0">
                <a:solidFill>
                  <a:srgbClr val="CCD5E0"/>
                </a:solidFill>
              </a:rPr>
              <a:t>Cb–Cr Chrominance Space</a:t>
            </a:r>
          </a:p>
        </p:txBody>
      </p:sp>
      <p:sp>
        <p:nvSpPr>
          <p:cNvPr id="7" name="TextBox 6"/>
          <p:cNvSpPr txBox="1"/>
          <p:nvPr/>
        </p:nvSpPr>
        <p:spPr>
          <a:xfrm>
            <a:off x="4389120" y="5440680"/>
            <a:ext cx="640080" cy="256032"/>
          </a:xfrm>
          <a:prstGeom prst="rect">
            <a:avLst/>
          </a:prstGeom>
          <a:noFill/>
        </p:spPr>
        <p:txBody>
          <a:bodyPr wrap="square">
            <a:spAutoFit/>
          </a:bodyPr>
          <a:lstStyle/>
          <a:p>
            <a:pPr algn="l"/>
            <a:r>
              <a:rPr sz="1200" b="0" i="0">
                <a:solidFill>
                  <a:srgbClr val="CCD5E0"/>
                </a:solidFill>
              </a:rPr>
              <a:t>Cb →</a:t>
            </a:r>
          </a:p>
        </p:txBody>
      </p:sp>
      <p:sp>
        <p:nvSpPr>
          <p:cNvPr id="8" name="TextBox 7"/>
          <p:cNvSpPr txBox="1"/>
          <p:nvPr/>
        </p:nvSpPr>
        <p:spPr>
          <a:xfrm>
            <a:off x="411480" y="1737360"/>
            <a:ext cx="365760" cy="256032"/>
          </a:xfrm>
          <a:prstGeom prst="rect">
            <a:avLst/>
          </a:prstGeom>
          <a:noFill/>
        </p:spPr>
        <p:txBody>
          <a:bodyPr wrap="square">
            <a:spAutoFit/>
          </a:bodyPr>
          <a:lstStyle/>
          <a:p>
            <a:pPr algn="l"/>
            <a:r>
              <a:rPr sz="1200" b="0" i="0">
                <a:solidFill>
                  <a:srgbClr val="CCD5E0"/>
                </a:solidFill>
              </a:rPr>
              <a:t>↑ Cr</a:t>
            </a:r>
          </a:p>
        </p:txBody>
      </p:sp>
      <p:sp>
        <p:nvSpPr>
          <p:cNvPr id="9" name="Oval 8"/>
          <p:cNvSpPr/>
          <p:nvPr/>
        </p:nvSpPr>
        <p:spPr>
          <a:xfrm>
            <a:off x="2422765" y="4989674"/>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33254" y="5189673"/>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28046" y="4686905"/>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575235" y="4968086"/>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399444" y="5055691"/>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543224" y="5295189"/>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679029" y="5054461"/>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32587" y="4797248"/>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547719" y="5328913"/>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482211" y="5004894"/>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39069" y="4696919"/>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368938" y="5141296"/>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748404" y="4974192"/>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89407" y="5085941"/>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719255" y="4774717"/>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650742" y="4682980"/>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30392" y="4890464"/>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175784" y="5229456"/>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681471" y="4750519"/>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740069" y="4800096"/>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441278" y="4962014"/>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505498" y="5216340"/>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673197" y="5109183"/>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676889" y="5138583"/>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268219" y="4865208"/>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318471" y="5143346"/>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206673" y="4777997"/>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14822" y="5354234"/>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30721" y="5220267"/>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925367" y="5007705"/>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013476" y="4907567"/>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773844" y="4699175"/>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479611" y="5087090"/>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2367877" y="5194622"/>
            <a:ext cx="82296" cy="82296"/>
          </a:xfrm>
          <a:prstGeom prst="ellipse">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404872" y="4965192"/>
            <a:ext cx="128016" cy="128016"/>
          </a:xfrm>
          <a:prstGeom prst="ellipse">
            <a:avLst/>
          </a:prstGeom>
          <a:solidFill>
            <a:srgbClr val="FFFFFF"/>
          </a:solidFill>
          <a:ln w="1905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60320" y="4937760"/>
            <a:ext cx="1188720" cy="411480"/>
          </a:xfrm>
          <a:prstGeom prst="rect">
            <a:avLst/>
          </a:prstGeom>
          <a:noFill/>
        </p:spPr>
        <p:txBody>
          <a:bodyPr wrap="square">
            <a:spAutoFit/>
          </a:bodyPr>
          <a:lstStyle/>
          <a:p>
            <a:pPr algn="l"/>
            <a:r>
              <a:rPr sz="1050" b="0" i="0">
                <a:solidFill>
                  <a:srgbClr val="52B788"/>
                </a:solidFill>
              </a:rPr>
              <a:t>Component 0
(skin)</a:t>
            </a:r>
          </a:p>
        </p:txBody>
      </p:sp>
      <p:sp>
        <p:nvSpPr>
          <p:cNvPr id="45" name="Oval 44"/>
          <p:cNvSpPr/>
          <p:nvPr/>
        </p:nvSpPr>
        <p:spPr>
          <a:xfrm>
            <a:off x="2911851" y="5451519"/>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453354" y="5465910"/>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251098" y="5442272"/>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824903" y="5457027"/>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08313" y="5419572"/>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439593" y="5425943"/>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732940" y="5407104"/>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830240" y="5331133"/>
            <a:ext cx="82296" cy="82296"/>
          </a:xfrm>
          <a:prstGeom prst="ellipse">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319272" y="5605272"/>
            <a:ext cx="128016" cy="128016"/>
          </a:xfrm>
          <a:prstGeom prst="ellipse">
            <a:avLst/>
          </a:prstGeom>
          <a:solidFill>
            <a:srgbClr val="FFFFFF"/>
          </a:solidFill>
          <a:ln w="1905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474720" y="5577840"/>
            <a:ext cx="1188720" cy="411480"/>
          </a:xfrm>
          <a:prstGeom prst="rect">
            <a:avLst/>
          </a:prstGeom>
          <a:noFill/>
        </p:spPr>
        <p:txBody>
          <a:bodyPr wrap="square">
            <a:spAutoFit/>
          </a:bodyPr>
          <a:lstStyle/>
          <a:p>
            <a:pPr algn="l"/>
            <a:r>
              <a:rPr sz="1050" b="0" i="0">
                <a:solidFill>
                  <a:srgbClr val="F4A261"/>
                </a:solidFill>
              </a:rPr>
              <a:t>Component 1
(shadow skin)</a:t>
            </a:r>
          </a:p>
        </p:txBody>
      </p:sp>
      <p:sp>
        <p:nvSpPr>
          <p:cNvPr id="55" name="Oval 54"/>
          <p:cNvSpPr/>
          <p:nvPr/>
        </p:nvSpPr>
        <p:spPr>
          <a:xfrm>
            <a:off x="1764792" y="6153912"/>
            <a:ext cx="128016" cy="128016"/>
          </a:xfrm>
          <a:prstGeom prst="ellipse">
            <a:avLst/>
          </a:prstGeom>
          <a:solidFill>
            <a:srgbClr val="FFFFFF"/>
          </a:solidFill>
          <a:ln w="1905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920240" y="6126480"/>
            <a:ext cx="1188720" cy="411480"/>
          </a:xfrm>
          <a:prstGeom prst="rect">
            <a:avLst/>
          </a:prstGeom>
          <a:noFill/>
        </p:spPr>
        <p:txBody>
          <a:bodyPr wrap="square">
            <a:spAutoFit/>
          </a:bodyPr>
          <a:lstStyle/>
          <a:p>
            <a:pPr algn="l"/>
            <a:r>
              <a:rPr sz="1050" b="0" i="0">
                <a:solidFill>
                  <a:srgbClr val="B583FF"/>
                </a:solidFill>
              </a:rPr>
              <a:t>Component 2
(non-skin)</a:t>
            </a:r>
          </a:p>
        </p:txBody>
      </p:sp>
      <p:sp>
        <p:nvSpPr>
          <p:cNvPr id="57" name="TextBox 56"/>
          <p:cNvSpPr txBox="1"/>
          <p:nvPr/>
        </p:nvSpPr>
        <p:spPr>
          <a:xfrm>
            <a:off x="2560320" y="4983479"/>
            <a:ext cx="914400" cy="274320"/>
          </a:xfrm>
          <a:prstGeom prst="rect">
            <a:avLst/>
          </a:prstGeom>
          <a:noFill/>
        </p:spPr>
        <p:txBody>
          <a:bodyPr wrap="square">
            <a:spAutoFit/>
          </a:bodyPr>
          <a:lstStyle/>
          <a:p>
            <a:pPr algn="l"/>
            <a:r>
              <a:rPr sz="1200" b="1" i="0">
                <a:solidFill>
                  <a:srgbClr val="FFFFFF"/>
                </a:solidFill>
              </a:rPr>
              <a:t>✕ seed μ</a:t>
            </a:r>
          </a:p>
        </p:txBody>
      </p:sp>
      <p:sp>
        <p:nvSpPr>
          <p:cNvPr id="58" name="Rectangle 57"/>
          <p:cNvSpPr/>
          <p:nvPr/>
        </p:nvSpPr>
        <p:spPr>
          <a:xfrm>
            <a:off x="5029200" y="1325880"/>
            <a:ext cx="6949440" cy="438912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38928" y="1371600"/>
            <a:ext cx="6720840" cy="4297680"/>
          </a:xfrm>
          <a:prstGeom prst="rect">
            <a:avLst/>
          </a:prstGeom>
          <a:noFill/>
        </p:spPr>
        <p:txBody>
          <a:bodyPr wrap="square">
            <a:spAutoFit/>
          </a:bodyPr>
          <a:lstStyle/>
          <a:p>
            <a:pPr algn="l"/>
            <a:r>
              <a:rPr sz="1250" b="1">
                <a:solidFill>
                  <a:srgbClr val="52B788"/>
                </a:solidFill>
              </a:rPr>
              <a:t>fit_gmm() — Algorithm</a:t>
            </a:r>
          </a:p>
          <a:p>
            <a:pPr algn="l"/>
            <a:r>
              <a:rPr sz="1250" b="0">
                <a:solidFill>
                  <a:srgbClr val="FFFFFF"/>
                </a:solidFill>
              </a:rPr>
              <a:t/>
            </a:r>
          </a:p>
          <a:p>
            <a:pPr algn="l"/>
            <a:r>
              <a:rPr sz="1250" b="0">
                <a:solidFill>
                  <a:srgbClr val="FFFFFF"/>
                </a:solidFill>
              </a:rPr>
              <a:t>1. Extract Cb, Cr from BiSeNet-confirmed skin pixels</a:t>
            </a:r>
          </a:p>
          <a:p>
            <a:pPr algn="l"/>
            <a:r>
              <a:rPr sz="1250" b="0">
                <a:solidFill>
                  <a:srgbClr val="CCD5E0"/>
                </a:solidFill>
              </a:rPr>
              <a:t>   in the ROI union (forehead ∪ L-cheek ∪ R-cheek)</a:t>
            </a:r>
          </a:p>
          <a:p>
            <a:pPr algn="l"/>
            <a:r>
              <a:rPr sz="1250" b="0">
                <a:solidFill>
                  <a:srgbClr val="FFFFFF"/>
                </a:solidFill>
              </a:rPr>
              <a:t/>
            </a:r>
          </a:p>
          <a:p>
            <a:pPr algn="l"/>
            <a:r>
              <a:rPr sz="1250" b="0">
                <a:solidFill>
                  <a:srgbClr val="FFFFFF"/>
                </a:solidFill>
              </a:rPr>
              <a:t>2. Subsample to ≤4000 points (speed; 4000 is sufficient</a:t>
            </a:r>
          </a:p>
          <a:p>
            <a:pPr algn="l"/>
            <a:r>
              <a:rPr sz="1250" b="0">
                <a:solidFill>
                  <a:srgbClr val="CCD5E0"/>
                </a:solidFill>
              </a:rPr>
              <a:t>   for stable GMM convergence)</a:t>
            </a:r>
          </a:p>
          <a:p>
            <a:pPr algn="l"/>
            <a:r>
              <a:rPr sz="1250" b="0">
                <a:solidFill>
                  <a:srgbClr val="FFFFFF"/>
                </a:solidFill>
              </a:rPr>
              <a:t/>
            </a:r>
          </a:p>
          <a:p>
            <a:pPr algn="l"/>
            <a:r>
              <a:rPr sz="1250" b="0">
                <a:solidFill>
                  <a:srgbClr val="FFFFFF"/>
                </a:solidFill>
              </a:rPr>
              <a:t>3. Fit 3-component GMM with full covariance matrices</a:t>
            </a:r>
          </a:p>
          <a:p>
            <a:pPr algn="l"/>
            <a:r>
              <a:rPr sz="1250" b="0">
                <a:solidFill>
                  <a:srgbClr val="CCD5E0"/>
                </a:solidFill>
              </a:rPr>
              <a:t>   (allows elliptical, tilted clusters in Cb-Cr space)</a:t>
            </a:r>
          </a:p>
          <a:p>
            <a:pPr algn="l"/>
            <a:r>
              <a:rPr sz="1250" b="0">
                <a:solidFill>
                  <a:srgbClr val="FFFFFF"/>
                </a:solidFill>
              </a:rPr>
              <a:t/>
            </a:r>
          </a:p>
          <a:p>
            <a:pPr algn="l"/>
            <a:r>
              <a:rPr sz="1250" b="0">
                <a:solidFill>
                  <a:srgbClr val="FFFFFF"/>
                </a:solidFill>
              </a:rPr>
              <a:t>4. Identify skin component: closest mean to seed mean</a:t>
            </a:r>
          </a:p>
          <a:p>
            <a:pPr algn="l"/>
            <a:r>
              <a:rPr sz="1250" b="0">
                <a:solidFill>
                  <a:srgbClr val="FFD166"/>
                </a:solidFill>
              </a:rPr>
              <a:t>   si = argmin ||μk − seed_mean||</a:t>
            </a:r>
          </a:p>
          <a:p>
            <a:pPr algn="l"/>
            <a:r>
              <a:rPr sz="1250" b="0">
                <a:solidFill>
                  <a:srgbClr val="FFFFFF"/>
                </a:solidFill>
              </a:rPr>
              <a:t/>
            </a:r>
          </a:p>
          <a:p>
            <a:pPr algn="l"/>
            <a:r>
              <a:rPr sz="1250" b="0">
                <a:solidFill>
                  <a:srgbClr val="FFFFFF"/>
                </a:solidFill>
              </a:rPr>
              <a:t>5. predict_gmm(): P(component si) &gt; 0.50 → skin</a:t>
            </a:r>
          </a:p>
          <a:p>
            <a:pPr algn="l"/>
            <a:r>
              <a:rPr sz="1250" b="0">
                <a:solidFill>
                  <a:srgbClr val="CCD5E0"/>
                </a:solidFill>
              </a:rPr>
              <a:t>   Operates only on ROI pixels (not full frame)</a:t>
            </a:r>
          </a:p>
          <a:p>
            <a:pPr algn="l"/>
            <a:r>
              <a:rPr sz="1250" b="0">
                <a:solidFill>
                  <a:srgbClr val="FFFFFF"/>
                </a:solidFill>
              </a:rPr>
              <a:t/>
            </a:r>
          </a:p>
          <a:p>
            <a:pPr algn="l"/>
            <a:r>
              <a:rPr sz="1250" b="1">
                <a:solidFill>
                  <a:srgbClr val="F4A261"/>
                </a:solidFill>
              </a:rPr>
              <a:t>Why 3 components?</a:t>
            </a:r>
          </a:p>
          <a:p>
            <a:pPr algn="l"/>
            <a:r>
              <a:rPr sz="1250" b="0">
                <a:solidFill>
                  <a:srgbClr val="FFFFFF"/>
                </a:solidFill>
              </a:rPr>
              <a:t>Well-lit skin / shadowed skin / transitional skin</a:t>
            </a:r>
          </a:p>
          <a:p>
            <a:pPr algn="l"/>
            <a:r>
              <a:rPr sz="1250" b="0">
                <a:solidFill>
                  <a:srgbClr val="CCD5E0"/>
                </a:solidFill>
              </a:rPr>
              <a:t>A single Gaussian misses multimodal lighting variation.</a:t>
            </a:r>
          </a:p>
        </p:txBody>
      </p:sp>
      <p:sp>
        <p:nvSpPr>
          <p:cNvPr id="60" name="Rectangle 59"/>
          <p:cNvSpPr/>
          <p:nvPr/>
        </p:nvSpPr>
        <p:spPr>
          <a:xfrm>
            <a:off x="365760" y="5833872"/>
            <a:ext cx="11658600" cy="566928"/>
          </a:xfrm>
          <a:prstGeom prst="rect">
            <a:avLst/>
          </a:prstGeom>
          <a:solidFill>
            <a:srgbClr val="00101A"/>
          </a:solidFill>
          <a:ln w="15240">
            <a:solidFill>
              <a:srgbClr val="90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57200" y="5879592"/>
            <a:ext cx="11475720" cy="457200"/>
          </a:xfrm>
          <a:prstGeom prst="rect">
            <a:avLst/>
          </a:prstGeom>
          <a:noFill/>
        </p:spPr>
        <p:txBody>
          <a:bodyPr wrap="square">
            <a:spAutoFit/>
          </a:bodyPr>
          <a:lstStyle/>
          <a:p>
            <a:pPr algn="l"/>
            <a:r>
              <a:rPr sz="1250" b="0" i="0">
                <a:solidFill>
                  <a:srgbClr val="90E0EF"/>
                </a:solidFill>
              </a:rPr>
              <a:t>Y (luminance) is deliberately excluded from GMM — chrominance Cb,Cr is illumination-invariant. GMM with full covariance is strictly more expressive than adaptive rectangular YCbCr thresholds.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Final Skin Combination &amp; RGB Extraction</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Consensus masking · luminance normalisation · probability-weighted mean</a:t>
            </a:r>
          </a:p>
        </p:txBody>
      </p:sp>
      <p:sp>
        <p:nvSpPr>
          <p:cNvPr id="5" name="Rectangle 4"/>
          <p:cNvSpPr/>
          <p:nvPr/>
        </p:nvSpPr>
        <p:spPr>
          <a:xfrm>
            <a:off x="320040" y="1280160"/>
            <a:ext cx="5486400" cy="3429000"/>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16736"/>
            <a:ext cx="5303520" cy="365760"/>
          </a:xfrm>
          <a:prstGeom prst="rect">
            <a:avLst/>
          </a:prstGeom>
          <a:noFill/>
        </p:spPr>
        <p:txBody>
          <a:bodyPr wrap="square">
            <a:spAutoFit/>
          </a:bodyPr>
          <a:lstStyle/>
          <a:p>
            <a:pPr algn="l"/>
            <a:r>
              <a:rPr sz="1500" b="1" i="0">
                <a:solidFill>
                  <a:srgbClr val="52B788"/>
                </a:solidFill>
              </a:rPr>
              <a:t>Final Skin Combination Logic</a:t>
            </a:r>
          </a:p>
        </p:txBody>
      </p:sp>
      <p:sp>
        <p:nvSpPr>
          <p:cNvPr id="7" name="TextBox 6"/>
          <p:cNvSpPr txBox="1"/>
          <p:nvPr/>
        </p:nvSpPr>
        <p:spPr>
          <a:xfrm>
            <a:off x="457200" y="1737360"/>
            <a:ext cx="5303520" cy="2880360"/>
          </a:xfrm>
          <a:prstGeom prst="rect">
            <a:avLst/>
          </a:prstGeom>
          <a:noFill/>
        </p:spPr>
        <p:txBody>
          <a:bodyPr wrap="square">
            <a:spAutoFit/>
          </a:bodyPr>
          <a:lstStyle/>
          <a:p>
            <a:pPr algn="l"/>
            <a:r>
              <a:rPr sz="1250" b="0">
                <a:solidFill>
                  <a:srgbClr val="FFD166"/>
                </a:solidFill>
              </a:rPr>
              <a:t>comb_sk = BiSeNet  |  colour_vote  |  (GMM ∩ vote≥1)</a:t>
            </a:r>
          </a:p>
          <a:p>
            <a:pPr algn="l"/>
            <a:r>
              <a:rPr sz="1250" b="0">
                <a:solidFill>
                  <a:srgbClr val="FFFFFF"/>
                </a:solidFill>
              </a:rPr>
              <a:t/>
            </a:r>
          </a:p>
          <a:p>
            <a:pPr algn="l"/>
            <a:r>
              <a:rPr sz="1250" b="0">
                <a:solidFill>
                  <a:srgbClr val="FFFFFF"/>
                </a:solidFill>
              </a:rPr>
              <a:t>Accept pixel if ANY of:</a:t>
            </a:r>
          </a:p>
          <a:p>
            <a:pPr algn="l"/>
            <a:r>
              <a:rPr sz="1250" b="0">
                <a:solidFill>
                  <a:srgbClr val="00B4D8"/>
                </a:solidFill>
              </a:rPr>
              <a:t>  (a) BiSeNet labels it skin, OR</a:t>
            </a:r>
          </a:p>
          <a:p>
            <a:pPr algn="l"/>
            <a:r>
              <a:rPr sz="1250" b="0">
                <a:solidFill>
                  <a:srgbClr val="F4A261"/>
                </a:solidFill>
              </a:rPr>
              <a:t>  (b) ≥2 of 3 colour methods agree (majority vote), OR</a:t>
            </a:r>
          </a:p>
          <a:p>
            <a:pPr algn="l"/>
            <a:r>
              <a:rPr sz="1250" b="0">
                <a:solidFill>
                  <a:srgbClr val="52B788"/>
                </a:solidFill>
              </a:rPr>
              <a:t>  (c) GMM says skin AND at least 1 colour method agrees</a:t>
            </a:r>
          </a:p>
          <a:p>
            <a:pPr algn="l"/>
            <a:r>
              <a:rPr sz="1250" b="0">
                <a:solidFill>
                  <a:srgbClr val="FFFFFF"/>
                </a:solidFill>
              </a:rPr>
              <a:t/>
            </a:r>
          </a:p>
          <a:p>
            <a:pPr algn="l"/>
            <a:r>
              <a:rPr sz="1250" b="0">
                <a:solidFill>
                  <a:srgbClr val="FFFFFF"/>
                </a:solidFill>
              </a:rPr>
              <a:t>Then SUBTRACT:</a:t>
            </a:r>
          </a:p>
          <a:p>
            <a:pPr algn="l"/>
            <a:r>
              <a:rPr sz="1250" b="0">
                <a:solidFill>
                  <a:srgbClr val="FF6B6B"/>
                </a:solidFill>
              </a:rPr>
              <a:t>  · hair_fore  (LBP+coherence+SVC on forehead)</a:t>
            </a:r>
          </a:p>
          <a:p>
            <a:pPr algn="l"/>
            <a:r>
              <a:rPr sz="1250" b="0">
                <a:solidFill>
                  <a:srgbClr val="FF6B6B"/>
                </a:solidFill>
              </a:rPr>
              <a:t>  · hair_cheek (LBP+coherence+SVC on cheeks)</a:t>
            </a:r>
          </a:p>
          <a:p>
            <a:pPr algn="l"/>
            <a:r>
              <a:rPr sz="1250" b="0">
                <a:solidFill>
                  <a:srgbClr val="FF6B6B"/>
                </a:solidFill>
              </a:rPr>
              <a:t>  · excl  (moustache ∪ beard exclusion zone)</a:t>
            </a:r>
          </a:p>
          <a:p>
            <a:pPr algn="l"/>
            <a:r>
              <a:rPr sz="1250" b="0">
                <a:solidFill>
                  <a:srgbClr val="FF6B6B"/>
                </a:solidFill>
              </a:rPr>
              <a:t>  · specular highlights</a:t>
            </a:r>
          </a:p>
          <a:p>
            <a:pPr algn="l"/>
            <a:r>
              <a:rPr sz="1250" b="0">
                <a:solidFill>
                  <a:srgbClr val="FFFFFF"/>
                </a:solidFill>
              </a:rPr>
              <a:t/>
            </a:r>
          </a:p>
          <a:p>
            <a:pPr algn="l"/>
            <a:r>
              <a:rPr sz="1250" b="0">
                <a:solidFill>
                  <a:srgbClr val="90E0EF"/>
                </a:solidFill>
              </a:rPr>
              <a:t>fore_skin = comb_sk &amp; fm &amp; ~hair_fore &amp; ~excl &amp; ~spec</a:t>
            </a:r>
          </a:p>
          <a:p>
            <a:pPr algn="l"/>
            <a:r>
              <a:rPr sz="1250" b="0">
                <a:solidFill>
                  <a:srgbClr val="90E0EF"/>
                </a:solidFill>
              </a:rPr>
              <a:t>l_skin    = comb_sk &amp; lcm &amp; ~hair_cheek &amp; ~excl &amp; ~spec</a:t>
            </a:r>
          </a:p>
          <a:p>
            <a:pPr algn="l"/>
            <a:r>
              <a:rPr sz="1250" b="0">
                <a:solidFill>
                  <a:srgbClr val="90E0EF"/>
                </a:solidFill>
              </a:rPr>
              <a:t>r_skin    = comb_sk &amp; rcm &amp; ~hair_cheek &amp; ~excl &amp; ~spec</a:t>
            </a:r>
          </a:p>
          <a:p>
            <a:pPr algn="l"/>
            <a:r>
              <a:rPr sz="1250" b="0">
                <a:solidFill>
                  <a:srgbClr val="FFD166"/>
                </a:solidFill>
              </a:rPr>
              <a:t>final     = fore_skin | l_skin | r_skin</a:t>
            </a:r>
          </a:p>
        </p:txBody>
      </p:sp>
      <p:sp>
        <p:nvSpPr>
          <p:cNvPr id="8" name="Rectangle 7"/>
          <p:cNvSpPr/>
          <p:nvPr/>
        </p:nvSpPr>
        <p:spPr>
          <a:xfrm>
            <a:off x="6035040" y="1280160"/>
            <a:ext cx="5852160" cy="3429000"/>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44768" y="1316736"/>
            <a:ext cx="5669280" cy="365760"/>
          </a:xfrm>
          <a:prstGeom prst="rect">
            <a:avLst/>
          </a:prstGeom>
          <a:noFill/>
        </p:spPr>
        <p:txBody>
          <a:bodyPr wrap="square">
            <a:spAutoFit/>
          </a:bodyPr>
          <a:lstStyle/>
          <a:p>
            <a:pPr algn="l"/>
            <a:r>
              <a:rPr sz="1500" b="1" i="0">
                <a:solidFill>
                  <a:srgbClr val="00B4D8"/>
                </a:solidFill>
              </a:rPr>
              <a:t>Luminance-Normalised RGB Extraction</a:t>
            </a:r>
          </a:p>
        </p:txBody>
      </p:sp>
      <p:sp>
        <p:nvSpPr>
          <p:cNvPr id="10" name="TextBox 9"/>
          <p:cNvSpPr txBox="1"/>
          <p:nvPr/>
        </p:nvSpPr>
        <p:spPr>
          <a:xfrm>
            <a:off x="6144768" y="1737360"/>
            <a:ext cx="5669280" cy="2880360"/>
          </a:xfrm>
          <a:prstGeom prst="rect">
            <a:avLst/>
          </a:prstGeom>
          <a:noFill/>
        </p:spPr>
        <p:txBody>
          <a:bodyPr wrap="square">
            <a:spAutoFit/>
          </a:bodyPr>
          <a:lstStyle/>
          <a:p>
            <a:pPr algn="l"/>
            <a:r>
              <a:rPr sz="1250" b="1">
                <a:solidFill>
                  <a:srgbClr val="F4A261"/>
                </a:solidFill>
              </a:rPr>
              <a:t>Step 1 — Luminance normalisation</a:t>
            </a:r>
          </a:p>
          <a:p>
            <a:pPr algn="l"/>
            <a:r>
              <a:rPr sz="1250" b="0">
                <a:solidFill>
                  <a:srgbClr val="FFFFFF"/>
                </a:solidFill>
              </a:rPr>
              <a:t>lum = mean(frame[final])    ← mean over skin pixels</a:t>
            </a:r>
          </a:p>
          <a:p>
            <a:pPr algn="l"/>
            <a:r>
              <a:rPr sz="1250" b="0">
                <a:solidFill>
                  <a:srgbClr val="FFD166"/>
                </a:solidFill>
              </a:rPr>
              <a:t>fn  = frame / lum × 128    ← rescale to fixed reference</a:t>
            </a:r>
          </a:p>
          <a:p>
            <a:pPr algn="l"/>
            <a:r>
              <a:rPr sz="1250" b="0">
                <a:solidFill>
                  <a:srgbClr val="CCD5E0"/>
                </a:solidFill>
              </a:rPr>
              <a:t>Removes camera AGC multiplicative factor.</a:t>
            </a:r>
          </a:p>
          <a:p>
            <a:pPr algn="l"/>
            <a:r>
              <a:rPr sz="1250" b="0">
                <a:solidFill>
                  <a:srgbClr val="CCD5E0"/>
                </a:solidFill>
              </a:rPr>
              <a:t>Any constant works — 128 is mid-scale, intuitive.</a:t>
            </a:r>
          </a:p>
          <a:p>
            <a:pPr algn="l"/>
            <a:r>
              <a:rPr sz="1250" b="0">
                <a:solidFill>
                  <a:srgbClr val="FFFFFF"/>
                </a:solidFill>
              </a:rPr>
              <a:t/>
            </a:r>
          </a:p>
          <a:p>
            <a:pPr algn="l"/>
            <a:r>
              <a:rPr sz="1250" b="1">
                <a:solidFill>
                  <a:srgbClr val="52B788"/>
                </a:solidFill>
              </a:rPr>
              <a:t>Step 2 — Probability-weighted spatial mean</a:t>
            </a:r>
          </a:p>
          <a:p>
            <a:pPr algn="l"/>
            <a:r>
              <a:rPr sz="1250" b="0">
                <a:solidFill>
                  <a:srgbClr val="FFFFFF"/>
                </a:solidFill>
              </a:rPr>
              <a:t>w  = sk_prob_smooth[final].clip(0.01)</a:t>
            </a:r>
          </a:p>
          <a:p>
            <a:pPr algn="l"/>
            <a:r>
              <a:rPr sz="1250" b="0">
                <a:solidFill>
                  <a:srgbClr val="FFD166"/>
                </a:solidFill>
              </a:rPr>
              <a:t>R_t = Σ(w × fn_R[final]) / Σw</a:t>
            </a:r>
          </a:p>
          <a:p>
            <a:pPr algn="l"/>
            <a:r>
              <a:rPr sz="1250" b="0">
                <a:solidFill>
                  <a:srgbClr val="FFD166"/>
                </a:solidFill>
              </a:rPr>
              <a:t>G_t = Σ(w × fn_G[final]) / Σw</a:t>
            </a:r>
          </a:p>
          <a:p>
            <a:pPr algn="l"/>
            <a:r>
              <a:rPr sz="1250" b="0">
                <a:solidFill>
                  <a:srgbClr val="FFD166"/>
                </a:solidFill>
              </a:rPr>
              <a:t>B_t = Σ(w × fn_B[final]) / Σw</a:t>
            </a:r>
          </a:p>
          <a:p>
            <a:pPr algn="l"/>
            <a:r>
              <a:rPr sz="1250" b="0">
                <a:solidFill>
                  <a:srgbClr val="FFFFFF"/>
                </a:solidFill>
              </a:rPr>
              <a:t/>
            </a:r>
          </a:p>
          <a:p>
            <a:pPr algn="l"/>
            <a:r>
              <a:rPr sz="1250" b="0">
                <a:solidFill>
                  <a:srgbClr val="CCD5E0"/>
                </a:solidFill>
              </a:rPr>
              <a:t>Why weighted? Pixels at P(skin)=0.90 contribute 90×</a:t>
            </a:r>
          </a:p>
          <a:p>
            <a:pPr algn="l"/>
            <a:r>
              <a:rPr sz="1250" b="0">
                <a:solidFill>
                  <a:srgbClr val="CCD5E0"/>
                </a:solidFill>
              </a:rPr>
              <a:t>more than pixels at 0.01. Downweights boundary pixels</a:t>
            </a:r>
          </a:p>
          <a:p>
            <a:pPr algn="l"/>
            <a:r>
              <a:rPr sz="1250" b="0">
                <a:solidFill>
                  <a:srgbClr val="CCD5E0"/>
                </a:solidFill>
              </a:rPr>
              <a:t>without hard exclusion → no spatial discontinuities.</a:t>
            </a:r>
          </a:p>
          <a:p>
            <a:pPr algn="l"/>
            <a:r>
              <a:rPr sz="1250" b="0">
                <a:solidFill>
                  <a:srgbClr val="FFFFFF"/>
                </a:solidFill>
              </a:rPr>
              <a:t/>
            </a:r>
          </a:p>
          <a:p>
            <a:pPr algn="l"/>
            <a:r>
              <a:rPr sz="1250" b="1">
                <a:solidFill>
                  <a:srgbClr val="B583FF"/>
                </a:solidFill>
              </a:rPr>
              <a:t>Per-region: Forehead · L-cheek · R-cheek (min 20px)</a:t>
            </a:r>
          </a:p>
          <a:p>
            <a:pPr algn="l"/>
            <a:r>
              <a:rPr sz="1250" b="0">
                <a:solidFill>
                  <a:srgbClr val="CCD5E0"/>
                </a:solidFill>
              </a:rPr>
              <a:t>Fallback to global value if region too small.</a:t>
            </a:r>
          </a:p>
        </p:txBody>
      </p:sp>
      <p:sp>
        <p:nvSpPr>
          <p:cNvPr id="11" name="Rectangle 10"/>
          <p:cNvSpPr/>
          <p:nvPr/>
        </p:nvSpPr>
        <p:spPr>
          <a:xfrm>
            <a:off x="320040" y="4846320"/>
            <a:ext cx="5486400" cy="566928"/>
          </a:xfrm>
          <a:prstGeom prst="rect">
            <a:avLst/>
          </a:prstGeom>
          <a:solidFill>
            <a:srgbClr val="121200"/>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4892040"/>
            <a:ext cx="5285232" cy="457200"/>
          </a:xfrm>
          <a:prstGeom prst="rect">
            <a:avLst/>
          </a:prstGeom>
          <a:noFill/>
        </p:spPr>
        <p:txBody>
          <a:bodyPr wrap="square">
            <a:spAutoFit/>
          </a:bodyPr>
          <a:lstStyle/>
          <a:p>
            <a:pPr algn="l"/>
            <a:r>
              <a:rPr sz="1300" b="0" i="0">
                <a:solidFill>
                  <a:srgbClr val="FFD166"/>
                </a:solidFill>
              </a:rPr>
              <a:t>Gate: n_px ≥ 50 skin pixels required before extraction — below this, no signal appended for this frame (face_detected = 0)</a:t>
            </a:r>
          </a:p>
        </p:txBody>
      </p:sp>
      <p:sp>
        <p:nvSpPr>
          <p:cNvPr id="13" name="Rectangle 12"/>
          <p:cNvSpPr/>
          <p:nvPr/>
        </p:nvSpPr>
        <p:spPr>
          <a:xfrm>
            <a:off x="6035040" y="4846320"/>
            <a:ext cx="5852160" cy="566928"/>
          </a:xfrm>
          <a:prstGeom prst="rect">
            <a:avLst/>
          </a:prstGeom>
          <a:solidFill>
            <a:srgbClr val="001200"/>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4892040"/>
            <a:ext cx="5669280" cy="457200"/>
          </a:xfrm>
          <a:prstGeom prst="rect">
            <a:avLst/>
          </a:prstGeom>
          <a:noFill/>
        </p:spPr>
        <p:txBody>
          <a:bodyPr wrap="square">
            <a:spAutoFit/>
          </a:bodyPr>
          <a:lstStyle/>
          <a:p>
            <a:pPr algn="l"/>
            <a:r>
              <a:rPr sz="1300" b="0" i="0">
                <a:solidFill>
                  <a:srgbClr val="52B788"/>
                </a:solidFill>
              </a:rPr>
              <a:t>9 per-region signals (Rf, Gf, Bf, Rl, Gl, Bl, Rr, Gr, Br) stored for spatial PCA in post-processing</a:t>
            </a:r>
          </a:p>
        </p:txBody>
      </p:sp>
      <p:sp>
        <p:nvSpPr>
          <p:cNvPr id="15" name="Rectangle 14"/>
          <p:cNvSpPr/>
          <p:nvPr/>
        </p:nvSpPr>
        <p:spPr>
          <a:xfrm>
            <a:off x="320040" y="5532120"/>
            <a:ext cx="11658600" cy="640080"/>
          </a:xfrm>
          <a:prstGeom prst="rect">
            <a:avLst/>
          </a:prstGeom>
          <a:solidFill>
            <a:srgbClr val="0A0A22"/>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 y="5577840"/>
            <a:ext cx="11475720" cy="530352"/>
          </a:xfrm>
          <a:prstGeom prst="rect">
            <a:avLst/>
          </a:prstGeom>
          <a:noFill/>
        </p:spPr>
        <p:txBody>
          <a:bodyPr wrap="square">
            <a:spAutoFit/>
          </a:bodyPr>
          <a:lstStyle/>
          <a:p>
            <a:pPr algn="l"/>
            <a:r>
              <a:rPr sz="1300" b="0" i="0">
                <a:solidFill>
                  <a:srgbClr val="B583FF"/>
                </a:solidFill>
              </a:rPr>
              <a:t>Quality score q = 0.25·BiSeNet_conf + 0.20·vote_mean + 0.20·GMM_agree + 0.15·min(1,coverage/0.40) + 0.12·(1−green_cv/0.15) + 0.08·(1−hair_frac/0.50)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CHROM Projection — BVP Signal Extraction</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de Haan &amp; Jeanne 2013 · camera-spectral-sensitivity-derived coefficients</a:t>
            </a:r>
          </a:p>
        </p:txBody>
      </p:sp>
      <p:sp>
        <p:nvSpPr>
          <p:cNvPr id="5" name="Rectangle 4"/>
          <p:cNvSpPr/>
          <p:nvPr/>
        </p:nvSpPr>
        <p:spPr>
          <a:xfrm>
            <a:off x="320040" y="1261872"/>
            <a:ext cx="5669280" cy="4846320"/>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298448"/>
            <a:ext cx="5486400" cy="384048"/>
          </a:xfrm>
          <a:prstGeom prst="rect">
            <a:avLst/>
          </a:prstGeom>
          <a:noFill/>
        </p:spPr>
        <p:txBody>
          <a:bodyPr wrap="square">
            <a:spAutoFit/>
          </a:bodyPr>
          <a:lstStyle/>
          <a:p>
            <a:pPr algn="l"/>
            <a:r>
              <a:rPr sz="1500" b="1" i="0">
                <a:solidFill>
                  <a:srgbClr val="F4A261"/>
                </a:solidFill>
              </a:rPr>
              <a:t>CHROM Algorithm — Step by Step</a:t>
            </a:r>
          </a:p>
        </p:txBody>
      </p:sp>
      <p:sp>
        <p:nvSpPr>
          <p:cNvPr id="7" name="Rectangle 6"/>
          <p:cNvSpPr/>
          <p:nvPr/>
        </p:nvSpPr>
        <p:spPr>
          <a:xfrm>
            <a:off x="411480" y="1755648"/>
            <a:ext cx="5486400" cy="502920"/>
          </a:xfrm>
          <a:prstGeom prst="rect">
            <a:avLst/>
          </a:prstGeom>
          <a:solidFill>
            <a:srgbClr val="121222"/>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773936"/>
            <a:ext cx="5303520" cy="320040"/>
          </a:xfrm>
          <a:prstGeom prst="rect">
            <a:avLst/>
          </a:prstGeom>
          <a:noFill/>
        </p:spPr>
        <p:txBody>
          <a:bodyPr wrap="square">
            <a:spAutoFit/>
          </a:bodyPr>
          <a:lstStyle/>
          <a:p>
            <a:pPr algn="l"/>
            <a:r>
              <a:rPr sz="1250" b="1" i="0">
                <a:solidFill>
                  <a:srgbClr val="00B4D8"/>
                </a:solidFill>
              </a:rPr>
              <a:t>Step 1 — Temporal DC removal</a:t>
            </a:r>
          </a:p>
        </p:txBody>
      </p:sp>
      <p:sp>
        <p:nvSpPr>
          <p:cNvPr id="9" name="TextBox 8"/>
          <p:cNvSpPr txBox="1"/>
          <p:nvPr/>
        </p:nvSpPr>
        <p:spPr>
          <a:xfrm>
            <a:off x="502920" y="2313432"/>
            <a:ext cx="5303520" cy="411480"/>
          </a:xfrm>
          <a:prstGeom prst="rect">
            <a:avLst/>
          </a:prstGeom>
          <a:noFill/>
        </p:spPr>
        <p:txBody>
          <a:bodyPr wrap="square">
            <a:spAutoFit/>
          </a:bodyPr>
          <a:lstStyle/>
          <a:p>
            <a:pPr algn="l"/>
            <a:r>
              <a:rPr sz="1150" b="0" i="0">
                <a:solidFill>
                  <a:srgbClr val="FFFFFF"/>
                </a:solidFill>
              </a:rPr>
              <a:t>Rn = R / R̄    Gn = G / Ḡ    Bn = B / B̄
Divide by temporal mean → each channel becomes
dimensionless relative deviation from mean reflectance.</a:t>
            </a:r>
          </a:p>
        </p:txBody>
      </p:sp>
      <p:sp>
        <p:nvSpPr>
          <p:cNvPr id="10" name="Rectangle 9"/>
          <p:cNvSpPr/>
          <p:nvPr/>
        </p:nvSpPr>
        <p:spPr>
          <a:xfrm>
            <a:off x="411480" y="2825496"/>
            <a:ext cx="5486400" cy="502920"/>
          </a:xfrm>
          <a:prstGeom prst="rect">
            <a:avLst/>
          </a:prstGeom>
          <a:solidFill>
            <a:srgbClr val="121222"/>
          </a:solidFill>
          <a:ln w="15240">
            <a:solidFill>
              <a:srgbClr val="FFD1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43784"/>
            <a:ext cx="5303520" cy="320040"/>
          </a:xfrm>
          <a:prstGeom prst="rect">
            <a:avLst/>
          </a:prstGeom>
          <a:noFill/>
        </p:spPr>
        <p:txBody>
          <a:bodyPr wrap="square">
            <a:spAutoFit/>
          </a:bodyPr>
          <a:lstStyle/>
          <a:p>
            <a:pPr algn="l"/>
            <a:r>
              <a:rPr sz="1250" b="1" i="0">
                <a:solidFill>
                  <a:srgbClr val="FFD166"/>
                </a:solidFill>
              </a:rPr>
              <a:t>Step 2 — CHROM projection</a:t>
            </a:r>
          </a:p>
        </p:txBody>
      </p:sp>
      <p:sp>
        <p:nvSpPr>
          <p:cNvPr id="12" name="TextBox 11"/>
          <p:cNvSpPr txBox="1"/>
          <p:nvPr/>
        </p:nvSpPr>
        <p:spPr>
          <a:xfrm>
            <a:off x="502920" y="3383279"/>
            <a:ext cx="5303520" cy="411480"/>
          </a:xfrm>
          <a:prstGeom prst="rect">
            <a:avLst/>
          </a:prstGeom>
          <a:noFill/>
        </p:spPr>
        <p:txBody>
          <a:bodyPr wrap="square">
            <a:spAutoFit/>
          </a:bodyPr>
          <a:lstStyle/>
          <a:p>
            <a:pPr algn="l"/>
            <a:r>
              <a:rPr sz="1150" b="0" i="0">
                <a:solidFill>
                  <a:srgbClr val="FFFFFF"/>
                </a:solidFill>
              </a:rPr>
              <a:t>Xs = 3·Rn − 2·Gn
Ys = 1.5·Rn + Gn − 1.5·Bn
Coefficients analytically derived from integrals of
camera spectral sensitivity over Hb/HbO2 absorption.</a:t>
            </a:r>
          </a:p>
        </p:txBody>
      </p:sp>
      <p:sp>
        <p:nvSpPr>
          <p:cNvPr id="13" name="Rectangle 12"/>
          <p:cNvSpPr/>
          <p:nvPr/>
        </p:nvSpPr>
        <p:spPr>
          <a:xfrm>
            <a:off x="411480" y="3895344"/>
            <a:ext cx="5486400" cy="502920"/>
          </a:xfrm>
          <a:prstGeom prst="rect">
            <a:avLst/>
          </a:prstGeom>
          <a:solidFill>
            <a:srgbClr val="121222"/>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913631"/>
            <a:ext cx="5303520" cy="320040"/>
          </a:xfrm>
          <a:prstGeom prst="rect">
            <a:avLst/>
          </a:prstGeom>
          <a:noFill/>
        </p:spPr>
        <p:txBody>
          <a:bodyPr wrap="square">
            <a:spAutoFit/>
          </a:bodyPr>
          <a:lstStyle/>
          <a:p>
            <a:pPr algn="l"/>
            <a:r>
              <a:rPr sz="1250" b="1" i="0">
                <a:solidFill>
                  <a:srgbClr val="52B788"/>
                </a:solidFill>
              </a:rPr>
              <a:t>Step 3 — Adaptive α cancellation</a:t>
            </a:r>
          </a:p>
        </p:txBody>
      </p:sp>
      <p:sp>
        <p:nvSpPr>
          <p:cNvPr id="15" name="TextBox 14"/>
          <p:cNvSpPr txBox="1"/>
          <p:nvPr/>
        </p:nvSpPr>
        <p:spPr>
          <a:xfrm>
            <a:off x="502920" y="4453127"/>
            <a:ext cx="5303520" cy="411480"/>
          </a:xfrm>
          <a:prstGeom prst="rect">
            <a:avLst/>
          </a:prstGeom>
          <a:noFill/>
        </p:spPr>
        <p:txBody>
          <a:bodyPr wrap="square">
            <a:spAutoFit/>
          </a:bodyPr>
          <a:lstStyle/>
          <a:p>
            <a:pPr algn="l"/>
            <a:r>
              <a:rPr sz="1150" b="0" i="0">
                <a:solidFill>
                  <a:srgbClr val="FFFFFF"/>
                </a:solidFill>
              </a:rPr>
              <a:t>α = std(Xs) / std(Ys)
S = Xs − α·Ys
Cancels specular reflection noise common to both
Xs and Ys but with different amplitudes.</a:t>
            </a:r>
          </a:p>
        </p:txBody>
      </p:sp>
      <p:sp>
        <p:nvSpPr>
          <p:cNvPr id="16" name="Rectangle 15"/>
          <p:cNvSpPr/>
          <p:nvPr/>
        </p:nvSpPr>
        <p:spPr>
          <a:xfrm>
            <a:off x="411480" y="4965192"/>
            <a:ext cx="5486400" cy="502920"/>
          </a:xfrm>
          <a:prstGeom prst="rect">
            <a:avLst/>
          </a:prstGeom>
          <a:solidFill>
            <a:srgbClr val="121222"/>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983479"/>
            <a:ext cx="5303520" cy="320040"/>
          </a:xfrm>
          <a:prstGeom prst="rect">
            <a:avLst/>
          </a:prstGeom>
          <a:noFill/>
        </p:spPr>
        <p:txBody>
          <a:bodyPr wrap="square">
            <a:spAutoFit/>
          </a:bodyPr>
          <a:lstStyle/>
          <a:p>
            <a:pPr algn="l"/>
            <a:r>
              <a:rPr sz="1250" b="1" i="0">
                <a:solidFill>
                  <a:srgbClr val="B583FF"/>
                </a:solidFill>
              </a:rPr>
              <a:t>Step 4 — Linear detrend</a:t>
            </a:r>
          </a:p>
        </p:txBody>
      </p:sp>
      <p:sp>
        <p:nvSpPr>
          <p:cNvPr id="18" name="TextBox 17"/>
          <p:cNvSpPr txBox="1"/>
          <p:nvPr/>
        </p:nvSpPr>
        <p:spPr>
          <a:xfrm>
            <a:off x="502920" y="5522975"/>
            <a:ext cx="5303520" cy="411480"/>
          </a:xfrm>
          <a:prstGeom prst="rect">
            <a:avLst/>
          </a:prstGeom>
          <a:noFill/>
        </p:spPr>
        <p:txBody>
          <a:bodyPr wrap="square">
            <a:spAutoFit/>
          </a:bodyPr>
          <a:lstStyle/>
          <a:p>
            <a:pPr algn="l"/>
            <a:r>
              <a:rPr sz="1150" b="0" i="0">
                <a:solidFill>
                  <a:srgbClr val="FFFFFF"/>
                </a:solidFill>
              </a:rPr>
              <a:t>S_det = S − polyval(polyfit(t, S, 1), t)
Fits a line through S, subtracts it.
Removes slow camera gain drift / slow movement.</a:t>
            </a:r>
          </a:p>
        </p:txBody>
      </p:sp>
      <p:sp>
        <p:nvSpPr>
          <p:cNvPr id="19" name="Rectangle 18"/>
          <p:cNvSpPr/>
          <p:nvPr/>
        </p:nvSpPr>
        <p:spPr>
          <a:xfrm>
            <a:off x="6217920" y="1261872"/>
            <a:ext cx="5669280" cy="237744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27648" y="1298448"/>
            <a:ext cx="5486400" cy="384048"/>
          </a:xfrm>
          <a:prstGeom prst="rect">
            <a:avLst/>
          </a:prstGeom>
          <a:noFill/>
        </p:spPr>
        <p:txBody>
          <a:bodyPr wrap="square">
            <a:spAutoFit/>
          </a:bodyPr>
          <a:lstStyle/>
          <a:p>
            <a:pPr algn="l"/>
            <a:r>
              <a:rPr sz="1500" b="1" i="0">
                <a:solidFill>
                  <a:srgbClr val="B583FF"/>
                </a:solidFill>
              </a:rPr>
              <a:t>Spatial Region PCA</a:t>
            </a:r>
          </a:p>
        </p:txBody>
      </p:sp>
      <p:sp>
        <p:nvSpPr>
          <p:cNvPr id="21" name="TextBox 20"/>
          <p:cNvSpPr txBox="1"/>
          <p:nvPr/>
        </p:nvSpPr>
        <p:spPr>
          <a:xfrm>
            <a:off x="6327648" y="1719072"/>
            <a:ext cx="5486400" cy="1874519"/>
          </a:xfrm>
          <a:prstGeom prst="rect">
            <a:avLst/>
          </a:prstGeom>
          <a:noFill/>
        </p:spPr>
        <p:txBody>
          <a:bodyPr wrap="square">
            <a:spAutoFit/>
          </a:bodyPr>
          <a:lstStyle/>
          <a:p>
            <a:pPr algn="l"/>
            <a:r>
              <a:rPr sz="1250" b="0">
                <a:solidFill>
                  <a:srgbClr val="FFFFFF"/>
                </a:solidFill>
              </a:rPr>
              <a:t>9 signals → (3 ROI × 3 channels) stacked matrix X (9×T)</a:t>
            </a:r>
          </a:p>
          <a:p>
            <a:pPr algn="l"/>
            <a:r>
              <a:rPr sz="1250" b="0">
                <a:solidFill>
                  <a:srgbClr val="CCD5E0"/>
                </a:solidFill>
              </a:rPr>
              <a:t>Z-score each row (zero mean, unit variance)</a:t>
            </a:r>
          </a:p>
          <a:p>
            <a:pPr algn="l"/>
            <a:r>
              <a:rPr sz="1250" b="0">
                <a:solidFill>
                  <a:srgbClr val="FFFFFF"/>
                </a:solidFill>
              </a:rPr>
              <a:t>SVD: X = U·Σ·Vᵀ   →   rows of Vᵀ = principal components</a:t>
            </a:r>
          </a:p>
          <a:p>
            <a:pPr algn="l"/>
            <a:r>
              <a:rPr sz="1250" b="0">
                <a:solidFill>
                  <a:srgbClr val="FFFFFF"/>
                </a:solidFill>
              </a:rPr>
              <a:t/>
            </a:r>
          </a:p>
          <a:p>
            <a:pPr algn="l"/>
            <a:r>
              <a:rPr sz="1250" b="0">
                <a:solidFill>
                  <a:srgbClr val="FFFFFF"/>
                </a:solidFill>
              </a:rPr>
              <a:t>For each of first 3 PCs:</a:t>
            </a:r>
          </a:p>
          <a:p>
            <a:pPr algn="l"/>
            <a:r>
              <a:rPr sz="1250" b="0">
                <a:solidFill>
                  <a:srgbClr val="FFD166"/>
                </a:solidFill>
              </a:rPr>
              <a:t>  Welch PSD → max in [0.67,3.5Hz] / mean in band</a:t>
            </a:r>
          </a:p>
          <a:p>
            <a:pPr algn="l"/>
            <a:r>
              <a:rPr sz="1250" b="0">
                <a:solidFill>
                  <a:srgbClr val="FFD166"/>
                </a:solidFill>
              </a:rPr>
              <a:t>  Select PC with highest cardiac-band power ratio</a:t>
            </a:r>
          </a:p>
          <a:p>
            <a:pPr algn="l"/>
            <a:r>
              <a:rPr sz="1250" b="0">
                <a:solidFill>
                  <a:srgbClr val="52B788"/>
                </a:solidFill>
              </a:rPr>
              <a:t>→ Best linear combination across regions &amp; channels</a:t>
            </a:r>
          </a:p>
        </p:txBody>
      </p:sp>
      <p:sp>
        <p:nvSpPr>
          <p:cNvPr id="22" name="Rectangle 21"/>
          <p:cNvSpPr/>
          <p:nvPr/>
        </p:nvSpPr>
        <p:spPr>
          <a:xfrm>
            <a:off x="6217920" y="3767328"/>
            <a:ext cx="5669280" cy="2340864"/>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3803904"/>
            <a:ext cx="5486400" cy="365760"/>
          </a:xfrm>
          <a:prstGeom prst="rect">
            <a:avLst/>
          </a:prstGeom>
          <a:noFill/>
        </p:spPr>
        <p:txBody>
          <a:bodyPr wrap="square">
            <a:spAutoFit/>
          </a:bodyPr>
          <a:lstStyle/>
          <a:p>
            <a:pPr algn="l"/>
            <a:r>
              <a:rPr sz="1500" b="1" i="0">
                <a:solidFill>
                  <a:srgbClr val="00B4D8"/>
                </a:solidFill>
              </a:rPr>
              <a:t>Four IIR Bandpass Filters  [0.7–3.5 Hz]</a:t>
            </a:r>
          </a:p>
        </p:txBody>
      </p:sp>
      <p:sp>
        <p:nvSpPr>
          <p:cNvPr id="24" name="TextBox 23"/>
          <p:cNvSpPr txBox="1"/>
          <p:nvPr/>
        </p:nvSpPr>
        <p:spPr>
          <a:xfrm>
            <a:off x="6327648" y="4251960"/>
            <a:ext cx="2560320" cy="384048"/>
          </a:xfrm>
          <a:prstGeom prst="rect">
            <a:avLst/>
          </a:prstGeom>
          <a:noFill/>
        </p:spPr>
        <p:txBody>
          <a:bodyPr wrap="square">
            <a:spAutoFit/>
          </a:bodyPr>
          <a:lstStyle/>
          <a:p>
            <a:pPr algn="l"/>
            <a:r>
              <a:rPr sz="1200" b="1" i="0">
                <a:solidFill>
                  <a:srgbClr val="00B4D8"/>
                </a:solidFill>
              </a:rPr>
              <a:t>Butterworth  order-4</a:t>
            </a:r>
          </a:p>
        </p:txBody>
      </p:sp>
      <p:sp>
        <p:nvSpPr>
          <p:cNvPr id="25" name="TextBox 24"/>
          <p:cNvSpPr txBox="1"/>
          <p:nvPr/>
        </p:nvSpPr>
        <p:spPr>
          <a:xfrm>
            <a:off x="8961120" y="4251960"/>
            <a:ext cx="2834640" cy="384048"/>
          </a:xfrm>
          <a:prstGeom prst="rect">
            <a:avLst/>
          </a:prstGeom>
          <a:noFill/>
        </p:spPr>
        <p:txBody>
          <a:bodyPr wrap="square">
            <a:spAutoFit/>
          </a:bodyPr>
          <a:lstStyle/>
          <a:p>
            <a:pPr algn="l"/>
            <a:r>
              <a:rPr sz="1200" b="0" i="0">
                <a:solidFill>
                  <a:srgbClr val="CCD5E0"/>
                </a:solidFill>
              </a:rPr>
              <a:t>Maximally flat passband (0 ripple)</a:t>
            </a:r>
          </a:p>
        </p:txBody>
      </p:sp>
      <p:sp>
        <p:nvSpPr>
          <p:cNvPr id="26" name="TextBox 25"/>
          <p:cNvSpPr txBox="1"/>
          <p:nvPr/>
        </p:nvSpPr>
        <p:spPr>
          <a:xfrm>
            <a:off x="6327648" y="4709160"/>
            <a:ext cx="2560320" cy="384048"/>
          </a:xfrm>
          <a:prstGeom prst="rect">
            <a:avLst/>
          </a:prstGeom>
          <a:noFill/>
        </p:spPr>
        <p:txBody>
          <a:bodyPr wrap="square">
            <a:spAutoFit/>
          </a:bodyPr>
          <a:lstStyle/>
          <a:p>
            <a:pPr algn="l"/>
            <a:r>
              <a:rPr sz="1200" b="1" i="0">
                <a:solidFill>
                  <a:srgbClr val="F4A261"/>
                </a:solidFill>
              </a:rPr>
              <a:t>Chebyshev I  order-4 Rp=0.5dB</a:t>
            </a:r>
          </a:p>
        </p:txBody>
      </p:sp>
      <p:sp>
        <p:nvSpPr>
          <p:cNvPr id="27" name="TextBox 26"/>
          <p:cNvSpPr txBox="1"/>
          <p:nvPr/>
        </p:nvSpPr>
        <p:spPr>
          <a:xfrm>
            <a:off x="8961120" y="4709160"/>
            <a:ext cx="2834640" cy="384048"/>
          </a:xfrm>
          <a:prstGeom prst="rect">
            <a:avLst/>
          </a:prstGeom>
          <a:noFill/>
        </p:spPr>
        <p:txBody>
          <a:bodyPr wrap="square">
            <a:spAutoFit/>
          </a:bodyPr>
          <a:lstStyle/>
          <a:p>
            <a:pPr algn="l"/>
            <a:r>
              <a:rPr sz="1200" b="0" i="0">
                <a:solidFill>
                  <a:srgbClr val="CCD5E0"/>
                </a:solidFill>
              </a:rPr>
              <a:t>Equiripple passband, steeper rolloff</a:t>
            </a:r>
          </a:p>
        </p:txBody>
      </p:sp>
      <p:sp>
        <p:nvSpPr>
          <p:cNvPr id="28" name="TextBox 27"/>
          <p:cNvSpPr txBox="1"/>
          <p:nvPr/>
        </p:nvSpPr>
        <p:spPr>
          <a:xfrm>
            <a:off x="6327648" y="5166360"/>
            <a:ext cx="2560320" cy="384048"/>
          </a:xfrm>
          <a:prstGeom prst="rect">
            <a:avLst/>
          </a:prstGeom>
          <a:noFill/>
        </p:spPr>
        <p:txBody>
          <a:bodyPr wrap="square">
            <a:spAutoFit/>
          </a:bodyPr>
          <a:lstStyle/>
          <a:p>
            <a:pPr algn="l"/>
            <a:r>
              <a:rPr sz="1200" b="1" i="0">
                <a:solidFill>
                  <a:srgbClr val="52B788"/>
                </a:solidFill>
              </a:rPr>
              <a:t>Chebyshev II order-4 Rs=40dB</a:t>
            </a:r>
          </a:p>
        </p:txBody>
      </p:sp>
      <p:sp>
        <p:nvSpPr>
          <p:cNvPr id="29" name="TextBox 28"/>
          <p:cNvSpPr txBox="1"/>
          <p:nvPr/>
        </p:nvSpPr>
        <p:spPr>
          <a:xfrm>
            <a:off x="8961120" y="5166360"/>
            <a:ext cx="2834640" cy="384048"/>
          </a:xfrm>
          <a:prstGeom prst="rect">
            <a:avLst/>
          </a:prstGeom>
          <a:noFill/>
        </p:spPr>
        <p:txBody>
          <a:bodyPr wrap="square">
            <a:spAutoFit/>
          </a:bodyPr>
          <a:lstStyle/>
          <a:p>
            <a:pPr algn="l"/>
            <a:r>
              <a:rPr sz="1200" b="0" i="0">
                <a:solidFill>
                  <a:srgbClr val="CCD5E0"/>
                </a:solidFill>
              </a:rPr>
              <a:t>Flat passband, equiripple stopband</a:t>
            </a:r>
          </a:p>
        </p:txBody>
      </p:sp>
      <p:sp>
        <p:nvSpPr>
          <p:cNvPr id="30" name="TextBox 29"/>
          <p:cNvSpPr txBox="1"/>
          <p:nvPr/>
        </p:nvSpPr>
        <p:spPr>
          <a:xfrm>
            <a:off x="6327648" y="5623560"/>
            <a:ext cx="2560320" cy="384048"/>
          </a:xfrm>
          <a:prstGeom prst="rect">
            <a:avLst/>
          </a:prstGeom>
          <a:noFill/>
        </p:spPr>
        <p:txBody>
          <a:bodyPr wrap="square">
            <a:spAutoFit/>
          </a:bodyPr>
          <a:lstStyle/>
          <a:p>
            <a:pPr algn="l"/>
            <a:r>
              <a:rPr sz="1200" b="1" i="0">
                <a:solidFill>
                  <a:srgbClr val="B583FF"/>
                </a:solidFill>
              </a:rPr>
              <a:t>Elliptic     order-4 Rp=0.5 Rs=40</a:t>
            </a:r>
          </a:p>
        </p:txBody>
      </p:sp>
      <p:sp>
        <p:nvSpPr>
          <p:cNvPr id="31" name="TextBox 30"/>
          <p:cNvSpPr txBox="1"/>
          <p:nvPr/>
        </p:nvSpPr>
        <p:spPr>
          <a:xfrm>
            <a:off x="8961120" y="5623560"/>
            <a:ext cx="2834640" cy="384048"/>
          </a:xfrm>
          <a:prstGeom prst="rect">
            <a:avLst/>
          </a:prstGeom>
          <a:noFill/>
        </p:spPr>
        <p:txBody>
          <a:bodyPr wrap="square">
            <a:spAutoFit/>
          </a:bodyPr>
          <a:lstStyle/>
          <a:p>
            <a:pPr algn="l"/>
            <a:r>
              <a:rPr sz="1200" b="0" i="0">
                <a:solidFill>
                  <a:srgbClr val="CCD5E0"/>
                </a:solidFill>
              </a:rPr>
              <a:t>Equiripple both bands, steepest</a:t>
            </a:r>
          </a:p>
        </p:txBody>
      </p:sp>
      <p:sp>
        <p:nvSpPr>
          <p:cNvPr id="32" name="TextBox 31"/>
          <p:cNvSpPr txBox="1"/>
          <p:nvPr/>
        </p:nvSpPr>
        <p:spPr>
          <a:xfrm>
            <a:off x="6327648" y="6108192"/>
            <a:ext cx="5486400" cy="292608"/>
          </a:xfrm>
          <a:prstGeom prst="rect">
            <a:avLst/>
          </a:prstGeom>
          <a:noFill/>
        </p:spPr>
        <p:txBody>
          <a:bodyPr wrap="square">
            <a:spAutoFit/>
          </a:bodyPr>
          <a:lstStyle/>
          <a:p>
            <a:pPr algn="l"/>
            <a:r>
              <a:rPr sz="1200" b="0" i="1">
                <a:solidFill>
                  <a:srgbClr val="FFD166"/>
                </a:solidFill>
              </a:rPr>
              <a:t>All applied with filtfilt → zero-phase (forward+backward pass)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Output CSV &amp; Per-Frame Quality Metrics</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T rows × 26 columns  ·  8 quality metrics  ·  composite quality score</a:t>
            </a:r>
          </a:p>
        </p:txBody>
      </p:sp>
      <p:sp>
        <p:nvSpPr>
          <p:cNvPr id="5" name="Rectangle 4"/>
          <p:cNvSpPr/>
          <p:nvPr/>
        </p:nvSpPr>
        <p:spPr>
          <a:xfrm>
            <a:off x="320040" y="1280160"/>
            <a:ext cx="1920240" cy="36576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59" y="1307592"/>
            <a:ext cx="1828800" cy="301752"/>
          </a:xfrm>
          <a:prstGeom prst="rect">
            <a:avLst/>
          </a:prstGeom>
          <a:noFill/>
        </p:spPr>
        <p:txBody>
          <a:bodyPr wrap="square">
            <a:spAutoFit/>
          </a:bodyPr>
          <a:lstStyle/>
          <a:p>
            <a:pPr algn="ctr"/>
            <a:r>
              <a:rPr sz="1200" b="1" i="0">
                <a:solidFill>
                  <a:srgbClr val="0D1B2A"/>
                </a:solidFill>
              </a:rPr>
              <a:t>Timing</a:t>
            </a:r>
          </a:p>
        </p:txBody>
      </p:sp>
      <p:sp>
        <p:nvSpPr>
          <p:cNvPr id="7" name="Rectangle 6"/>
          <p:cNvSpPr/>
          <p:nvPr/>
        </p:nvSpPr>
        <p:spPr>
          <a:xfrm>
            <a:off x="320040" y="1719072"/>
            <a:ext cx="1920240" cy="310896"/>
          </a:xfrm>
          <a:prstGeom prst="rect">
            <a:avLst/>
          </a:prstGeom>
          <a:solidFill>
            <a:srgbClr val="1E2D3D"/>
          </a:solidFill>
          <a:ln w="15240">
            <a:solidFill>
              <a:srgbClr val="CC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746504"/>
            <a:ext cx="1792224" cy="256032"/>
          </a:xfrm>
          <a:prstGeom prst="rect">
            <a:avLst/>
          </a:prstGeom>
          <a:noFill/>
        </p:spPr>
        <p:txBody>
          <a:bodyPr wrap="square">
            <a:spAutoFit/>
          </a:bodyPr>
          <a:lstStyle/>
          <a:p>
            <a:pPr algn="l"/>
            <a:r>
              <a:rPr sz="1100" b="0" i="0">
                <a:solidFill>
                  <a:srgbClr val="FFFFFF"/>
                </a:solidFill>
              </a:rPr>
              <a:t>frame_index</a:t>
            </a:r>
          </a:p>
        </p:txBody>
      </p:sp>
      <p:sp>
        <p:nvSpPr>
          <p:cNvPr id="9" name="Rectangle 8"/>
          <p:cNvSpPr/>
          <p:nvPr/>
        </p:nvSpPr>
        <p:spPr>
          <a:xfrm>
            <a:off x="320040" y="2066543"/>
            <a:ext cx="1920240" cy="310896"/>
          </a:xfrm>
          <a:prstGeom prst="rect">
            <a:avLst/>
          </a:prstGeom>
          <a:solidFill>
            <a:srgbClr val="1E2D3D"/>
          </a:solidFill>
          <a:ln w="15240">
            <a:solidFill>
              <a:srgbClr val="CC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2093976"/>
            <a:ext cx="1792224" cy="256032"/>
          </a:xfrm>
          <a:prstGeom prst="rect">
            <a:avLst/>
          </a:prstGeom>
          <a:noFill/>
        </p:spPr>
        <p:txBody>
          <a:bodyPr wrap="square">
            <a:spAutoFit/>
          </a:bodyPr>
          <a:lstStyle/>
          <a:p>
            <a:pPr algn="l"/>
            <a:r>
              <a:rPr sz="1100" b="0" i="0">
                <a:solidFill>
                  <a:srgbClr val="FFFFFF"/>
                </a:solidFill>
              </a:rPr>
              <a:t>time_s</a:t>
            </a:r>
          </a:p>
        </p:txBody>
      </p:sp>
      <p:sp>
        <p:nvSpPr>
          <p:cNvPr id="11" name="Rectangle 10"/>
          <p:cNvSpPr/>
          <p:nvPr/>
        </p:nvSpPr>
        <p:spPr>
          <a:xfrm>
            <a:off x="2331720" y="1280160"/>
            <a:ext cx="1920240" cy="3657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1307592"/>
            <a:ext cx="1828800" cy="301752"/>
          </a:xfrm>
          <a:prstGeom prst="rect">
            <a:avLst/>
          </a:prstGeom>
          <a:noFill/>
        </p:spPr>
        <p:txBody>
          <a:bodyPr wrap="square">
            <a:spAutoFit/>
          </a:bodyPr>
          <a:lstStyle/>
          <a:p>
            <a:pPr algn="ctr"/>
            <a:r>
              <a:rPr sz="1200" b="1" i="0">
                <a:solidFill>
                  <a:srgbClr val="0D1B2A"/>
                </a:solidFill>
              </a:rPr>
              <a:t>Raw RGB</a:t>
            </a:r>
          </a:p>
        </p:txBody>
      </p:sp>
      <p:sp>
        <p:nvSpPr>
          <p:cNvPr id="13" name="Rectangle 12"/>
          <p:cNvSpPr/>
          <p:nvPr/>
        </p:nvSpPr>
        <p:spPr>
          <a:xfrm>
            <a:off x="2331720" y="1719072"/>
            <a:ext cx="1920240" cy="310896"/>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95728" y="1746504"/>
            <a:ext cx="1792224" cy="256032"/>
          </a:xfrm>
          <a:prstGeom prst="rect">
            <a:avLst/>
          </a:prstGeom>
          <a:noFill/>
        </p:spPr>
        <p:txBody>
          <a:bodyPr wrap="square">
            <a:spAutoFit/>
          </a:bodyPr>
          <a:lstStyle/>
          <a:p>
            <a:pPr algn="l"/>
            <a:r>
              <a:rPr sz="1100" b="0" i="0">
                <a:solidFill>
                  <a:srgbClr val="FFFFFF"/>
                </a:solidFill>
              </a:rPr>
              <a:t>R/G/B_skin_raw</a:t>
            </a:r>
          </a:p>
        </p:txBody>
      </p:sp>
      <p:sp>
        <p:nvSpPr>
          <p:cNvPr id="15" name="Rectangle 14"/>
          <p:cNvSpPr/>
          <p:nvPr/>
        </p:nvSpPr>
        <p:spPr>
          <a:xfrm>
            <a:off x="2331720" y="2066543"/>
            <a:ext cx="1920240" cy="310896"/>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95728" y="2093976"/>
            <a:ext cx="1792224" cy="256032"/>
          </a:xfrm>
          <a:prstGeom prst="rect">
            <a:avLst/>
          </a:prstGeom>
          <a:noFill/>
        </p:spPr>
        <p:txBody>
          <a:bodyPr wrap="square">
            <a:spAutoFit/>
          </a:bodyPr>
          <a:lstStyle/>
          <a:p>
            <a:pPr algn="l"/>
            <a:r>
              <a:rPr sz="1100" b="0" i="0">
                <a:solidFill>
                  <a:srgbClr val="FFFFFF"/>
                </a:solidFill>
              </a:rPr>
              <a:t>R/G/B_normalized</a:t>
            </a:r>
          </a:p>
        </p:txBody>
      </p:sp>
      <p:sp>
        <p:nvSpPr>
          <p:cNvPr id="17" name="Rectangle 16"/>
          <p:cNvSpPr/>
          <p:nvPr/>
        </p:nvSpPr>
        <p:spPr>
          <a:xfrm>
            <a:off x="4343400" y="1280160"/>
            <a:ext cx="1920240" cy="36576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1307592"/>
            <a:ext cx="1828800" cy="301752"/>
          </a:xfrm>
          <a:prstGeom prst="rect">
            <a:avLst/>
          </a:prstGeom>
          <a:noFill/>
        </p:spPr>
        <p:txBody>
          <a:bodyPr wrap="square">
            <a:spAutoFit/>
          </a:bodyPr>
          <a:lstStyle/>
          <a:p>
            <a:pPr algn="ctr"/>
            <a:r>
              <a:rPr sz="1200" b="1" i="0">
                <a:solidFill>
                  <a:srgbClr val="0D1B2A"/>
                </a:solidFill>
              </a:rPr>
              <a:t>Frame stats</a:t>
            </a:r>
          </a:p>
        </p:txBody>
      </p:sp>
      <p:sp>
        <p:nvSpPr>
          <p:cNvPr id="19" name="Rectangle 18"/>
          <p:cNvSpPr/>
          <p:nvPr/>
        </p:nvSpPr>
        <p:spPr>
          <a:xfrm>
            <a:off x="4343400" y="1719072"/>
            <a:ext cx="1920240" cy="310896"/>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7408" y="1746504"/>
            <a:ext cx="1792224" cy="256032"/>
          </a:xfrm>
          <a:prstGeom prst="rect">
            <a:avLst/>
          </a:prstGeom>
          <a:noFill/>
        </p:spPr>
        <p:txBody>
          <a:bodyPr wrap="square">
            <a:spAutoFit/>
          </a:bodyPr>
          <a:lstStyle/>
          <a:p>
            <a:pPr algn="l"/>
            <a:r>
              <a:rPr sz="1100" b="0" i="0">
                <a:solidFill>
                  <a:srgbClr val="FFFFFF"/>
                </a:solidFill>
              </a:rPr>
              <a:t>frame_luminance</a:t>
            </a:r>
          </a:p>
        </p:txBody>
      </p:sp>
      <p:sp>
        <p:nvSpPr>
          <p:cNvPr id="21" name="Rectangle 20"/>
          <p:cNvSpPr/>
          <p:nvPr/>
        </p:nvSpPr>
        <p:spPr>
          <a:xfrm>
            <a:off x="4343400" y="2066543"/>
            <a:ext cx="1920240" cy="310896"/>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07408" y="2093976"/>
            <a:ext cx="1792224" cy="256032"/>
          </a:xfrm>
          <a:prstGeom prst="rect">
            <a:avLst/>
          </a:prstGeom>
          <a:noFill/>
        </p:spPr>
        <p:txBody>
          <a:bodyPr wrap="square">
            <a:spAutoFit/>
          </a:bodyPr>
          <a:lstStyle/>
          <a:p>
            <a:pPr algn="l"/>
            <a:r>
              <a:rPr sz="1100" b="0" i="0">
                <a:solidFill>
                  <a:srgbClr val="FFFFFF"/>
                </a:solidFill>
              </a:rPr>
              <a:t>face_detected</a:t>
            </a:r>
          </a:p>
        </p:txBody>
      </p:sp>
      <p:sp>
        <p:nvSpPr>
          <p:cNvPr id="23" name="Rectangle 22"/>
          <p:cNvSpPr/>
          <p:nvPr/>
        </p:nvSpPr>
        <p:spPr>
          <a:xfrm>
            <a:off x="4343400" y="2414015"/>
            <a:ext cx="1920240" cy="310896"/>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07408" y="2441448"/>
            <a:ext cx="1792224" cy="256032"/>
          </a:xfrm>
          <a:prstGeom prst="rect">
            <a:avLst/>
          </a:prstGeom>
          <a:noFill/>
        </p:spPr>
        <p:txBody>
          <a:bodyPr wrap="square">
            <a:spAutoFit/>
          </a:bodyPr>
          <a:lstStyle/>
          <a:p>
            <a:pPr algn="l"/>
            <a:r>
              <a:rPr sz="1100" b="0" i="0">
                <a:solidFill>
                  <a:srgbClr val="FFFFFF"/>
                </a:solidFill>
              </a:rPr>
              <a:t>skin_pixel_count</a:t>
            </a:r>
          </a:p>
        </p:txBody>
      </p:sp>
      <p:sp>
        <p:nvSpPr>
          <p:cNvPr id="25" name="Rectangle 24"/>
          <p:cNvSpPr/>
          <p:nvPr/>
        </p:nvSpPr>
        <p:spPr>
          <a:xfrm>
            <a:off x="6355080" y="1280160"/>
            <a:ext cx="1920240" cy="36576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307592"/>
            <a:ext cx="1828800" cy="301752"/>
          </a:xfrm>
          <a:prstGeom prst="rect">
            <a:avLst/>
          </a:prstGeom>
          <a:noFill/>
        </p:spPr>
        <p:txBody>
          <a:bodyPr wrap="square">
            <a:spAutoFit/>
          </a:bodyPr>
          <a:lstStyle/>
          <a:p>
            <a:pPr algn="ctr"/>
            <a:r>
              <a:rPr sz="1200" b="1" i="0">
                <a:solidFill>
                  <a:srgbClr val="0D1B2A"/>
                </a:solidFill>
              </a:rPr>
              <a:t>BVP variants ×5</a:t>
            </a:r>
          </a:p>
        </p:txBody>
      </p:sp>
      <p:sp>
        <p:nvSpPr>
          <p:cNvPr id="27" name="Rectangle 26"/>
          <p:cNvSpPr/>
          <p:nvPr/>
        </p:nvSpPr>
        <p:spPr>
          <a:xfrm>
            <a:off x="6355080" y="1719072"/>
            <a:ext cx="1920240" cy="310896"/>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1746504"/>
            <a:ext cx="1792224" cy="256032"/>
          </a:xfrm>
          <a:prstGeom prst="rect">
            <a:avLst/>
          </a:prstGeom>
          <a:noFill/>
        </p:spPr>
        <p:txBody>
          <a:bodyPr wrap="square">
            <a:spAutoFit/>
          </a:bodyPr>
          <a:lstStyle/>
          <a:p>
            <a:pPr algn="l"/>
            <a:r>
              <a:rPr sz="1100" b="0" i="0">
                <a:solidFill>
                  <a:srgbClr val="FFFFFF"/>
                </a:solidFill>
              </a:rPr>
              <a:t>BVP_detrended</a:t>
            </a:r>
          </a:p>
        </p:txBody>
      </p:sp>
      <p:sp>
        <p:nvSpPr>
          <p:cNvPr id="29" name="Rectangle 28"/>
          <p:cNvSpPr/>
          <p:nvPr/>
        </p:nvSpPr>
        <p:spPr>
          <a:xfrm>
            <a:off x="6355080" y="2066543"/>
            <a:ext cx="1920240" cy="310896"/>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19088" y="2093976"/>
            <a:ext cx="1792224" cy="256032"/>
          </a:xfrm>
          <a:prstGeom prst="rect">
            <a:avLst/>
          </a:prstGeom>
          <a:noFill/>
        </p:spPr>
        <p:txBody>
          <a:bodyPr wrap="square">
            <a:spAutoFit/>
          </a:bodyPr>
          <a:lstStyle/>
          <a:p>
            <a:pPr algn="l"/>
            <a:r>
              <a:rPr sz="1100" b="0" i="0">
                <a:solidFill>
                  <a:srgbClr val="FFFFFF"/>
                </a:solidFill>
              </a:rPr>
              <a:t>BVP_butterworth</a:t>
            </a:r>
          </a:p>
        </p:txBody>
      </p:sp>
      <p:sp>
        <p:nvSpPr>
          <p:cNvPr id="31" name="Rectangle 30"/>
          <p:cNvSpPr/>
          <p:nvPr/>
        </p:nvSpPr>
        <p:spPr>
          <a:xfrm>
            <a:off x="6355080" y="2414015"/>
            <a:ext cx="1920240" cy="310896"/>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9088" y="2441448"/>
            <a:ext cx="1792224" cy="256032"/>
          </a:xfrm>
          <a:prstGeom prst="rect">
            <a:avLst/>
          </a:prstGeom>
          <a:noFill/>
        </p:spPr>
        <p:txBody>
          <a:bodyPr wrap="square">
            <a:spAutoFit/>
          </a:bodyPr>
          <a:lstStyle/>
          <a:p>
            <a:pPr algn="l"/>
            <a:r>
              <a:rPr sz="1100" b="0" i="0">
                <a:solidFill>
                  <a:srgbClr val="FFFFFF"/>
                </a:solidFill>
              </a:rPr>
              <a:t>BVP_cheby1</a:t>
            </a:r>
          </a:p>
        </p:txBody>
      </p:sp>
      <p:sp>
        <p:nvSpPr>
          <p:cNvPr id="33" name="Rectangle 32"/>
          <p:cNvSpPr/>
          <p:nvPr/>
        </p:nvSpPr>
        <p:spPr>
          <a:xfrm>
            <a:off x="6355080" y="2761488"/>
            <a:ext cx="1920240" cy="310896"/>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9088" y="2788920"/>
            <a:ext cx="1792224" cy="256032"/>
          </a:xfrm>
          <a:prstGeom prst="rect">
            <a:avLst/>
          </a:prstGeom>
          <a:noFill/>
        </p:spPr>
        <p:txBody>
          <a:bodyPr wrap="square">
            <a:spAutoFit/>
          </a:bodyPr>
          <a:lstStyle/>
          <a:p>
            <a:pPr algn="l"/>
            <a:r>
              <a:rPr sz="1100" b="0" i="0">
                <a:solidFill>
                  <a:srgbClr val="FFFFFF"/>
                </a:solidFill>
              </a:rPr>
              <a:t>BVP_cheby2</a:t>
            </a:r>
          </a:p>
        </p:txBody>
      </p:sp>
      <p:sp>
        <p:nvSpPr>
          <p:cNvPr id="35" name="Rectangle 34"/>
          <p:cNvSpPr/>
          <p:nvPr/>
        </p:nvSpPr>
        <p:spPr>
          <a:xfrm>
            <a:off x="6355080" y="3108960"/>
            <a:ext cx="1920240" cy="310896"/>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9088" y="3136391"/>
            <a:ext cx="1792224" cy="256032"/>
          </a:xfrm>
          <a:prstGeom prst="rect">
            <a:avLst/>
          </a:prstGeom>
          <a:noFill/>
        </p:spPr>
        <p:txBody>
          <a:bodyPr wrap="square">
            <a:spAutoFit/>
          </a:bodyPr>
          <a:lstStyle/>
          <a:p>
            <a:pPr algn="l"/>
            <a:r>
              <a:rPr sz="1100" b="0" i="0">
                <a:solidFill>
                  <a:srgbClr val="FFFFFF"/>
                </a:solidFill>
              </a:rPr>
              <a:t>BVP_elliptic</a:t>
            </a:r>
          </a:p>
        </p:txBody>
      </p:sp>
      <p:sp>
        <p:nvSpPr>
          <p:cNvPr id="37" name="Rectangle 36"/>
          <p:cNvSpPr/>
          <p:nvPr/>
        </p:nvSpPr>
        <p:spPr>
          <a:xfrm>
            <a:off x="6355080" y="3456432"/>
            <a:ext cx="1920240" cy="310896"/>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19088" y="3483863"/>
            <a:ext cx="1792224" cy="256032"/>
          </a:xfrm>
          <a:prstGeom prst="rect">
            <a:avLst/>
          </a:prstGeom>
          <a:noFill/>
        </p:spPr>
        <p:txBody>
          <a:bodyPr wrap="square">
            <a:spAutoFit/>
          </a:bodyPr>
          <a:lstStyle/>
          <a:p>
            <a:pPr algn="l"/>
            <a:r>
              <a:rPr sz="1100" b="0" i="0">
                <a:solidFill>
                  <a:srgbClr val="FFFFFF"/>
                </a:solidFill>
              </a:rPr>
              <a:t>BVP_pca</a:t>
            </a:r>
          </a:p>
        </p:txBody>
      </p:sp>
      <p:sp>
        <p:nvSpPr>
          <p:cNvPr id="39" name="Rectangle 38"/>
          <p:cNvSpPr/>
          <p:nvPr/>
        </p:nvSpPr>
        <p:spPr>
          <a:xfrm>
            <a:off x="8366760" y="1280160"/>
            <a:ext cx="1920240" cy="3657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0" y="1307592"/>
            <a:ext cx="1828800" cy="301752"/>
          </a:xfrm>
          <a:prstGeom prst="rect">
            <a:avLst/>
          </a:prstGeom>
          <a:noFill/>
        </p:spPr>
        <p:txBody>
          <a:bodyPr wrap="square">
            <a:spAutoFit/>
          </a:bodyPr>
          <a:lstStyle/>
          <a:p>
            <a:pPr algn="ctr"/>
            <a:r>
              <a:rPr sz="1200" b="1" i="0">
                <a:solidFill>
                  <a:srgbClr val="0D1B2A"/>
                </a:solidFill>
              </a:rPr>
              <a:t>Ground truth</a:t>
            </a:r>
          </a:p>
        </p:txBody>
      </p:sp>
      <p:sp>
        <p:nvSpPr>
          <p:cNvPr id="41" name="Rectangle 40"/>
          <p:cNvSpPr/>
          <p:nvPr/>
        </p:nvSpPr>
        <p:spPr>
          <a:xfrm>
            <a:off x="8366760" y="1719072"/>
            <a:ext cx="1920240" cy="310896"/>
          </a:xfrm>
          <a:prstGeom prst="rect">
            <a:avLst/>
          </a:prstGeom>
          <a:solidFill>
            <a:srgbClr val="1E2D3D"/>
          </a:solidFill>
          <a:ln w="1524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30768" y="1746504"/>
            <a:ext cx="1792224" cy="256032"/>
          </a:xfrm>
          <a:prstGeom prst="rect">
            <a:avLst/>
          </a:prstGeom>
          <a:noFill/>
        </p:spPr>
        <p:txBody>
          <a:bodyPr wrap="square">
            <a:spAutoFit/>
          </a:bodyPr>
          <a:lstStyle/>
          <a:p>
            <a:pPr algn="l"/>
            <a:r>
              <a:rPr sz="1100" b="0" i="0">
                <a:solidFill>
                  <a:srgbClr val="FFFFFF"/>
                </a:solidFill>
              </a:rPr>
              <a:t>gt_bpm</a:t>
            </a:r>
          </a:p>
        </p:txBody>
      </p:sp>
      <p:sp>
        <p:nvSpPr>
          <p:cNvPr id="43" name="Rectangle 42"/>
          <p:cNvSpPr/>
          <p:nvPr/>
        </p:nvSpPr>
        <p:spPr>
          <a:xfrm>
            <a:off x="10378440" y="1280160"/>
            <a:ext cx="1920240" cy="365760"/>
          </a:xfrm>
          <a:prstGeom prst="rect">
            <a:avLst/>
          </a:prstGeom>
          <a:solidFill>
            <a:srgbClr val="B5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424160" y="1307592"/>
            <a:ext cx="1828800" cy="301752"/>
          </a:xfrm>
          <a:prstGeom prst="rect">
            <a:avLst/>
          </a:prstGeom>
          <a:noFill/>
        </p:spPr>
        <p:txBody>
          <a:bodyPr wrap="square">
            <a:spAutoFit/>
          </a:bodyPr>
          <a:lstStyle/>
          <a:p>
            <a:pPr algn="ctr"/>
            <a:r>
              <a:rPr sz="1200" b="1" i="0">
                <a:solidFill>
                  <a:srgbClr val="0D1B2A"/>
                </a:solidFill>
              </a:rPr>
              <a:t>Quality ×8</a:t>
            </a:r>
          </a:p>
        </p:txBody>
      </p:sp>
      <p:sp>
        <p:nvSpPr>
          <p:cNvPr id="45" name="Rectangle 44"/>
          <p:cNvSpPr/>
          <p:nvPr/>
        </p:nvSpPr>
        <p:spPr>
          <a:xfrm>
            <a:off x="10378440" y="1719072"/>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42448" y="1746504"/>
            <a:ext cx="1792224" cy="256032"/>
          </a:xfrm>
          <a:prstGeom prst="rect">
            <a:avLst/>
          </a:prstGeom>
          <a:noFill/>
        </p:spPr>
        <p:txBody>
          <a:bodyPr wrap="square">
            <a:spAutoFit/>
          </a:bodyPr>
          <a:lstStyle/>
          <a:p>
            <a:pPr algn="l"/>
            <a:r>
              <a:rPr sz="1100" b="0" i="0">
                <a:solidFill>
                  <a:srgbClr val="FFFFFF"/>
                </a:solidFill>
              </a:rPr>
              <a:t>bisenet_conf</a:t>
            </a:r>
          </a:p>
        </p:txBody>
      </p:sp>
      <p:sp>
        <p:nvSpPr>
          <p:cNvPr id="47" name="Rectangle 46"/>
          <p:cNvSpPr/>
          <p:nvPr/>
        </p:nvSpPr>
        <p:spPr>
          <a:xfrm>
            <a:off x="10378440" y="2066543"/>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42448" y="2093976"/>
            <a:ext cx="1792224" cy="256032"/>
          </a:xfrm>
          <a:prstGeom prst="rect">
            <a:avLst/>
          </a:prstGeom>
          <a:noFill/>
        </p:spPr>
        <p:txBody>
          <a:bodyPr wrap="square">
            <a:spAutoFit/>
          </a:bodyPr>
          <a:lstStyle/>
          <a:p>
            <a:pPr algn="l"/>
            <a:r>
              <a:rPr sz="1100" b="0" i="0">
                <a:solidFill>
                  <a:srgbClr val="FFFFFF"/>
                </a:solidFill>
              </a:rPr>
              <a:t>vote_mean</a:t>
            </a:r>
          </a:p>
        </p:txBody>
      </p:sp>
      <p:sp>
        <p:nvSpPr>
          <p:cNvPr id="49" name="Rectangle 48"/>
          <p:cNvSpPr/>
          <p:nvPr/>
        </p:nvSpPr>
        <p:spPr>
          <a:xfrm>
            <a:off x="10378440" y="2414015"/>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42448" y="2441448"/>
            <a:ext cx="1792224" cy="256032"/>
          </a:xfrm>
          <a:prstGeom prst="rect">
            <a:avLst/>
          </a:prstGeom>
          <a:noFill/>
        </p:spPr>
        <p:txBody>
          <a:bodyPr wrap="square">
            <a:spAutoFit/>
          </a:bodyPr>
          <a:lstStyle/>
          <a:p>
            <a:pPr algn="l"/>
            <a:r>
              <a:rPr sz="1100" b="0" i="0">
                <a:solidFill>
                  <a:srgbClr val="FFFFFF"/>
                </a:solidFill>
              </a:rPr>
              <a:t>highconf_pct</a:t>
            </a:r>
          </a:p>
        </p:txBody>
      </p:sp>
      <p:sp>
        <p:nvSpPr>
          <p:cNvPr id="51" name="Rectangle 50"/>
          <p:cNvSpPr/>
          <p:nvPr/>
        </p:nvSpPr>
        <p:spPr>
          <a:xfrm>
            <a:off x="10378440" y="2761488"/>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442448" y="2788920"/>
            <a:ext cx="1792224" cy="256032"/>
          </a:xfrm>
          <a:prstGeom prst="rect">
            <a:avLst/>
          </a:prstGeom>
          <a:noFill/>
        </p:spPr>
        <p:txBody>
          <a:bodyPr wrap="square">
            <a:spAutoFit/>
          </a:bodyPr>
          <a:lstStyle/>
          <a:p>
            <a:pPr algn="l"/>
            <a:r>
              <a:rPr sz="1100" b="0" i="0">
                <a:solidFill>
                  <a:srgbClr val="FFFFFF"/>
                </a:solidFill>
              </a:rPr>
              <a:t>roi_coverage</a:t>
            </a:r>
          </a:p>
        </p:txBody>
      </p:sp>
      <p:sp>
        <p:nvSpPr>
          <p:cNvPr id="53" name="Rectangle 52"/>
          <p:cNvSpPr/>
          <p:nvPr/>
        </p:nvSpPr>
        <p:spPr>
          <a:xfrm>
            <a:off x="10378440" y="3108960"/>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442448" y="3136391"/>
            <a:ext cx="1792224" cy="256032"/>
          </a:xfrm>
          <a:prstGeom prst="rect">
            <a:avLst/>
          </a:prstGeom>
          <a:noFill/>
        </p:spPr>
        <p:txBody>
          <a:bodyPr wrap="square">
            <a:spAutoFit/>
          </a:bodyPr>
          <a:lstStyle/>
          <a:p>
            <a:pPr algn="l"/>
            <a:r>
              <a:rPr sz="1100" b="0" i="0">
                <a:solidFill>
                  <a:srgbClr val="FFFFFF"/>
                </a:solidFill>
              </a:rPr>
              <a:t>green_cv</a:t>
            </a:r>
          </a:p>
        </p:txBody>
      </p:sp>
      <p:sp>
        <p:nvSpPr>
          <p:cNvPr id="55" name="Rectangle 54"/>
          <p:cNvSpPr/>
          <p:nvPr/>
        </p:nvSpPr>
        <p:spPr>
          <a:xfrm>
            <a:off x="10378440" y="3456432"/>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442448" y="3483863"/>
            <a:ext cx="1792224" cy="256032"/>
          </a:xfrm>
          <a:prstGeom prst="rect">
            <a:avLst/>
          </a:prstGeom>
          <a:noFill/>
        </p:spPr>
        <p:txBody>
          <a:bodyPr wrap="square">
            <a:spAutoFit/>
          </a:bodyPr>
          <a:lstStyle/>
          <a:p>
            <a:pPr algn="l"/>
            <a:r>
              <a:rPr sz="1100" b="0" i="0">
                <a:solidFill>
                  <a:srgbClr val="FFFFFF"/>
                </a:solidFill>
              </a:rPr>
              <a:t>hair_rej_frac</a:t>
            </a:r>
          </a:p>
        </p:txBody>
      </p:sp>
      <p:sp>
        <p:nvSpPr>
          <p:cNvPr id="57" name="Rectangle 56"/>
          <p:cNvSpPr/>
          <p:nvPr/>
        </p:nvSpPr>
        <p:spPr>
          <a:xfrm>
            <a:off x="10378440" y="3803904"/>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42448" y="3831336"/>
            <a:ext cx="1792224" cy="256032"/>
          </a:xfrm>
          <a:prstGeom prst="rect">
            <a:avLst/>
          </a:prstGeom>
          <a:noFill/>
        </p:spPr>
        <p:txBody>
          <a:bodyPr wrap="square">
            <a:spAutoFit/>
          </a:bodyPr>
          <a:lstStyle/>
          <a:p>
            <a:pPr algn="l"/>
            <a:r>
              <a:rPr sz="1100" b="0" i="0">
                <a:solidFill>
                  <a:srgbClr val="FFFFFF"/>
                </a:solidFill>
              </a:rPr>
              <a:t>clust_agree</a:t>
            </a:r>
          </a:p>
        </p:txBody>
      </p:sp>
      <p:sp>
        <p:nvSpPr>
          <p:cNvPr id="59" name="Rectangle 58"/>
          <p:cNvSpPr/>
          <p:nvPr/>
        </p:nvSpPr>
        <p:spPr>
          <a:xfrm>
            <a:off x="10378440" y="4151376"/>
            <a:ext cx="1920240" cy="310896"/>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42448" y="4178808"/>
            <a:ext cx="1792224" cy="256032"/>
          </a:xfrm>
          <a:prstGeom prst="rect">
            <a:avLst/>
          </a:prstGeom>
          <a:noFill/>
        </p:spPr>
        <p:txBody>
          <a:bodyPr wrap="square">
            <a:spAutoFit/>
          </a:bodyPr>
          <a:lstStyle/>
          <a:p>
            <a:pPr algn="l"/>
            <a:r>
              <a:rPr sz="1100" b="0" i="0">
                <a:solidFill>
                  <a:srgbClr val="FFFFFF"/>
                </a:solidFill>
              </a:rPr>
              <a:t>quality_score</a:t>
            </a:r>
          </a:p>
        </p:txBody>
      </p:sp>
      <p:sp>
        <p:nvSpPr>
          <p:cNvPr id="61" name="Rectangle 60"/>
          <p:cNvSpPr/>
          <p:nvPr/>
        </p:nvSpPr>
        <p:spPr>
          <a:xfrm>
            <a:off x="320040" y="4251960"/>
            <a:ext cx="11658600" cy="2377440"/>
          </a:xfrm>
          <a:prstGeom prst="rect">
            <a:avLst/>
          </a:prstGeom>
          <a:solidFill>
            <a:srgbClr val="1E2D3D"/>
          </a:solidFill>
          <a:ln w="15240">
            <a:solidFill>
              <a:srgbClr val="B58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4279392"/>
            <a:ext cx="11430000" cy="347472"/>
          </a:xfrm>
          <a:prstGeom prst="rect">
            <a:avLst/>
          </a:prstGeom>
          <a:noFill/>
        </p:spPr>
        <p:txBody>
          <a:bodyPr wrap="square">
            <a:spAutoFit/>
          </a:bodyPr>
          <a:lstStyle/>
          <a:p>
            <a:pPr algn="l"/>
            <a:r>
              <a:rPr sz="1500" b="1" i="0">
                <a:solidFill>
                  <a:srgbClr val="B583FF"/>
                </a:solidFill>
              </a:rPr>
              <a:t>Quality Metrics Explained</a:t>
            </a:r>
          </a:p>
        </p:txBody>
      </p:sp>
      <p:sp>
        <p:nvSpPr>
          <p:cNvPr id="63" name="TextBox 62"/>
          <p:cNvSpPr txBox="1"/>
          <p:nvPr/>
        </p:nvSpPr>
        <p:spPr>
          <a:xfrm>
            <a:off x="411480" y="4681728"/>
            <a:ext cx="2011680" cy="347472"/>
          </a:xfrm>
          <a:prstGeom prst="rect">
            <a:avLst/>
          </a:prstGeom>
          <a:noFill/>
        </p:spPr>
        <p:txBody>
          <a:bodyPr wrap="square">
            <a:spAutoFit/>
          </a:bodyPr>
          <a:lstStyle/>
          <a:p>
            <a:pPr algn="l"/>
            <a:r>
              <a:rPr sz="1200" b="1" i="0">
                <a:solidFill>
                  <a:srgbClr val="00B4D8"/>
                </a:solidFill>
              </a:rPr>
              <a:t>bisenet_conf</a:t>
            </a:r>
          </a:p>
        </p:txBody>
      </p:sp>
      <p:sp>
        <p:nvSpPr>
          <p:cNvPr id="64" name="TextBox 63"/>
          <p:cNvSpPr txBox="1"/>
          <p:nvPr/>
        </p:nvSpPr>
        <p:spPr>
          <a:xfrm>
            <a:off x="2423160" y="4681728"/>
            <a:ext cx="3566160" cy="347472"/>
          </a:xfrm>
          <a:prstGeom prst="rect">
            <a:avLst/>
          </a:prstGeom>
          <a:noFill/>
        </p:spPr>
        <p:txBody>
          <a:bodyPr wrap="square">
            <a:spAutoFit/>
          </a:bodyPr>
          <a:lstStyle/>
          <a:p>
            <a:pPr algn="l"/>
            <a:r>
              <a:rPr sz="1150" b="0" i="0">
                <a:solidFill>
                  <a:srgbClr val="CCD5E0"/>
                </a:solidFill>
              </a:rPr>
              <a:t>Mean BiSeNet P(skin) over accepted pixels  ·  0–1</a:t>
            </a:r>
          </a:p>
        </p:txBody>
      </p:sp>
      <p:sp>
        <p:nvSpPr>
          <p:cNvPr id="65" name="TextBox 64"/>
          <p:cNvSpPr txBox="1"/>
          <p:nvPr/>
        </p:nvSpPr>
        <p:spPr>
          <a:xfrm>
            <a:off x="411480" y="5138928"/>
            <a:ext cx="2011680" cy="347472"/>
          </a:xfrm>
          <a:prstGeom prst="rect">
            <a:avLst/>
          </a:prstGeom>
          <a:noFill/>
        </p:spPr>
        <p:txBody>
          <a:bodyPr wrap="square">
            <a:spAutoFit/>
          </a:bodyPr>
          <a:lstStyle/>
          <a:p>
            <a:pPr algn="l"/>
            <a:r>
              <a:rPr sz="1200" b="1" i="0">
                <a:solidFill>
                  <a:srgbClr val="F4A261"/>
                </a:solidFill>
              </a:rPr>
              <a:t>vote_mean</a:t>
            </a:r>
          </a:p>
        </p:txBody>
      </p:sp>
      <p:sp>
        <p:nvSpPr>
          <p:cNvPr id="66" name="TextBox 65"/>
          <p:cNvSpPr txBox="1"/>
          <p:nvPr/>
        </p:nvSpPr>
        <p:spPr>
          <a:xfrm>
            <a:off x="2423160" y="5138928"/>
            <a:ext cx="3566160" cy="347472"/>
          </a:xfrm>
          <a:prstGeom prst="rect">
            <a:avLst/>
          </a:prstGeom>
          <a:noFill/>
        </p:spPr>
        <p:txBody>
          <a:bodyPr wrap="square">
            <a:spAutoFit/>
          </a:bodyPr>
          <a:lstStyle/>
          <a:p>
            <a:pPr algn="l"/>
            <a:r>
              <a:rPr sz="1150" b="0" i="0">
                <a:solidFill>
                  <a:srgbClr val="CCD5E0"/>
                </a:solidFill>
              </a:rPr>
              <a:t>Mean 3-method colour agreement / 3  ·  1.0 = unanimous</a:t>
            </a:r>
          </a:p>
        </p:txBody>
      </p:sp>
      <p:sp>
        <p:nvSpPr>
          <p:cNvPr id="67" name="TextBox 66"/>
          <p:cNvSpPr txBox="1"/>
          <p:nvPr/>
        </p:nvSpPr>
        <p:spPr>
          <a:xfrm>
            <a:off x="411480" y="5596128"/>
            <a:ext cx="2011680" cy="347472"/>
          </a:xfrm>
          <a:prstGeom prst="rect">
            <a:avLst/>
          </a:prstGeom>
          <a:noFill/>
        </p:spPr>
        <p:txBody>
          <a:bodyPr wrap="square">
            <a:spAutoFit/>
          </a:bodyPr>
          <a:lstStyle/>
          <a:p>
            <a:pPr algn="l"/>
            <a:r>
              <a:rPr sz="1200" b="1" i="0">
                <a:solidFill>
                  <a:srgbClr val="52B788"/>
                </a:solidFill>
              </a:rPr>
              <a:t>highconf_pct</a:t>
            </a:r>
          </a:p>
        </p:txBody>
      </p:sp>
      <p:sp>
        <p:nvSpPr>
          <p:cNvPr id="68" name="TextBox 67"/>
          <p:cNvSpPr txBox="1"/>
          <p:nvPr/>
        </p:nvSpPr>
        <p:spPr>
          <a:xfrm>
            <a:off x="2423160" y="5596128"/>
            <a:ext cx="3566160" cy="347472"/>
          </a:xfrm>
          <a:prstGeom prst="rect">
            <a:avLst/>
          </a:prstGeom>
          <a:noFill/>
        </p:spPr>
        <p:txBody>
          <a:bodyPr wrap="square">
            <a:spAutoFit/>
          </a:bodyPr>
          <a:lstStyle/>
          <a:p>
            <a:pPr algn="l"/>
            <a:r>
              <a:rPr sz="1150" b="0" i="0">
                <a:solidFill>
                  <a:srgbClr val="CCD5E0"/>
                </a:solidFill>
              </a:rPr>
              <a:t>Fraction of skin pixels where ALL 3 colour methods agreed</a:t>
            </a:r>
          </a:p>
        </p:txBody>
      </p:sp>
      <p:sp>
        <p:nvSpPr>
          <p:cNvPr id="69" name="TextBox 68"/>
          <p:cNvSpPr txBox="1"/>
          <p:nvPr/>
        </p:nvSpPr>
        <p:spPr>
          <a:xfrm>
            <a:off x="411480" y="6053328"/>
            <a:ext cx="2011680" cy="347472"/>
          </a:xfrm>
          <a:prstGeom prst="rect">
            <a:avLst/>
          </a:prstGeom>
          <a:noFill/>
        </p:spPr>
        <p:txBody>
          <a:bodyPr wrap="square">
            <a:spAutoFit/>
          </a:bodyPr>
          <a:lstStyle/>
          <a:p>
            <a:pPr algn="l"/>
            <a:r>
              <a:rPr sz="1200" b="1" i="0">
                <a:solidFill>
                  <a:srgbClr val="FFD166"/>
                </a:solidFill>
              </a:rPr>
              <a:t>roi_coverage</a:t>
            </a:r>
          </a:p>
        </p:txBody>
      </p:sp>
      <p:sp>
        <p:nvSpPr>
          <p:cNvPr id="70" name="TextBox 69"/>
          <p:cNvSpPr txBox="1"/>
          <p:nvPr/>
        </p:nvSpPr>
        <p:spPr>
          <a:xfrm>
            <a:off x="2423160" y="6053328"/>
            <a:ext cx="3566160" cy="347472"/>
          </a:xfrm>
          <a:prstGeom prst="rect">
            <a:avLst/>
          </a:prstGeom>
          <a:noFill/>
        </p:spPr>
        <p:txBody>
          <a:bodyPr wrap="square">
            <a:spAutoFit/>
          </a:bodyPr>
          <a:lstStyle/>
          <a:p>
            <a:pPr algn="l"/>
            <a:r>
              <a:rPr sz="1150" b="0" i="0">
                <a:solidFill>
                  <a:srgbClr val="CCD5E0"/>
                </a:solidFill>
              </a:rPr>
              <a:t>skin_px / anatomical_ROI_area  ·  fraction of face covered</a:t>
            </a:r>
          </a:p>
        </p:txBody>
      </p:sp>
      <p:sp>
        <p:nvSpPr>
          <p:cNvPr id="71" name="TextBox 70"/>
          <p:cNvSpPr txBox="1"/>
          <p:nvPr/>
        </p:nvSpPr>
        <p:spPr>
          <a:xfrm>
            <a:off x="6217920" y="4681728"/>
            <a:ext cx="2011680" cy="347472"/>
          </a:xfrm>
          <a:prstGeom prst="rect">
            <a:avLst/>
          </a:prstGeom>
          <a:noFill/>
        </p:spPr>
        <p:txBody>
          <a:bodyPr wrap="square">
            <a:spAutoFit/>
          </a:bodyPr>
          <a:lstStyle/>
          <a:p>
            <a:pPr algn="l"/>
            <a:r>
              <a:rPr sz="1200" b="1" i="0">
                <a:solidFill>
                  <a:srgbClr val="CCD5E0"/>
                </a:solidFill>
              </a:rPr>
              <a:t>green_cv</a:t>
            </a:r>
          </a:p>
        </p:txBody>
      </p:sp>
      <p:sp>
        <p:nvSpPr>
          <p:cNvPr id="72" name="TextBox 71"/>
          <p:cNvSpPr txBox="1"/>
          <p:nvPr/>
        </p:nvSpPr>
        <p:spPr>
          <a:xfrm>
            <a:off x="8229600" y="4681728"/>
            <a:ext cx="3566160" cy="347472"/>
          </a:xfrm>
          <a:prstGeom prst="rect">
            <a:avLst/>
          </a:prstGeom>
          <a:noFill/>
        </p:spPr>
        <p:txBody>
          <a:bodyPr wrap="square">
            <a:spAutoFit/>
          </a:bodyPr>
          <a:lstStyle/>
          <a:p>
            <a:pPr algn="l"/>
            <a:r>
              <a:rPr sz="1150" b="0" i="0">
                <a:solidFill>
                  <a:srgbClr val="CCD5E0"/>
                </a:solidFill>
              </a:rPr>
              <a:t>std(G) / mean(G) over skin pixels  ·  low = spatially uniform</a:t>
            </a:r>
          </a:p>
        </p:txBody>
      </p:sp>
      <p:sp>
        <p:nvSpPr>
          <p:cNvPr id="73" name="TextBox 72"/>
          <p:cNvSpPr txBox="1"/>
          <p:nvPr/>
        </p:nvSpPr>
        <p:spPr>
          <a:xfrm>
            <a:off x="6217920" y="5138928"/>
            <a:ext cx="2011680" cy="347472"/>
          </a:xfrm>
          <a:prstGeom prst="rect">
            <a:avLst/>
          </a:prstGeom>
          <a:noFill/>
        </p:spPr>
        <p:txBody>
          <a:bodyPr wrap="square">
            <a:spAutoFit/>
          </a:bodyPr>
          <a:lstStyle/>
          <a:p>
            <a:pPr algn="l"/>
            <a:r>
              <a:rPr sz="1200" b="1" i="0">
                <a:solidFill>
                  <a:srgbClr val="FF6B6B"/>
                </a:solidFill>
              </a:rPr>
              <a:t>hair_rej_frac</a:t>
            </a:r>
          </a:p>
        </p:txBody>
      </p:sp>
      <p:sp>
        <p:nvSpPr>
          <p:cNvPr id="74" name="TextBox 73"/>
          <p:cNvSpPr txBox="1"/>
          <p:nvPr/>
        </p:nvSpPr>
        <p:spPr>
          <a:xfrm>
            <a:off x="8229600" y="5138928"/>
            <a:ext cx="3566160" cy="347472"/>
          </a:xfrm>
          <a:prstGeom prst="rect">
            <a:avLst/>
          </a:prstGeom>
          <a:noFill/>
        </p:spPr>
        <p:txBody>
          <a:bodyPr wrap="square">
            <a:spAutoFit/>
          </a:bodyPr>
          <a:lstStyle/>
          <a:p>
            <a:pPr algn="l"/>
            <a:r>
              <a:rPr sz="1150" b="0" i="0">
                <a:solidFill>
                  <a:srgbClr val="CCD5E0"/>
                </a:solidFill>
              </a:rPr>
              <a:t>hair_pixels / ROI_area  ·  high = mostly hair, low quality</a:t>
            </a:r>
          </a:p>
        </p:txBody>
      </p:sp>
      <p:sp>
        <p:nvSpPr>
          <p:cNvPr id="75" name="TextBox 74"/>
          <p:cNvSpPr txBox="1"/>
          <p:nvPr/>
        </p:nvSpPr>
        <p:spPr>
          <a:xfrm>
            <a:off x="6217920" y="5596128"/>
            <a:ext cx="2011680" cy="347472"/>
          </a:xfrm>
          <a:prstGeom prst="rect">
            <a:avLst/>
          </a:prstGeom>
          <a:noFill/>
        </p:spPr>
        <p:txBody>
          <a:bodyPr wrap="square">
            <a:spAutoFit/>
          </a:bodyPr>
          <a:lstStyle/>
          <a:p>
            <a:pPr algn="l"/>
            <a:r>
              <a:rPr sz="1200" b="1" i="0">
                <a:solidFill>
                  <a:srgbClr val="B583FF"/>
                </a:solidFill>
              </a:rPr>
              <a:t>clust_agree</a:t>
            </a:r>
          </a:p>
        </p:txBody>
      </p:sp>
      <p:sp>
        <p:nvSpPr>
          <p:cNvPr id="76" name="TextBox 75"/>
          <p:cNvSpPr txBox="1"/>
          <p:nvPr/>
        </p:nvSpPr>
        <p:spPr>
          <a:xfrm>
            <a:off x="8229600" y="5596128"/>
            <a:ext cx="3566160" cy="347472"/>
          </a:xfrm>
          <a:prstGeom prst="rect">
            <a:avLst/>
          </a:prstGeom>
          <a:noFill/>
        </p:spPr>
        <p:txBody>
          <a:bodyPr wrap="square">
            <a:spAutoFit/>
          </a:bodyPr>
          <a:lstStyle/>
          <a:p>
            <a:pPr algn="l"/>
            <a:r>
              <a:rPr sz="1150" b="0" i="0">
                <a:solidFill>
                  <a:srgbClr val="CCD5E0"/>
                </a:solidFill>
              </a:rPr>
              <a:t>Fraction of skin pixels also in GMM skin cluster</a:t>
            </a:r>
          </a:p>
        </p:txBody>
      </p:sp>
      <p:sp>
        <p:nvSpPr>
          <p:cNvPr id="77" name="TextBox 76"/>
          <p:cNvSpPr txBox="1"/>
          <p:nvPr/>
        </p:nvSpPr>
        <p:spPr>
          <a:xfrm>
            <a:off x="6217920" y="6053328"/>
            <a:ext cx="2011680" cy="347472"/>
          </a:xfrm>
          <a:prstGeom prst="rect">
            <a:avLst/>
          </a:prstGeom>
          <a:noFill/>
        </p:spPr>
        <p:txBody>
          <a:bodyPr wrap="square">
            <a:spAutoFit/>
          </a:bodyPr>
          <a:lstStyle/>
          <a:p>
            <a:pPr algn="l"/>
            <a:r>
              <a:rPr sz="1200" b="1" i="0">
                <a:solidFill>
                  <a:srgbClr val="FFFFFF"/>
                </a:solidFill>
              </a:rPr>
              <a:t>quality_score</a:t>
            </a:r>
          </a:p>
        </p:txBody>
      </p:sp>
      <p:sp>
        <p:nvSpPr>
          <p:cNvPr id="78" name="TextBox 77"/>
          <p:cNvSpPr txBox="1"/>
          <p:nvPr/>
        </p:nvSpPr>
        <p:spPr>
          <a:xfrm>
            <a:off x="8229600" y="6053328"/>
            <a:ext cx="3566160" cy="347472"/>
          </a:xfrm>
          <a:prstGeom prst="rect">
            <a:avLst/>
          </a:prstGeom>
          <a:noFill/>
        </p:spPr>
        <p:txBody>
          <a:bodyPr wrap="square">
            <a:spAutoFit/>
          </a:bodyPr>
          <a:lstStyle/>
          <a:p>
            <a:pPr algn="l"/>
            <a:r>
              <a:rPr sz="1150" b="0" i="0">
                <a:solidFill>
                  <a:srgbClr val="CCD5E0"/>
                </a:solidFill>
              </a:rPr>
              <a:t>0.25·bc + 0.20·vm + 0.20·ca + 0.15·cov + 0.12·(1−gcv) + 0.08·(1−hrf)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201168"/>
            <a:ext cx="11274552" cy="777240"/>
          </a:xfrm>
          <a:prstGeom prst="rect">
            <a:avLst/>
          </a:prstGeom>
          <a:noFill/>
        </p:spPr>
        <p:txBody>
          <a:bodyPr wrap="square">
            <a:spAutoFit/>
          </a:bodyPr>
          <a:lstStyle/>
          <a:p>
            <a:pPr algn="l"/>
            <a:r>
              <a:rPr sz="3200" b="1" i="0">
                <a:solidFill>
                  <a:srgbClr val="00B4D8"/>
                </a:solidFill>
              </a:rPr>
              <a:t>Key Design Decisions</a:t>
            </a:r>
          </a:p>
        </p:txBody>
      </p:sp>
      <p:sp>
        <p:nvSpPr>
          <p:cNvPr id="3" name="Rectangle 2"/>
          <p:cNvSpPr/>
          <p:nvPr/>
        </p:nvSpPr>
        <p:spPr>
          <a:xfrm>
            <a:off x="457200" y="1051560"/>
            <a:ext cx="1127455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11274552" cy="411480"/>
          </a:xfrm>
          <a:prstGeom prst="rect">
            <a:avLst/>
          </a:prstGeom>
          <a:noFill/>
        </p:spPr>
        <p:txBody>
          <a:bodyPr wrap="square">
            <a:spAutoFit/>
          </a:bodyPr>
          <a:lstStyle/>
          <a:p>
            <a:pPr algn="l"/>
            <a:r>
              <a:rPr sz="1700" b="0" i="0">
                <a:solidFill>
                  <a:srgbClr val="CCD5E0"/>
                </a:solidFill>
              </a:rPr>
              <a:t>The three principles that drive the entire acquisition pipeline</a:t>
            </a:r>
          </a:p>
        </p:txBody>
      </p:sp>
      <p:sp>
        <p:nvSpPr>
          <p:cNvPr id="5" name="Rectangle 4"/>
          <p:cNvSpPr/>
          <p:nvPr/>
        </p:nvSpPr>
        <p:spPr>
          <a:xfrm>
            <a:off x="320040" y="1280160"/>
            <a:ext cx="11658600" cy="1572768"/>
          </a:xfrm>
          <a:prstGeom prst="rect">
            <a:avLst/>
          </a:prstGeom>
          <a:solidFill>
            <a:srgbClr val="1E2D3D"/>
          </a:solid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25880"/>
            <a:ext cx="274320" cy="32004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344168"/>
            <a:ext cx="182879" cy="283464"/>
          </a:xfrm>
          <a:prstGeom prst="rect">
            <a:avLst/>
          </a:prstGeom>
          <a:noFill/>
        </p:spPr>
        <p:txBody>
          <a:bodyPr wrap="square">
            <a:spAutoFit/>
          </a:bodyPr>
          <a:lstStyle/>
          <a:p>
            <a:pPr algn="ctr"/>
            <a:r>
              <a:rPr sz="1600" b="1" i="0">
                <a:solidFill>
                  <a:srgbClr val="0D1B2A"/>
                </a:solidFill>
              </a:rPr>
              <a:t>1</a:t>
            </a:r>
          </a:p>
        </p:txBody>
      </p:sp>
      <p:sp>
        <p:nvSpPr>
          <p:cNvPr id="8" name="TextBox 7"/>
          <p:cNvSpPr txBox="1"/>
          <p:nvPr/>
        </p:nvSpPr>
        <p:spPr>
          <a:xfrm>
            <a:off x="713232" y="1325880"/>
            <a:ext cx="10972800" cy="384048"/>
          </a:xfrm>
          <a:prstGeom prst="rect">
            <a:avLst/>
          </a:prstGeom>
          <a:noFill/>
        </p:spPr>
        <p:txBody>
          <a:bodyPr wrap="square">
            <a:spAutoFit/>
          </a:bodyPr>
          <a:lstStyle/>
          <a:p>
            <a:pPr algn="l"/>
            <a:r>
              <a:rPr sz="1600" b="1" i="0">
                <a:solidFill>
                  <a:srgbClr val="00B4D8"/>
                </a:solidFill>
              </a:rPr>
              <a:t>1. Compute Once, Reuse Everywhere</a:t>
            </a:r>
          </a:p>
        </p:txBody>
      </p:sp>
      <p:sp>
        <p:nvSpPr>
          <p:cNvPr id="9" name="TextBox 8"/>
          <p:cNvSpPr txBox="1"/>
          <p:nvPr/>
        </p:nvSpPr>
        <p:spPr>
          <a:xfrm>
            <a:off x="457200" y="1764792"/>
            <a:ext cx="11430000" cy="1005840"/>
          </a:xfrm>
          <a:prstGeom prst="rect">
            <a:avLst/>
          </a:prstGeom>
          <a:noFill/>
        </p:spPr>
        <p:txBody>
          <a:bodyPr wrap="square">
            <a:spAutoFit/>
          </a:bodyPr>
          <a:lstStyle/>
          <a:p>
            <a:pPr algn="l"/>
            <a:r>
              <a:rPr sz="1300" b="0" i="0">
                <a:solidFill>
                  <a:srgbClr val="FFFFFF"/>
                </a:solidFill>
              </a:rPr>
              <a:t>compute_frame_maps() runs once per frame → dict of all colour representations
compute_texture_maps() runs once → shared by forehead + cheek hair rejection
No function re-converts any colour space. Eliminates redundant cvtColor() calls.
Result: ~3× speedup vs naïve implementation at no code complexity cost.</a:t>
            </a:r>
          </a:p>
        </p:txBody>
      </p:sp>
      <p:sp>
        <p:nvSpPr>
          <p:cNvPr id="10" name="Rectangle 9"/>
          <p:cNvSpPr/>
          <p:nvPr/>
        </p:nvSpPr>
        <p:spPr>
          <a:xfrm>
            <a:off x="320040" y="2990088"/>
            <a:ext cx="11658600" cy="1572768"/>
          </a:xfrm>
          <a:prstGeom prst="rect">
            <a:avLst/>
          </a:prstGeom>
          <a:solidFill>
            <a:srgbClr val="1E2D3D"/>
          </a:solidFill>
          <a:ln w="15240">
            <a:solidFill>
              <a:srgbClr val="F4A2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3035808"/>
            <a:ext cx="274320" cy="320040"/>
          </a:xfrm>
          <a:prstGeom prst="rect">
            <a:avLst/>
          </a:prstGeom>
          <a:solidFill>
            <a:srgbClr val="F4A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3054096"/>
            <a:ext cx="182879" cy="283464"/>
          </a:xfrm>
          <a:prstGeom prst="rect">
            <a:avLst/>
          </a:prstGeom>
          <a:noFill/>
        </p:spPr>
        <p:txBody>
          <a:bodyPr wrap="square">
            <a:spAutoFit/>
          </a:bodyPr>
          <a:lstStyle/>
          <a:p>
            <a:pPr algn="ctr"/>
            <a:r>
              <a:rPr sz="1600" b="1" i="0">
                <a:solidFill>
                  <a:srgbClr val="0D1B2A"/>
                </a:solidFill>
              </a:rPr>
              <a:t>2</a:t>
            </a:r>
          </a:p>
        </p:txBody>
      </p:sp>
      <p:sp>
        <p:nvSpPr>
          <p:cNvPr id="13" name="TextBox 12"/>
          <p:cNvSpPr txBox="1"/>
          <p:nvPr/>
        </p:nvSpPr>
        <p:spPr>
          <a:xfrm>
            <a:off x="713232" y="3035808"/>
            <a:ext cx="10972800" cy="384048"/>
          </a:xfrm>
          <a:prstGeom prst="rect">
            <a:avLst/>
          </a:prstGeom>
          <a:noFill/>
        </p:spPr>
        <p:txBody>
          <a:bodyPr wrap="square">
            <a:spAutoFit/>
          </a:bodyPr>
          <a:lstStyle/>
          <a:p>
            <a:pPr algn="l"/>
            <a:r>
              <a:rPr sz="1600" b="1" i="0">
                <a:solidFill>
                  <a:srgbClr val="F4A261"/>
                </a:solidFill>
              </a:rPr>
              <a:t>2. Cache Aggressively, Invalidate by Condition</a:t>
            </a:r>
          </a:p>
        </p:txBody>
      </p:sp>
      <p:sp>
        <p:nvSpPr>
          <p:cNvPr id="14" name="TextBox 13"/>
          <p:cNvSpPr txBox="1"/>
          <p:nvPr/>
        </p:nvSpPr>
        <p:spPr>
          <a:xfrm>
            <a:off x="457200" y="3474720"/>
            <a:ext cx="11430000" cy="1005840"/>
          </a:xfrm>
          <a:prstGeom prst="rect">
            <a:avLst/>
          </a:prstGeom>
          <a:noFill/>
        </p:spPr>
        <p:txBody>
          <a:bodyPr wrap="square">
            <a:spAutoFit/>
          </a:bodyPr>
          <a:lstStyle/>
          <a:p>
            <a:pPr algn="l"/>
            <a:r>
              <a:rPr sz="1300" b="0" i="0">
                <a:solidFill>
                  <a:srgbClr val="FFFFFF"/>
                </a:solidFill>
              </a:rPr>
              <a:t>BiSeNet → every 10 frames (skin changes at ≤1Hz; 3Hz refresh is sufficient)
ROI masks → only when landmarks shift &gt;4px (sub-4px = tracker noise, not real motion)
GMM fit → same cadence as BiSeNet (refit on fresh seed pixels)
EMA α=0.03 → bridges 10-frame gap, τ≈1.1s, no discrete jumps in weighted means
Result: neural network cost reduced from 100% to ~10% of frames.</a:t>
            </a:r>
          </a:p>
        </p:txBody>
      </p:sp>
      <p:sp>
        <p:nvSpPr>
          <p:cNvPr id="15" name="Rectangle 14"/>
          <p:cNvSpPr/>
          <p:nvPr/>
        </p:nvSpPr>
        <p:spPr>
          <a:xfrm>
            <a:off x="320040" y="4700016"/>
            <a:ext cx="11658600" cy="1572768"/>
          </a:xfrm>
          <a:prstGeom prst="rect">
            <a:avLst/>
          </a:prstGeom>
          <a:solidFill>
            <a:srgbClr val="1E2D3D"/>
          </a:solidFill>
          <a:ln w="15240">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4745736"/>
            <a:ext cx="274320" cy="32004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4764024"/>
            <a:ext cx="182879" cy="283464"/>
          </a:xfrm>
          <a:prstGeom prst="rect">
            <a:avLst/>
          </a:prstGeom>
          <a:noFill/>
        </p:spPr>
        <p:txBody>
          <a:bodyPr wrap="square">
            <a:spAutoFit/>
          </a:bodyPr>
          <a:lstStyle/>
          <a:p>
            <a:pPr algn="ctr"/>
            <a:r>
              <a:rPr sz="1600" b="1" i="0">
                <a:solidFill>
                  <a:srgbClr val="0D1B2A"/>
                </a:solidFill>
              </a:rPr>
              <a:t>3</a:t>
            </a:r>
          </a:p>
        </p:txBody>
      </p:sp>
      <p:sp>
        <p:nvSpPr>
          <p:cNvPr id="18" name="TextBox 17"/>
          <p:cNvSpPr txBox="1"/>
          <p:nvPr/>
        </p:nvSpPr>
        <p:spPr>
          <a:xfrm>
            <a:off x="713232" y="4745736"/>
            <a:ext cx="10972800" cy="384048"/>
          </a:xfrm>
          <a:prstGeom prst="rect">
            <a:avLst/>
          </a:prstGeom>
          <a:noFill/>
        </p:spPr>
        <p:txBody>
          <a:bodyPr wrap="square">
            <a:spAutoFit/>
          </a:bodyPr>
          <a:lstStyle/>
          <a:p>
            <a:pPr algn="l"/>
            <a:r>
              <a:rPr sz="1600" b="1" i="0">
                <a:solidFill>
                  <a:srgbClr val="52B788"/>
                </a:solidFill>
              </a:rPr>
              <a:t>3. Require Consensus, Not Unanimity</a:t>
            </a:r>
          </a:p>
        </p:txBody>
      </p:sp>
      <p:sp>
        <p:nvSpPr>
          <p:cNvPr id="19" name="TextBox 18"/>
          <p:cNvSpPr txBox="1"/>
          <p:nvPr/>
        </p:nvSpPr>
        <p:spPr>
          <a:xfrm>
            <a:off x="457200" y="5184648"/>
            <a:ext cx="11430000" cy="1005840"/>
          </a:xfrm>
          <a:prstGeom prst="rect">
            <a:avLst/>
          </a:prstGeom>
          <a:noFill/>
        </p:spPr>
        <p:txBody>
          <a:bodyPr wrap="square">
            <a:spAutoFit/>
          </a:bodyPr>
          <a:lstStyle/>
          <a:p>
            <a:pPr algn="l"/>
            <a:r>
              <a:rPr sz="1300" b="0" i="0">
                <a:solidFill>
                  <a:srgbClr val="FFFFFF"/>
                </a:solidFill>
              </a:rPr>
              <a:t>A pixel is accepted as skin if ≥2 of 3 colour methods agree, OR BiSeNet, OR GMM+1
Then VETOED by hair texture, exclusion geometry, specular detection
Permissive inclusion → tight exclusion is more robust than either alone.
BiSeNet alone fails on beard shadow. YCbCr alone fails in unusual lighting.
LBP alone generates false hair flags. Each method's weaknesses cancel 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